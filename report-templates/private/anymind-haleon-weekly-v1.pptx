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5"/>
    <p:sldMasterId id="214748367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y="5143500" cx="9144000"/>
  <p:notesSz cx="6858000" cy="9144000"/>
  <p:embeddedFontLst>
    <p:embeddedFont>
      <p:font typeface="Inter SemiBold"/>
      <p:regular r:id="rId44"/>
      <p:bold r:id="rId45"/>
      <p:italic r:id="rId46"/>
      <p:boldItalic r:id="rId47"/>
    </p:embeddedFont>
    <p:embeddedFont>
      <p:font typeface="Inter"/>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Septian Rachmatulloh"/>
  <p:cmAuthor clrIdx="1" id="1" initials="" lastIdx="2" name="Hardono Japonika"/>
  <p:cmAuthor clrIdx="2" id="2" initials="" lastIdx="1" name="Calvien Nielson Fernando"/>
  <p:cmAuthor clrIdx="3" id="3" initials="" lastIdx="1" name="Syahirah Ghassani Hashifah"/>
  <p:cmAuthor clrIdx="4" id="4" initials="" lastIdx="1" name="Eduardo Paulus Silalahi"/>
  <p:cmAuthor clrIdx="5" id="5" initials="" lastIdx="3" name="Andika Prasetia Putr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5CF1300-53F3-430B-9C35-424554A46B0A}">
  <a:tblStyle styleId="{05CF1300-53F3-430B-9C35-424554A46B0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7B0113B-ABCC-46DA-BDED-68E34227E8D4}"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font" Target="fonts/InterSemiBold-regular.fntdata"/><Relationship Id="rId43" Type="http://schemas.openxmlformats.org/officeDocument/2006/relationships/slide" Target="slides/slide36.xml"/><Relationship Id="rId46" Type="http://schemas.openxmlformats.org/officeDocument/2006/relationships/font" Target="fonts/InterSemiBold-italic.fntdata"/><Relationship Id="rId45" Type="http://schemas.openxmlformats.org/officeDocument/2006/relationships/font" Target="fonts/InterSemiBold-bold.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2.xml"/><Relationship Id="rId48" Type="http://schemas.openxmlformats.org/officeDocument/2006/relationships/font" Target="fonts/Inter-regular.fntdata"/><Relationship Id="rId47" Type="http://schemas.openxmlformats.org/officeDocument/2006/relationships/font" Target="fonts/InterSemiBold-boldItalic.fntdata"/><Relationship Id="rId49" Type="http://schemas.openxmlformats.org/officeDocument/2006/relationships/font" Target="fonts/Inter-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Inter-boldItalic.fntdata"/><Relationship Id="rId50" Type="http://schemas.openxmlformats.org/officeDocument/2006/relationships/font" Target="fonts/Inter-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9-16T03:44:40.762">
    <p:pos x="6000" y="0"/>
    <p:text>@steven.irianto@anymindgroup.com n @calvien@anymindgroup.com
_Assigned to Steven Irianto_</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6-09-16T13:56:53.508">
    <p:pos x="5779" y="76"/>
    <p:text>@steven.irianto@anymindgroup.com kenapa polident turun?</p:text>
  </p:cm>
  <p:cm authorId="1" idx="2" dt="2026-09-16T11:02:13.069">
    <p:pos x="5779" y="76"/>
    <p:text>The reason to me is unclear kalau krn bulk buyer only, which bulk buyer brp banyak emgnya? can deep dive?
How about oos, which channel.drop etc?</p:text>
  </p:cm>
  <p:cm authorId="2" idx="1" dt="2026-09-16T13:56:53.508">
    <p:pos x="5779" y="76"/>
    <p:text>Aku ada tambahain by channel ya koo + growth MTD.
overall dari Ads juga contribute higher untuk product ads karena expense Polident di product ads lower -38% dan juga dari overall ads di bulan Agustus juga lower than july.
Other channel LS &amp; affiliate juga turun di 9% &amp; 8%
Other than that aku juga ada taruh di sebelah data peak days D.D dan Payday only buat polident  yang ku simply dari single twin triple dan High bundles disitu secara MTD NMV nya dropped by 68% untuk yang beli high bundles. di Juli 200 Mio dan Agustus di 60 Mio ko</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9-16T08:07:42.317">
    <p:pos x="6000" y="0"/>
    <p:text>Ini overall Affiliate-nya Turun, Tiering belum maksimal, tapi point-nya lebih ke arah produktifitas Affiliate-nya that's why numbers of NMV bisa naik. 
Pool Aff ( - ) 
Produktifitas ( + )
@steven.irianto@anymindgroup.com @dinda@anymindgroup.com @syahirah.hashifah@anymindgroup.com
_Reassigned to Steven Irianto_</p:text>
  </p:cm>
  <p:cm authorId="3" idx="1" dt="2026-09-16T08:07:42.317">
    <p:pos x="6000" y="0"/>
    <p:text>noted Kak, as per Aug livestream session kita naik (18.56%) &amp; video accumulated with sales naik juga (7.99%)</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4" idx="1" dt="2026-09-15T09:40:17.169">
    <p:pos x="109" y="83"/>
    <p:text>@marco.tannizal@anymindgroup.como
Highlight as new potential account (Vitamin Disc)
_Assigned to marco.tannizal@anymindgroup.como_</p:text>
  </p:cm>
  <p:cm authorId="5" idx="1" dt="2026-09-16T02:56:10.354">
    <p:pos x="6000" y="0"/>
    <p:text>@marco.tannizal@anymindgroup.com @eduardo.paulus@anymindgroup.com add MoM performance growth nya, yang growing MoM kaya vitamin diskon bsia di highlight, yg drop significant juga bisa di kasih insight ada issue apa ya.</p:text>
  </p:cm>
  <p:cm authorId="5" idx="2" dt="2026-09-16T02:56:10.354">
    <p:pos x="6000" y="0"/>
    <p:text>untuk Nama PT bisa di ganti sama Nama Platform contoh Vitamin diskon, dan highlight growth nya OTC di Astro ya @marco.tannizal@anymindgroup.com @eduardo.paulus@anymindgroup.com</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5" idx="3" dt="2026-09-16T02:59:06.587">
    <p:pos x="6000" y="0"/>
    <p:text>@marco.tannizal@anymindgroup.com @eduardo.paulus@anymindgroup.com add 1 slide untuk slow moving SKU, DOI nya bisa di highlight dan trigger discuss kira2 bisa di add more promo ga untuk slow moving SKU tersebut?
_Assigned to Marco Tannizal_</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100"/>
          </a:p>
        </p:txBody>
      </p:sp>
      <p:sp>
        <p:nvSpPr>
          <p:cNvPr id="131" name="Google Shape;13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40" name="Google Shape;140;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fb6f525578_1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3fb6f525578_1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aa3e2850e_5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3faa3e2850e_5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409f3ca389c_1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409f3ca389c_14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aa3e2850e_5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g3faa3e2850e_5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409e3b2a135_43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g409e3b2a135_43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83" name="Google Shape;283;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409d9dd305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g409d9dd3055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What Needs Improvement (Key Actions)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Build a retention mechanism for creators active in month N to reduce the ~70% monthly churn rate — this is currently the single biggest drag on sustainable growth.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Diagnose why PayDay-specific affiliate participation dropped so sharply and refresh incentive mechanics ahead of August.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Treat tanggal kembar as a proven lever: lock in August/September double-date campaigns and creator commitments earlier to replicate the July 7 spike.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What Needs Improvement (Key Actions)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Sustain and formalize the Live/Video focus with channel-specific Targeted KPIs, since the strategy is already validated by this month's results.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Treat Share Link as a complementary, promo-driven channel rather than a growth lever — separate its budget/incentive logic from Live/Video.</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Build a more structured promo/voucher calendar (tanggal kembar, payday) for Share Link to keep it stable without competing for Targeted-focused resources.</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What Needs Improvement (Key Actions)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Prioritize Scott's inbound/SLA fixes as the direct lever for brand recovery — this is a supply chain fix, not a marketing or creator-activation fix.</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Given the narrow SKU base, consider building safety stock buffers specifically for Scott's variants (especially Original) to reduce the blast radius of future OOS events.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Keep leaning on Mega Affiliate matchmaking (Slide 16) as a short-term offset while inbound is stabilized — but flag it clearly as a bridge, not a fix, since it can't compensate for a fundamentally unavailable SKU.</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8" name="Google Shape;40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What Needs Improvement (Key Actions)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Double down on Live as the primary growth channel across all tiers — it's the only channel with consistently strong growth from Starter through Top.</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Investigate what's driving Video's concentration at Top tier specifically, and test whether that playbook (creator type, content format) can be replicated to lift Video at Rising/New/Starter.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Starter-tier retention (see churn analysis above), pair retention incentives with Live-specific onboarding, since Starter creators already show strong Live growth momentum — the gap is keeping them active, not activating them on the right channel.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Let Share Link's growth at New (Open) run its course as a natural on-ramp, but design nudges to accelerate the transition to Live once creators move past New into Rising.</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9" name="Google Shape;41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What Needs Improvement (Key Actions)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Expand matchmaking slots for Sensodyne and Polident, which currently get minimal matchmaking support despite being the brands with stronger organic fundamentals to build 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Set a visibility flag on Scott's performance excluding matchmaking-driven NMV, so the team can track whether the underlying brand issue (Slide 14) is actually improving or just being masked.</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409f4dd11c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3" name="Google Shape;433;g409f4dd11c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What Needs Improvement (Key Actions)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Expand matchmaking slots for Sensodyne and Polident, which currently get minimal matchmaking support despite being the brands with stronger organic fundamentals to build 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Set a visibility flag on Scott's performance excluding matchmaking-driven NMV, so the team can track whether the underlying brand issue (Slide 14) is actually improving or just being masked.</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6" name="Google Shape;44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4" name="Google Shape;46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5" name="Google Shape;48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fb6f525578_4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8" name="Google Shape;508;g3fb6f525578_4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9" name="Google Shape;51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3" name="Google Shape;53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45" name="Google Shape;545;p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5" name="Google Shape;56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3" name="Google Shape;58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409f3ca389c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9" name="Google Shape;599;g409f3ca389c_8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What Needs Improvement (Key Actions)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Expand matchmaking slots for Sensodyne and Polident, which currently get minimal matchmaking support despite being the brands with stronger organic fundamentals to build 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Set a visibility flag on Scott's performance excluding matchmaking-driven NMV, so the team can track whether the underlying brand issue (Slide 14) is actually improving or just being masked.</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9" name="Google Shape;60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5" name="Google Shape;61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1" name="Google Shape;62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0" name="Google Shape;63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6" name="Google Shape;6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p:cSld name="Header">
    <p:bg>
      <p:bgPr>
        <a:solidFill>
          <a:srgbClr val="1A2228"/>
        </a:solidFill>
      </p:bgPr>
    </p:bg>
    <p:spTree>
      <p:nvGrpSpPr>
        <p:cNvPr id="13"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tail 1 2">
  <p:cSld name="BLANK_1_2">
    <p:spTree>
      <p:nvGrpSpPr>
        <p:cNvPr id="14" name="Shape 14"/>
        <p:cNvGrpSpPr/>
        <p:nvPr/>
      </p:nvGrpSpPr>
      <p:grpSpPr>
        <a:xfrm>
          <a:off x="0" y="0"/>
          <a:ext cx="0" cy="0"/>
          <a:chOff x="0" y="0"/>
          <a:chExt cx="0" cy="0"/>
        </a:xfrm>
      </p:grpSpPr>
      <p:sp>
        <p:nvSpPr>
          <p:cNvPr id="15" name="Google Shape;15;p4"/>
          <p:cNvSpPr txBox="1"/>
          <p:nvPr>
            <p:ph idx="1" type="subTitle"/>
          </p:nvPr>
        </p:nvSpPr>
        <p:spPr>
          <a:xfrm>
            <a:off x="228600" y="1017550"/>
            <a:ext cx="8686800" cy="824400"/>
          </a:xfrm>
          <a:prstGeom prst="rect">
            <a:avLst/>
          </a:prstGeom>
          <a:noFill/>
          <a:ln>
            <a:noFill/>
          </a:ln>
        </p:spPr>
        <p:txBody>
          <a:bodyPr anchorCtr="0" anchor="t" bIns="91425" lIns="91425" spcFirstLastPara="1" rIns="91425" wrap="square" tIns="91425">
            <a:normAutofit/>
          </a:bodyPr>
          <a:lstStyle>
            <a:lvl1pPr lvl="0" algn="l">
              <a:lnSpc>
                <a:spcPct val="150000"/>
              </a:lnSpc>
              <a:spcBef>
                <a:spcPts val="0"/>
              </a:spcBef>
              <a:spcAft>
                <a:spcPts val="0"/>
              </a:spcAft>
              <a:buClr>
                <a:srgbClr val="6E7C89"/>
              </a:buClr>
              <a:buSzPts val="1000"/>
              <a:buNone/>
              <a:defRPr sz="1000">
                <a:solidFill>
                  <a:srgbClr val="6E7C89"/>
                </a:solidFill>
              </a:defRPr>
            </a:lvl1pPr>
            <a:lvl2pPr lvl="1" algn="l">
              <a:lnSpc>
                <a:spcPct val="150000"/>
              </a:lnSpc>
              <a:spcBef>
                <a:spcPts val="0"/>
              </a:spcBef>
              <a:spcAft>
                <a:spcPts val="0"/>
              </a:spcAft>
              <a:buClr>
                <a:srgbClr val="6E7C89"/>
              </a:buClr>
              <a:buSzPts val="1000"/>
              <a:buNone/>
              <a:defRPr sz="1000">
                <a:solidFill>
                  <a:srgbClr val="6E7C89"/>
                </a:solidFill>
              </a:defRPr>
            </a:lvl2pPr>
            <a:lvl3pPr lvl="2" algn="l">
              <a:lnSpc>
                <a:spcPct val="150000"/>
              </a:lnSpc>
              <a:spcBef>
                <a:spcPts val="0"/>
              </a:spcBef>
              <a:spcAft>
                <a:spcPts val="0"/>
              </a:spcAft>
              <a:buClr>
                <a:srgbClr val="6E7C89"/>
              </a:buClr>
              <a:buSzPts val="1000"/>
              <a:buNone/>
              <a:defRPr sz="1000">
                <a:solidFill>
                  <a:srgbClr val="6E7C89"/>
                </a:solidFill>
              </a:defRPr>
            </a:lvl3pPr>
            <a:lvl4pPr lvl="3" algn="l">
              <a:lnSpc>
                <a:spcPct val="150000"/>
              </a:lnSpc>
              <a:spcBef>
                <a:spcPts val="0"/>
              </a:spcBef>
              <a:spcAft>
                <a:spcPts val="0"/>
              </a:spcAft>
              <a:buClr>
                <a:srgbClr val="6E7C89"/>
              </a:buClr>
              <a:buSzPts val="1000"/>
              <a:buNone/>
              <a:defRPr sz="1000">
                <a:solidFill>
                  <a:srgbClr val="6E7C89"/>
                </a:solidFill>
              </a:defRPr>
            </a:lvl4pPr>
            <a:lvl5pPr lvl="4" algn="l">
              <a:lnSpc>
                <a:spcPct val="150000"/>
              </a:lnSpc>
              <a:spcBef>
                <a:spcPts val="0"/>
              </a:spcBef>
              <a:spcAft>
                <a:spcPts val="0"/>
              </a:spcAft>
              <a:buClr>
                <a:srgbClr val="6E7C89"/>
              </a:buClr>
              <a:buSzPts val="1000"/>
              <a:buNone/>
              <a:defRPr sz="1000">
                <a:solidFill>
                  <a:srgbClr val="6E7C89"/>
                </a:solidFill>
              </a:defRPr>
            </a:lvl5pPr>
            <a:lvl6pPr lvl="5" algn="l">
              <a:lnSpc>
                <a:spcPct val="150000"/>
              </a:lnSpc>
              <a:spcBef>
                <a:spcPts val="0"/>
              </a:spcBef>
              <a:spcAft>
                <a:spcPts val="0"/>
              </a:spcAft>
              <a:buClr>
                <a:srgbClr val="6E7C89"/>
              </a:buClr>
              <a:buSzPts val="1000"/>
              <a:buNone/>
              <a:defRPr sz="1000">
                <a:solidFill>
                  <a:srgbClr val="6E7C89"/>
                </a:solidFill>
              </a:defRPr>
            </a:lvl6pPr>
            <a:lvl7pPr lvl="6" algn="l">
              <a:lnSpc>
                <a:spcPct val="150000"/>
              </a:lnSpc>
              <a:spcBef>
                <a:spcPts val="0"/>
              </a:spcBef>
              <a:spcAft>
                <a:spcPts val="0"/>
              </a:spcAft>
              <a:buClr>
                <a:srgbClr val="6E7C89"/>
              </a:buClr>
              <a:buSzPts val="1000"/>
              <a:buNone/>
              <a:defRPr sz="1000">
                <a:solidFill>
                  <a:srgbClr val="6E7C89"/>
                </a:solidFill>
              </a:defRPr>
            </a:lvl7pPr>
            <a:lvl8pPr lvl="7" algn="l">
              <a:lnSpc>
                <a:spcPct val="150000"/>
              </a:lnSpc>
              <a:spcBef>
                <a:spcPts val="0"/>
              </a:spcBef>
              <a:spcAft>
                <a:spcPts val="0"/>
              </a:spcAft>
              <a:buClr>
                <a:srgbClr val="6E7C89"/>
              </a:buClr>
              <a:buSzPts val="1000"/>
              <a:buNone/>
              <a:defRPr sz="1000">
                <a:solidFill>
                  <a:srgbClr val="6E7C89"/>
                </a:solidFill>
              </a:defRPr>
            </a:lvl8pPr>
            <a:lvl9pPr lvl="8" algn="l">
              <a:lnSpc>
                <a:spcPct val="150000"/>
              </a:lnSpc>
              <a:spcBef>
                <a:spcPts val="0"/>
              </a:spcBef>
              <a:spcAft>
                <a:spcPts val="0"/>
              </a:spcAft>
              <a:buClr>
                <a:srgbClr val="6E7C89"/>
              </a:buClr>
              <a:buSzPts val="1000"/>
              <a:buNone/>
              <a:defRPr sz="1000">
                <a:solidFill>
                  <a:srgbClr val="6E7C89"/>
                </a:solidFill>
              </a:defRPr>
            </a:lvl9pPr>
          </a:lstStyle>
          <a:p/>
        </p:txBody>
      </p:sp>
      <p:sp>
        <p:nvSpPr>
          <p:cNvPr id="16" name="Google Shape;16;p4"/>
          <p:cNvSpPr txBox="1"/>
          <p:nvPr>
            <p:ph type="ctrTitle"/>
          </p:nvPr>
        </p:nvSpPr>
        <p:spPr>
          <a:xfrm>
            <a:off x="228600" y="629050"/>
            <a:ext cx="8686800" cy="3885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27313B"/>
              </a:buClr>
              <a:buSzPts val="2000"/>
              <a:buNone/>
              <a:defRPr sz="2000">
                <a:solidFill>
                  <a:srgbClr val="27313B"/>
                </a:solidFill>
              </a:defRPr>
            </a:lvl1pPr>
            <a:lvl2pPr lvl="1" algn="l">
              <a:lnSpc>
                <a:spcPct val="100000"/>
              </a:lnSpc>
              <a:spcBef>
                <a:spcPts val="0"/>
              </a:spcBef>
              <a:spcAft>
                <a:spcPts val="0"/>
              </a:spcAft>
              <a:buClr>
                <a:srgbClr val="27313B"/>
              </a:buClr>
              <a:buSzPts val="2000"/>
              <a:buNone/>
              <a:defRPr sz="2000">
                <a:solidFill>
                  <a:srgbClr val="27313B"/>
                </a:solidFill>
              </a:defRPr>
            </a:lvl2pPr>
            <a:lvl3pPr lvl="2" algn="l">
              <a:lnSpc>
                <a:spcPct val="100000"/>
              </a:lnSpc>
              <a:spcBef>
                <a:spcPts val="0"/>
              </a:spcBef>
              <a:spcAft>
                <a:spcPts val="0"/>
              </a:spcAft>
              <a:buClr>
                <a:srgbClr val="27313B"/>
              </a:buClr>
              <a:buSzPts val="2000"/>
              <a:buNone/>
              <a:defRPr sz="2000">
                <a:solidFill>
                  <a:srgbClr val="27313B"/>
                </a:solidFill>
              </a:defRPr>
            </a:lvl3pPr>
            <a:lvl4pPr lvl="3" algn="l">
              <a:lnSpc>
                <a:spcPct val="100000"/>
              </a:lnSpc>
              <a:spcBef>
                <a:spcPts val="0"/>
              </a:spcBef>
              <a:spcAft>
                <a:spcPts val="0"/>
              </a:spcAft>
              <a:buClr>
                <a:srgbClr val="27313B"/>
              </a:buClr>
              <a:buSzPts val="2000"/>
              <a:buNone/>
              <a:defRPr sz="2000">
                <a:solidFill>
                  <a:srgbClr val="27313B"/>
                </a:solidFill>
              </a:defRPr>
            </a:lvl4pPr>
            <a:lvl5pPr lvl="4" algn="l">
              <a:lnSpc>
                <a:spcPct val="100000"/>
              </a:lnSpc>
              <a:spcBef>
                <a:spcPts val="0"/>
              </a:spcBef>
              <a:spcAft>
                <a:spcPts val="0"/>
              </a:spcAft>
              <a:buClr>
                <a:srgbClr val="27313B"/>
              </a:buClr>
              <a:buSzPts val="2000"/>
              <a:buNone/>
              <a:defRPr sz="2000">
                <a:solidFill>
                  <a:srgbClr val="27313B"/>
                </a:solidFill>
              </a:defRPr>
            </a:lvl5pPr>
            <a:lvl6pPr lvl="5" algn="l">
              <a:lnSpc>
                <a:spcPct val="100000"/>
              </a:lnSpc>
              <a:spcBef>
                <a:spcPts val="0"/>
              </a:spcBef>
              <a:spcAft>
                <a:spcPts val="0"/>
              </a:spcAft>
              <a:buClr>
                <a:srgbClr val="27313B"/>
              </a:buClr>
              <a:buSzPts val="2000"/>
              <a:buNone/>
              <a:defRPr sz="2000">
                <a:solidFill>
                  <a:srgbClr val="27313B"/>
                </a:solidFill>
              </a:defRPr>
            </a:lvl6pPr>
            <a:lvl7pPr lvl="6" algn="l">
              <a:lnSpc>
                <a:spcPct val="100000"/>
              </a:lnSpc>
              <a:spcBef>
                <a:spcPts val="0"/>
              </a:spcBef>
              <a:spcAft>
                <a:spcPts val="0"/>
              </a:spcAft>
              <a:buClr>
                <a:srgbClr val="27313B"/>
              </a:buClr>
              <a:buSzPts val="2000"/>
              <a:buNone/>
              <a:defRPr sz="2000">
                <a:solidFill>
                  <a:srgbClr val="27313B"/>
                </a:solidFill>
              </a:defRPr>
            </a:lvl7pPr>
            <a:lvl8pPr lvl="7" algn="l">
              <a:lnSpc>
                <a:spcPct val="100000"/>
              </a:lnSpc>
              <a:spcBef>
                <a:spcPts val="0"/>
              </a:spcBef>
              <a:spcAft>
                <a:spcPts val="0"/>
              </a:spcAft>
              <a:buClr>
                <a:srgbClr val="27313B"/>
              </a:buClr>
              <a:buSzPts val="2000"/>
              <a:buNone/>
              <a:defRPr sz="2000">
                <a:solidFill>
                  <a:srgbClr val="27313B"/>
                </a:solidFill>
              </a:defRPr>
            </a:lvl8pPr>
            <a:lvl9pPr lvl="8" algn="l">
              <a:lnSpc>
                <a:spcPct val="100000"/>
              </a:lnSpc>
              <a:spcBef>
                <a:spcPts val="0"/>
              </a:spcBef>
              <a:spcAft>
                <a:spcPts val="0"/>
              </a:spcAft>
              <a:buClr>
                <a:srgbClr val="27313B"/>
              </a:buClr>
              <a:buSzPts val="2000"/>
              <a:buNone/>
              <a:defRPr sz="2000">
                <a:solidFill>
                  <a:srgbClr val="27313B"/>
                </a:solidFill>
              </a:defRPr>
            </a:lvl9pPr>
          </a:lstStyle>
          <a:p/>
        </p:txBody>
      </p:sp>
      <p:sp>
        <p:nvSpPr>
          <p:cNvPr id="17" name="Google Shape;17;p4"/>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descr="preencoded.png" id="18" name="Google Shape;18;p4"/>
          <p:cNvPicPr preferRelativeResize="0"/>
          <p:nvPr/>
        </p:nvPicPr>
        <p:blipFill rotWithShape="1">
          <a:blip r:embed="rId2">
            <a:alphaModFix/>
          </a:blip>
          <a:srcRect b="0" l="0" r="0" t="0"/>
          <a:stretch/>
        </p:blipFill>
        <p:spPr>
          <a:xfrm>
            <a:off x="8096250" y="186690"/>
            <a:ext cx="868680" cy="228600"/>
          </a:xfrm>
          <a:prstGeom prst="rect">
            <a:avLst/>
          </a:prstGeom>
          <a:noFill/>
          <a:ln>
            <a:noFill/>
          </a:ln>
        </p:spPr>
      </p:pic>
      <p:sp>
        <p:nvSpPr>
          <p:cNvPr id="19" name="Google Shape;19;p4"/>
          <p:cNvSpPr/>
          <p:nvPr/>
        </p:nvSpPr>
        <p:spPr>
          <a:xfrm>
            <a:off x="228600" y="4777740"/>
            <a:ext cx="1994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6E7C89"/>
                </a:solidFill>
                <a:latin typeface="Inter"/>
                <a:ea typeface="Inter"/>
                <a:cs typeface="Inter"/>
                <a:sym typeface="Inter"/>
              </a:rPr>
              <a:t>© AnyMind Group. All Rights Reserved.</a:t>
            </a:r>
            <a:endParaRPr b="0" i="0" sz="600" u="none" cap="none" strike="noStrike">
              <a:solidFill>
                <a:srgbClr val="6E7C89"/>
              </a:solidFill>
              <a:latin typeface="Calibri"/>
              <a:ea typeface="Calibri"/>
              <a:cs typeface="Calibri"/>
              <a:sym typeface="Calibri"/>
            </a:endParaRPr>
          </a:p>
        </p:txBody>
      </p:sp>
      <p:sp>
        <p:nvSpPr>
          <p:cNvPr id="20" name="Google Shape;20;p4"/>
          <p:cNvSpPr/>
          <p:nvPr/>
        </p:nvSpPr>
        <p:spPr>
          <a:xfrm>
            <a:off x="7983700" y="4800540"/>
            <a:ext cx="743100" cy="183000"/>
          </a:xfrm>
          <a:prstGeom prst="roundRect">
            <a:avLst>
              <a:gd fmla="val 16667" name="adj"/>
            </a:avLst>
          </a:prstGeom>
          <a:solidFill>
            <a:srgbClr val="6E7C8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4"/>
          <p:cNvSpPr/>
          <p:nvPr/>
        </p:nvSpPr>
        <p:spPr>
          <a:xfrm>
            <a:off x="7983850" y="4800540"/>
            <a:ext cx="743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Inter"/>
                <a:ea typeface="Inter"/>
                <a:cs typeface="Inter"/>
                <a:sym typeface="Inter"/>
              </a:rPr>
              <a:t>CONFIDENTIAL</a:t>
            </a:r>
            <a:endParaRPr b="0" i="0" sz="7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tail 1 2 1">
  <p:cSld name="detail 1 2 (g3f6caea8f55_10_0)">
    <p:spTree>
      <p:nvGrpSpPr>
        <p:cNvPr id="22" name="Shape 22"/>
        <p:cNvGrpSpPr/>
        <p:nvPr/>
      </p:nvGrpSpPr>
      <p:grpSpPr>
        <a:xfrm>
          <a:off x="0" y="0"/>
          <a:ext cx="0" cy="0"/>
          <a:chOff x="0" y="0"/>
          <a:chExt cx="0" cy="0"/>
        </a:xfrm>
      </p:grpSpPr>
      <p:sp>
        <p:nvSpPr>
          <p:cNvPr id="23" name="Google Shape;23;p5"/>
          <p:cNvSpPr txBox="1"/>
          <p:nvPr>
            <p:ph idx="1" type="subTitle"/>
          </p:nvPr>
        </p:nvSpPr>
        <p:spPr>
          <a:xfrm>
            <a:off x="228600" y="1017550"/>
            <a:ext cx="8686800" cy="824400"/>
          </a:xfrm>
          <a:prstGeom prst="rect">
            <a:avLst/>
          </a:prstGeom>
          <a:noFill/>
          <a:ln>
            <a:noFill/>
          </a:ln>
        </p:spPr>
        <p:txBody>
          <a:bodyPr anchorCtr="0" anchor="t" bIns="91425" lIns="91425" spcFirstLastPara="1" rIns="91425" wrap="square" tIns="91425">
            <a:normAutofit/>
          </a:bodyPr>
          <a:lstStyle>
            <a:lvl1pPr lvl="0" algn="l">
              <a:lnSpc>
                <a:spcPct val="150000"/>
              </a:lnSpc>
              <a:spcBef>
                <a:spcPts val="0"/>
              </a:spcBef>
              <a:spcAft>
                <a:spcPts val="0"/>
              </a:spcAft>
              <a:buClr>
                <a:srgbClr val="6E7C89"/>
              </a:buClr>
              <a:buSzPts val="1000"/>
              <a:buNone/>
              <a:defRPr sz="1000">
                <a:solidFill>
                  <a:srgbClr val="6E7C89"/>
                </a:solidFill>
              </a:defRPr>
            </a:lvl1pPr>
            <a:lvl2pPr lvl="1" algn="l">
              <a:lnSpc>
                <a:spcPct val="150000"/>
              </a:lnSpc>
              <a:spcBef>
                <a:spcPts val="0"/>
              </a:spcBef>
              <a:spcAft>
                <a:spcPts val="0"/>
              </a:spcAft>
              <a:buClr>
                <a:srgbClr val="6E7C89"/>
              </a:buClr>
              <a:buSzPts val="1000"/>
              <a:buNone/>
              <a:defRPr sz="1000">
                <a:solidFill>
                  <a:srgbClr val="6E7C89"/>
                </a:solidFill>
              </a:defRPr>
            </a:lvl2pPr>
            <a:lvl3pPr lvl="2" algn="l">
              <a:lnSpc>
                <a:spcPct val="150000"/>
              </a:lnSpc>
              <a:spcBef>
                <a:spcPts val="0"/>
              </a:spcBef>
              <a:spcAft>
                <a:spcPts val="0"/>
              </a:spcAft>
              <a:buClr>
                <a:srgbClr val="6E7C89"/>
              </a:buClr>
              <a:buSzPts val="1000"/>
              <a:buNone/>
              <a:defRPr sz="1000">
                <a:solidFill>
                  <a:srgbClr val="6E7C89"/>
                </a:solidFill>
              </a:defRPr>
            </a:lvl3pPr>
            <a:lvl4pPr lvl="3" algn="l">
              <a:lnSpc>
                <a:spcPct val="150000"/>
              </a:lnSpc>
              <a:spcBef>
                <a:spcPts val="0"/>
              </a:spcBef>
              <a:spcAft>
                <a:spcPts val="0"/>
              </a:spcAft>
              <a:buClr>
                <a:srgbClr val="6E7C89"/>
              </a:buClr>
              <a:buSzPts val="1000"/>
              <a:buNone/>
              <a:defRPr sz="1000">
                <a:solidFill>
                  <a:srgbClr val="6E7C89"/>
                </a:solidFill>
              </a:defRPr>
            </a:lvl4pPr>
            <a:lvl5pPr lvl="4" algn="l">
              <a:lnSpc>
                <a:spcPct val="150000"/>
              </a:lnSpc>
              <a:spcBef>
                <a:spcPts val="0"/>
              </a:spcBef>
              <a:spcAft>
                <a:spcPts val="0"/>
              </a:spcAft>
              <a:buClr>
                <a:srgbClr val="6E7C89"/>
              </a:buClr>
              <a:buSzPts val="1000"/>
              <a:buNone/>
              <a:defRPr sz="1000">
                <a:solidFill>
                  <a:srgbClr val="6E7C89"/>
                </a:solidFill>
              </a:defRPr>
            </a:lvl5pPr>
            <a:lvl6pPr lvl="5" algn="l">
              <a:lnSpc>
                <a:spcPct val="150000"/>
              </a:lnSpc>
              <a:spcBef>
                <a:spcPts val="0"/>
              </a:spcBef>
              <a:spcAft>
                <a:spcPts val="0"/>
              </a:spcAft>
              <a:buClr>
                <a:srgbClr val="6E7C89"/>
              </a:buClr>
              <a:buSzPts val="1000"/>
              <a:buNone/>
              <a:defRPr sz="1000">
                <a:solidFill>
                  <a:srgbClr val="6E7C89"/>
                </a:solidFill>
              </a:defRPr>
            </a:lvl6pPr>
            <a:lvl7pPr lvl="6" algn="l">
              <a:lnSpc>
                <a:spcPct val="150000"/>
              </a:lnSpc>
              <a:spcBef>
                <a:spcPts val="0"/>
              </a:spcBef>
              <a:spcAft>
                <a:spcPts val="0"/>
              </a:spcAft>
              <a:buClr>
                <a:srgbClr val="6E7C89"/>
              </a:buClr>
              <a:buSzPts val="1000"/>
              <a:buNone/>
              <a:defRPr sz="1000">
                <a:solidFill>
                  <a:srgbClr val="6E7C89"/>
                </a:solidFill>
              </a:defRPr>
            </a:lvl7pPr>
            <a:lvl8pPr lvl="7" algn="l">
              <a:lnSpc>
                <a:spcPct val="150000"/>
              </a:lnSpc>
              <a:spcBef>
                <a:spcPts val="0"/>
              </a:spcBef>
              <a:spcAft>
                <a:spcPts val="0"/>
              </a:spcAft>
              <a:buClr>
                <a:srgbClr val="6E7C89"/>
              </a:buClr>
              <a:buSzPts val="1000"/>
              <a:buNone/>
              <a:defRPr sz="1000">
                <a:solidFill>
                  <a:srgbClr val="6E7C89"/>
                </a:solidFill>
              </a:defRPr>
            </a:lvl8pPr>
            <a:lvl9pPr lvl="8" algn="l">
              <a:lnSpc>
                <a:spcPct val="150000"/>
              </a:lnSpc>
              <a:spcBef>
                <a:spcPts val="0"/>
              </a:spcBef>
              <a:spcAft>
                <a:spcPts val="0"/>
              </a:spcAft>
              <a:buClr>
                <a:srgbClr val="6E7C89"/>
              </a:buClr>
              <a:buSzPts val="1000"/>
              <a:buNone/>
              <a:defRPr sz="1000">
                <a:solidFill>
                  <a:srgbClr val="6E7C89"/>
                </a:solidFill>
              </a:defRPr>
            </a:lvl9pPr>
          </a:lstStyle>
          <a:p/>
        </p:txBody>
      </p:sp>
      <p:sp>
        <p:nvSpPr>
          <p:cNvPr id="24" name="Google Shape;24;p5"/>
          <p:cNvSpPr txBox="1"/>
          <p:nvPr>
            <p:ph type="ctrTitle"/>
          </p:nvPr>
        </p:nvSpPr>
        <p:spPr>
          <a:xfrm>
            <a:off x="228600" y="629050"/>
            <a:ext cx="8686800" cy="3885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27313B"/>
              </a:buClr>
              <a:buSzPts val="2000"/>
              <a:buNone/>
              <a:defRPr sz="2000">
                <a:solidFill>
                  <a:srgbClr val="27313B"/>
                </a:solidFill>
              </a:defRPr>
            </a:lvl1pPr>
            <a:lvl2pPr lvl="1" algn="l">
              <a:lnSpc>
                <a:spcPct val="100000"/>
              </a:lnSpc>
              <a:spcBef>
                <a:spcPts val="0"/>
              </a:spcBef>
              <a:spcAft>
                <a:spcPts val="0"/>
              </a:spcAft>
              <a:buClr>
                <a:srgbClr val="27313B"/>
              </a:buClr>
              <a:buSzPts val="2000"/>
              <a:buNone/>
              <a:defRPr sz="2000">
                <a:solidFill>
                  <a:srgbClr val="27313B"/>
                </a:solidFill>
              </a:defRPr>
            </a:lvl2pPr>
            <a:lvl3pPr lvl="2" algn="l">
              <a:lnSpc>
                <a:spcPct val="100000"/>
              </a:lnSpc>
              <a:spcBef>
                <a:spcPts val="0"/>
              </a:spcBef>
              <a:spcAft>
                <a:spcPts val="0"/>
              </a:spcAft>
              <a:buClr>
                <a:srgbClr val="27313B"/>
              </a:buClr>
              <a:buSzPts val="2000"/>
              <a:buNone/>
              <a:defRPr sz="2000">
                <a:solidFill>
                  <a:srgbClr val="27313B"/>
                </a:solidFill>
              </a:defRPr>
            </a:lvl3pPr>
            <a:lvl4pPr lvl="3" algn="l">
              <a:lnSpc>
                <a:spcPct val="100000"/>
              </a:lnSpc>
              <a:spcBef>
                <a:spcPts val="0"/>
              </a:spcBef>
              <a:spcAft>
                <a:spcPts val="0"/>
              </a:spcAft>
              <a:buClr>
                <a:srgbClr val="27313B"/>
              </a:buClr>
              <a:buSzPts val="2000"/>
              <a:buNone/>
              <a:defRPr sz="2000">
                <a:solidFill>
                  <a:srgbClr val="27313B"/>
                </a:solidFill>
              </a:defRPr>
            </a:lvl4pPr>
            <a:lvl5pPr lvl="4" algn="l">
              <a:lnSpc>
                <a:spcPct val="100000"/>
              </a:lnSpc>
              <a:spcBef>
                <a:spcPts val="0"/>
              </a:spcBef>
              <a:spcAft>
                <a:spcPts val="0"/>
              </a:spcAft>
              <a:buClr>
                <a:srgbClr val="27313B"/>
              </a:buClr>
              <a:buSzPts val="2000"/>
              <a:buNone/>
              <a:defRPr sz="2000">
                <a:solidFill>
                  <a:srgbClr val="27313B"/>
                </a:solidFill>
              </a:defRPr>
            </a:lvl5pPr>
            <a:lvl6pPr lvl="5" algn="l">
              <a:lnSpc>
                <a:spcPct val="100000"/>
              </a:lnSpc>
              <a:spcBef>
                <a:spcPts val="0"/>
              </a:spcBef>
              <a:spcAft>
                <a:spcPts val="0"/>
              </a:spcAft>
              <a:buClr>
                <a:srgbClr val="27313B"/>
              </a:buClr>
              <a:buSzPts val="2000"/>
              <a:buNone/>
              <a:defRPr sz="2000">
                <a:solidFill>
                  <a:srgbClr val="27313B"/>
                </a:solidFill>
              </a:defRPr>
            </a:lvl6pPr>
            <a:lvl7pPr lvl="6" algn="l">
              <a:lnSpc>
                <a:spcPct val="100000"/>
              </a:lnSpc>
              <a:spcBef>
                <a:spcPts val="0"/>
              </a:spcBef>
              <a:spcAft>
                <a:spcPts val="0"/>
              </a:spcAft>
              <a:buClr>
                <a:srgbClr val="27313B"/>
              </a:buClr>
              <a:buSzPts val="2000"/>
              <a:buNone/>
              <a:defRPr sz="2000">
                <a:solidFill>
                  <a:srgbClr val="27313B"/>
                </a:solidFill>
              </a:defRPr>
            </a:lvl7pPr>
            <a:lvl8pPr lvl="7" algn="l">
              <a:lnSpc>
                <a:spcPct val="100000"/>
              </a:lnSpc>
              <a:spcBef>
                <a:spcPts val="0"/>
              </a:spcBef>
              <a:spcAft>
                <a:spcPts val="0"/>
              </a:spcAft>
              <a:buClr>
                <a:srgbClr val="27313B"/>
              </a:buClr>
              <a:buSzPts val="2000"/>
              <a:buNone/>
              <a:defRPr sz="2000">
                <a:solidFill>
                  <a:srgbClr val="27313B"/>
                </a:solidFill>
              </a:defRPr>
            </a:lvl8pPr>
            <a:lvl9pPr lvl="8" algn="l">
              <a:lnSpc>
                <a:spcPct val="100000"/>
              </a:lnSpc>
              <a:spcBef>
                <a:spcPts val="0"/>
              </a:spcBef>
              <a:spcAft>
                <a:spcPts val="0"/>
              </a:spcAft>
              <a:buClr>
                <a:srgbClr val="27313B"/>
              </a:buClr>
              <a:buSzPts val="2000"/>
              <a:buNone/>
              <a:defRPr sz="2000">
                <a:solidFill>
                  <a:srgbClr val="27313B"/>
                </a:solidFill>
              </a:defRPr>
            </a:lvl9pPr>
          </a:lstStyle>
          <a:p/>
        </p:txBody>
      </p:sp>
      <p:sp>
        <p:nvSpPr>
          <p:cNvPr id="25" name="Google Shape;25;p5"/>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rtation">
  <p:cSld name="DEFAULT_1_1">
    <p:bg>
      <p:bgPr>
        <a:solidFill>
          <a:srgbClr val="091732"/>
        </a:solidFill>
      </p:bgPr>
    </p:bg>
    <p:spTree>
      <p:nvGrpSpPr>
        <p:cNvPr id="26" name="Shape 26"/>
        <p:cNvGrpSpPr/>
        <p:nvPr/>
      </p:nvGrpSpPr>
      <p:grpSpPr>
        <a:xfrm>
          <a:off x="0" y="0"/>
          <a:ext cx="0" cy="0"/>
          <a:chOff x="0" y="0"/>
          <a:chExt cx="0" cy="0"/>
        </a:xfrm>
      </p:grpSpPr>
      <p:sp>
        <p:nvSpPr>
          <p:cNvPr id="27" name="Google Shape;27;p6"/>
          <p:cNvSpPr/>
          <p:nvPr/>
        </p:nvSpPr>
        <p:spPr>
          <a:xfrm>
            <a:off x="222885" y="4800550"/>
            <a:ext cx="1994400" cy="183000"/>
          </a:xfrm>
          <a:prstGeom prst="rect">
            <a:avLst/>
          </a:prstGeom>
          <a:noFill/>
          <a:ln>
            <a:noFill/>
          </a:ln>
        </p:spPr>
        <p:txBody>
          <a:bodyPr anchorCtr="0" anchor="ctr" bIns="0" lIns="0" spcFirstLastPara="1" rIns="0" wrap="square" tIns="0">
            <a:noAutofit/>
          </a:bodyPr>
          <a:lstStyle/>
          <a:p>
            <a:pPr indent="0" lvl="0" marL="0" marR="0" rtl="0" algn="l">
              <a:lnSpc>
                <a:spcPct val="118181"/>
              </a:lnSpc>
              <a:spcBef>
                <a:spcPts val="0"/>
              </a:spcBef>
              <a:spcAft>
                <a:spcPts val="0"/>
              </a:spcAft>
              <a:buClr>
                <a:srgbClr val="000000"/>
              </a:buClr>
              <a:buSzPts val="700"/>
              <a:buFont typeface="Arial"/>
              <a:buNone/>
            </a:pPr>
            <a:r>
              <a:rPr b="0" i="0" lang="en" sz="700" u="none" cap="none" strike="noStrike">
                <a:solidFill>
                  <a:srgbClr val="FFFFFF"/>
                </a:solidFill>
                <a:latin typeface="Inter"/>
                <a:ea typeface="Inter"/>
                <a:cs typeface="Inter"/>
                <a:sym typeface="Inter"/>
              </a:rPr>
              <a:t>© AnyMind Group. All Rights Reserved.</a:t>
            </a:r>
            <a:endParaRPr b="0" i="0" sz="700" u="none" cap="none" strike="noStrike">
              <a:solidFill>
                <a:srgbClr val="FFFFFF"/>
              </a:solidFill>
              <a:latin typeface="Calibri"/>
              <a:ea typeface="Calibri"/>
              <a:cs typeface="Calibri"/>
              <a:sym typeface="Calibri"/>
            </a:endParaRPr>
          </a:p>
        </p:txBody>
      </p:sp>
      <p:pic>
        <p:nvPicPr>
          <p:cNvPr descr="preencoded.png" id="28" name="Google Shape;28;p6"/>
          <p:cNvPicPr preferRelativeResize="0"/>
          <p:nvPr/>
        </p:nvPicPr>
        <p:blipFill rotWithShape="1">
          <a:blip r:embed="rId2">
            <a:alphaModFix/>
          </a:blip>
          <a:srcRect b="0" l="0" r="0" t="0"/>
          <a:stretch/>
        </p:blipFill>
        <p:spPr>
          <a:xfrm>
            <a:off x="7983855" y="4800600"/>
            <a:ext cx="742950" cy="182880"/>
          </a:xfrm>
          <a:prstGeom prst="rect">
            <a:avLst/>
          </a:prstGeom>
          <a:noFill/>
          <a:ln>
            <a:noFill/>
          </a:ln>
        </p:spPr>
      </p:pic>
      <p:sp>
        <p:nvSpPr>
          <p:cNvPr id="29" name="Google Shape;29;p6"/>
          <p:cNvSpPr/>
          <p:nvPr/>
        </p:nvSpPr>
        <p:spPr>
          <a:xfrm>
            <a:off x="7983850" y="4800550"/>
            <a:ext cx="743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Inter"/>
                <a:ea typeface="Inter"/>
                <a:cs typeface="Inter"/>
                <a:sym typeface="Inter"/>
              </a:rPr>
              <a:t>CONFIDENTIAL</a:t>
            </a:r>
            <a:endParaRPr b="0" i="0" sz="7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2" name="Google Shape;32;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 name="Shape 33"/>
        <p:cNvGrpSpPr/>
        <p:nvPr/>
      </p:nvGrpSpPr>
      <p:grpSpPr>
        <a:xfrm>
          <a:off x="0" y="0"/>
          <a:ext cx="0" cy="0"/>
          <a:chOff x="0" y="0"/>
          <a:chExt cx="0" cy="0"/>
        </a:xfrm>
      </p:grpSpPr>
      <p:sp>
        <p:nvSpPr>
          <p:cNvPr id="34" name="Google Shape;34;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6" name="Google Shape;36;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7" name="Shape 37"/>
        <p:cNvGrpSpPr/>
        <p:nvPr/>
      </p:nvGrpSpPr>
      <p:grpSpPr>
        <a:xfrm>
          <a:off x="0" y="0"/>
          <a:ext cx="0" cy="0"/>
          <a:chOff x="0" y="0"/>
          <a:chExt cx="0" cy="0"/>
        </a:xfrm>
      </p:grpSpPr>
      <p:sp>
        <p:nvSpPr>
          <p:cNvPr id="38" name="Google Shape;38;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9" name="Google Shape;39;p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0" name="Google Shape;40;p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1" name="Google Shape;41;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 name="Shape 42"/>
        <p:cNvGrpSpPr/>
        <p:nvPr/>
      </p:nvGrpSpPr>
      <p:grpSpPr>
        <a:xfrm>
          <a:off x="0" y="0"/>
          <a:ext cx="0" cy="0"/>
          <a:chOff x="0" y="0"/>
          <a:chExt cx="0" cy="0"/>
        </a:xfrm>
      </p:grpSpPr>
      <p:sp>
        <p:nvSpPr>
          <p:cNvPr id="43" name="Google Shape;43;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4" name="Google Shape;44;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5" name="Shape 45"/>
        <p:cNvGrpSpPr/>
        <p:nvPr/>
      </p:nvGrpSpPr>
      <p:grpSpPr>
        <a:xfrm>
          <a:off x="0" y="0"/>
          <a:ext cx="0" cy="0"/>
          <a:chOff x="0" y="0"/>
          <a:chExt cx="0" cy="0"/>
        </a:xfrm>
      </p:grpSpPr>
      <p:sp>
        <p:nvSpPr>
          <p:cNvPr id="46" name="Google Shape;46;p1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7" name="Google Shape;47;p1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8" name="Google Shape;48;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9" name="Shape 49"/>
        <p:cNvGrpSpPr/>
        <p:nvPr/>
      </p:nvGrpSpPr>
      <p:grpSpPr>
        <a:xfrm>
          <a:off x="0" y="0"/>
          <a:ext cx="0" cy="0"/>
          <a:chOff x="0" y="0"/>
          <a:chExt cx="0" cy="0"/>
        </a:xfrm>
      </p:grpSpPr>
      <p:sp>
        <p:nvSpPr>
          <p:cNvPr id="50" name="Google Shape;50;p1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1" name="Google Shape;51;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2" name="Shape 52"/>
        <p:cNvGrpSpPr/>
        <p:nvPr/>
      </p:nvGrpSpPr>
      <p:grpSpPr>
        <a:xfrm>
          <a:off x="0" y="0"/>
          <a:ext cx="0" cy="0"/>
          <a:chOff x="0" y="0"/>
          <a:chExt cx="0" cy="0"/>
        </a:xfrm>
      </p:grpSpPr>
      <p:sp>
        <p:nvSpPr>
          <p:cNvPr id="53" name="Google Shape;53;p1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1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5" name="Google Shape;55;p1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6" name="Google Shape;56;p1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7" name="Google Shape;5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8" name="Shape 58"/>
        <p:cNvGrpSpPr/>
        <p:nvPr/>
      </p:nvGrpSpPr>
      <p:grpSpPr>
        <a:xfrm>
          <a:off x="0" y="0"/>
          <a:ext cx="0" cy="0"/>
          <a:chOff x="0" y="0"/>
          <a:chExt cx="0" cy="0"/>
        </a:xfrm>
      </p:grpSpPr>
      <p:sp>
        <p:nvSpPr>
          <p:cNvPr id="59" name="Google Shape;59;p1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60" name="Google Shape;60;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1" name="Shape 61"/>
        <p:cNvGrpSpPr/>
        <p:nvPr/>
      </p:nvGrpSpPr>
      <p:grpSpPr>
        <a:xfrm>
          <a:off x="0" y="0"/>
          <a:ext cx="0" cy="0"/>
          <a:chOff x="0" y="0"/>
          <a:chExt cx="0" cy="0"/>
        </a:xfrm>
      </p:grpSpPr>
      <p:sp>
        <p:nvSpPr>
          <p:cNvPr id="62" name="Google Shape;62;p1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3" name="Google Shape;63;p1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4" name="Google Shape;6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 name="Shape 65"/>
        <p:cNvGrpSpPr/>
        <p:nvPr/>
      </p:nvGrpSpPr>
      <p:grpSpPr>
        <a:xfrm>
          <a:off x="0" y="0"/>
          <a:ext cx="0" cy="0"/>
          <a:chOff x="0" y="0"/>
          <a:chExt cx="0" cy="0"/>
        </a:xfrm>
      </p:grpSpPr>
      <p:sp>
        <p:nvSpPr>
          <p:cNvPr id="66" name="Google Shape;66;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1" name="Shape 71"/>
        <p:cNvGrpSpPr/>
        <p:nvPr/>
      </p:nvGrpSpPr>
      <p:grpSpPr>
        <a:xfrm>
          <a:off x="0" y="0"/>
          <a:ext cx="0" cy="0"/>
          <a:chOff x="0" y="0"/>
          <a:chExt cx="0" cy="0"/>
        </a:xfrm>
      </p:grpSpPr>
      <p:sp>
        <p:nvSpPr>
          <p:cNvPr id="72" name="Google Shape;72;p1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73" name="Google Shape;73;p1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74" name="Google Shape;74;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p:cSld name="Header">
    <p:bg>
      <p:bgPr>
        <a:solidFill>
          <a:srgbClr val="1A2228"/>
        </a:solidFill>
      </p:bgPr>
    </p:bg>
    <p:spTree>
      <p:nvGrpSpPr>
        <p:cNvPr id="75" name="Shape 75"/>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tail 1 2">
  <p:cSld name="BLANK_1_2">
    <p:spTree>
      <p:nvGrpSpPr>
        <p:cNvPr id="76" name="Shape 76"/>
        <p:cNvGrpSpPr/>
        <p:nvPr/>
      </p:nvGrpSpPr>
      <p:grpSpPr>
        <a:xfrm>
          <a:off x="0" y="0"/>
          <a:ext cx="0" cy="0"/>
          <a:chOff x="0" y="0"/>
          <a:chExt cx="0" cy="0"/>
        </a:xfrm>
      </p:grpSpPr>
      <p:sp>
        <p:nvSpPr>
          <p:cNvPr id="77" name="Google Shape;77;p20"/>
          <p:cNvSpPr txBox="1"/>
          <p:nvPr>
            <p:ph idx="1" type="subTitle"/>
          </p:nvPr>
        </p:nvSpPr>
        <p:spPr>
          <a:xfrm>
            <a:off x="228600" y="1017550"/>
            <a:ext cx="8686800" cy="824400"/>
          </a:xfrm>
          <a:prstGeom prst="rect">
            <a:avLst/>
          </a:prstGeom>
          <a:noFill/>
          <a:ln>
            <a:noFill/>
          </a:ln>
        </p:spPr>
        <p:txBody>
          <a:bodyPr anchorCtr="0" anchor="t" bIns="91425" lIns="91425" spcFirstLastPara="1" rIns="91425" wrap="square" tIns="91425">
            <a:normAutofit/>
          </a:bodyPr>
          <a:lstStyle>
            <a:lvl1pPr lvl="0" algn="l">
              <a:lnSpc>
                <a:spcPct val="150000"/>
              </a:lnSpc>
              <a:spcBef>
                <a:spcPts val="0"/>
              </a:spcBef>
              <a:spcAft>
                <a:spcPts val="0"/>
              </a:spcAft>
              <a:buClr>
                <a:srgbClr val="6E7C89"/>
              </a:buClr>
              <a:buSzPts val="1000"/>
              <a:buNone/>
              <a:defRPr sz="1000">
                <a:solidFill>
                  <a:srgbClr val="6E7C89"/>
                </a:solidFill>
              </a:defRPr>
            </a:lvl1pPr>
            <a:lvl2pPr lvl="1" algn="l">
              <a:lnSpc>
                <a:spcPct val="150000"/>
              </a:lnSpc>
              <a:spcBef>
                <a:spcPts val="0"/>
              </a:spcBef>
              <a:spcAft>
                <a:spcPts val="0"/>
              </a:spcAft>
              <a:buClr>
                <a:srgbClr val="6E7C89"/>
              </a:buClr>
              <a:buSzPts val="1000"/>
              <a:buNone/>
              <a:defRPr sz="1000">
                <a:solidFill>
                  <a:srgbClr val="6E7C89"/>
                </a:solidFill>
              </a:defRPr>
            </a:lvl2pPr>
            <a:lvl3pPr lvl="2" algn="l">
              <a:lnSpc>
                <a:spcPct val="150000"/>
              </a:lnSpc>
              <a:spcBef>
                <a:spcPts val="0"/>
              </a:spcBef>
              <a:spcAft>
                <a:spcPts val="0"/>
              </a:spcAft>
              <a:buClr>
                <a:srgbClr val="6E7C89"/>
              </a:buClr>
              <a:buSzPts val="1000"/>
              <a:buNone/>
              <a:defRPr sz="1000">
                <a:solidFill>
                  <a:srgbClr val="6E7C89"/>
                </a:solidFill>
              </a:defRPr>
            </a:lvl3pPr>
            <a:lvl4pPr lvl="3" algn="l">
              <a:lnSpc>
                <a:spcPct val="150000"/>
              </a:lnSpc>
              <a:spcBef>
                <a:spcPts val="0"/>
              </a:spcBef>
              <a:spcAft>
                <a:spcPts val="0"/>
              </a:spcAft>
              <a:buClr>
                <a:srgbClr val="6E7C89"/>
              </a:buClr>
              <a:buSzPts val="1000"/>
              <a:buNone/>
              <a:defRPr sz="1000">
                <a:solidFill>
                  <a:srgbClr val="6E7C89"/>
                </a:solidFill>
              </a:defRPr>
            </a:lvl4pPr>
            <a:lvl5pPr lvl="4" algn="l">
              <a:lnSpc>
                <a:spcPct val="150000"/>
              </a:lnSpc>
              <a:spcBef>
                <a:spcPts val="0"/>
              </a:spcBef>
              <a:spcAft>
                <a:spcPts val="0"/>
              </a:spcAft>
              <a:buClr>
                <a:srgbClr val="6E7C89"/>
              </a:buClr>
              <a:buSzPts val="1000"/>
              <a:buNone/>
              <a:defRPr sz="1000">
                <a:solidFill>
                  <a:srgbClr val="6E7C89"/>
                </a:solidFill>
              </a:defRPr>
            </a:lvl5pPr>
            <a:lvl6pPr lvl="5" algn="l">
              <a:lnSpc>
                <a:spcPct val="150000"/>
              </a:lnSpc>
              <a:spcBef>
                <a:spcPts val="0"/>
              </a:spcBef>
              <a:spcAft>
                <a:spcPts val="0"/>
              </a:spcAft>
              <a:buClr>
                <a:srgbClr val="6E7C89"/>
              </a:buClr>
              <a:buSzPts val="1000"/>
              <a:buNone/>
              <a:defRPr sz="1000">
                <a:solidFill>
                  <a:srgbClr val="6E7C89"/>
                </a:solidFill>
              </a:defRPr>
            </a:lvl6pPr>
            <a:lvl7pPr lvl="6" algn="l">
              <a:lnSpc>
                <a:spcPct val="150000"/>
              </a:lnSpc>
              <a:spcBef>
                <a:spcPts val="0"/>
              </a:spcBef>
              <a:spcAft>
                <a:spcPts val="0"/>
              </a:spcAft>
              <a:buClr>
                <a:srgbClr val="6E7C89"/>
              </a:buClr>
              <a:buSzPts val="1000"/>
              <a:buNone/>
              <a:defRPr sz="1000">
                <a:solidFill>
                  <a:srgbClr val="6E7C89"/>
                </a:solidFill>
              </a:defRPr>
            </a:lvl7pPr>
            <a:lvl8pPr lvl="7" algn="l">
              <a:lnSpc>
                <a:spcPct val="150000"/>
              </a:lnSpc>
              <a:spcBef>
                <a:spcPts val="0"/>
              </a:spcBef>
              <a:spcAft>
                <a:spcPts val="0"/>
              </a:spcAft>
              <a:buClr>
                <a:srgbClr val="6E7C89"/>
              </a:buClr>
              <a:buSzPts val="1000"/>
              <a:buNone/>
              <a:defRPr sz="1000">
                <a:solidFill>
                  <a:srgbClr val="6E7C89"/>
                </a:solidFill>
              </a:defRPr>
            </a:lvl8pPr>
            <a:lvl9pPr lvl="8" algn="l">
              <a:lnSpc>
                <a:spcPct val="150000"/>
              </a:lnSpc>
              <a:spcBef>
                <a:spcPts val="0"/>
              </a:spcBef>
              <a:spcAft>
                <a:spcPts val="0"/>
              </a:spcAft>
              <a:buClr>
                <a:srgbClr val="6E7C89"/>
              </a:buClr>
              <a:buSzPts val="1000"/>
              <a:buNone/>
              <a:defRPr sz="1000">
                <a:solidFill>
                  <a:srgbClr val="6E7C89"/>
                </a:solidFill>
              </a:defRPr>
            </a:lvl9pPr>
          </a:lstStyle>
          <a:p/>
        </p:txBody>
      </p:sp>
      <p:sp>
        <p:nvSpPr>
          <p:cNvPr id="78" name="Google Shape;78;p20"/>
          <p:cNvSpPr txBox="1"/>
          <p:nvPr>
            <p:ph type="ctrTitle"/>
          </p:nvPr>
        </p:nvSpPr>
        <p:spPr>
          <a:xfrm>
            <a:off x="228600" y="629050"/>
            <a:ext cx="8686800" cy="3885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27313B"/>
              </a:buClr>
              <a:buSzPts val="2000"/>
              <a:buNone/>
              <a:defRPr sz="2000">
                <a:solidFill>
                  <a:srgbClr val="27313B"/>
                </a:solidFill>
              </a:defRPr>
            </a:lvl1pPr>
            <a:lvl2pPr lvl="1" algn="l">
              <a:lnSpc>
                <a:spcPct val="100000"/>
              </a:lnSpc>
              <a:spcBef>
                <a:spcPts val="0"/>
              </a:spcBef>
              <a:spcAft>
                <a:spcPts val="0"/>
              </a:spcAft>
              <a:buClr>
                <a:srgbClr val="27313B"/>
              </a:buClr>
              <a:buSzPts val="2000"/>
              <a:buNone/>
              <a:defRPr sz="2000">
                <a:solidFill>
                  <a:srgbClr val="27313B"/>
                </a:solidFill>
              </a:defRPr>
            </a:lvl2pPr>
            <a:lvl3pPr lvl="2" algn="l">
              <a:lnSpc>
                <a:spcPct val="100000"/>
              </a:lnSpc>
              <a:spcBef>
                <a:spcPts val="0"/>
              </a:spcBef>
              <a:spcAft>
                <a:spcPts val="0"/>
              </a:spcAft>
              <a:buClr>
                <a:srgbClr val="27313B"/>
              </a:buClr>
              <a:buSzPts val="2000"/>
              <a:buNone/>
              <a:defRPr sz="2000">
                <a:solidFill>
                  <a:srgbClr val="27313B"/>
                </a:solidFill>
              </a:defRPr>
            </a:lvl3pPr>
            <a:lvl4pPr lvl="3" algn="l">
              <a:lnSpc>
                <a:spcPct val="100000"/>
              </a:lnSpc>
              <a:spcBef>
                <a:spcPts val="0"/>
              </a:spcBef>
              <a:spcAft>
                <a:spcPts val="0"/>
              </a:spcAft>
              <a:buClr>
                <a:srgbClr val="27313B"/>
              </a:buClr>
              <a:buSzPts val="2000"/>
              <a:buNone/>
              <a:defRPr sz="2000">
                <a:solidFill>
                  <a:srgbClr val="27313B"/>
                </a:solidFill>
              </a:defRPr>
            </a:lvl4pPr>
            <a:lvl5pPr lvl="4" algn="l">
              <a:lnSpc>
                <a:spcPct val="100000"/>
              </a:lnSpc>
              <a:spcBef>
                <a:spcPts val="0"/>
              </a:spcBef>
              <a:spcAft>
                <a:spcPts val="0"/>
              </a:spcAft>
              <a:buClr>
                <a:srgbClr val="27313B"/>
              </a:buClr>
              <a:buSzPts val="2000"/>
              <a:buNone/>
              <a:defRPr sz="2000">
                <a:solidFill>
                  <a:srgbClr val="27313B"/>
                </a:solidFill>
              </a:defRPr>
            </a:lvl5pPr>
            <a:lvl6pPr lvl="5" algn="l">
              <a:lnSpc>
                <a:spcPct val="100000"/>
              </a:lnSpc>
              <a:spcBef>
                <a:spcPts val="0"/>
              </a:spcBef>
              <a:spcAft>
                <a:spcPts val="0"/>
              </a:spcAft>
              <a:buClr>
                <a:srgbClr val="27313B"/>
              </a:buClr>
              <a:buSzPts val="2000"/>
              <a:buNone/>
              <a:defRPr sz="2000">
                <a:solidFill>
                  <a:srgbClr val="27313B"/>
                </a:solidFill>
              </a:defRPr>
            </a:lvl6pPr>
            <a:lvl7pPr lvl="6" algn="l">
              <a:lnSpc>
                <a:spcPct val="100000"/>
              </a:lnSpc>
              <a:spcBef>
                <a:spcPts val="0"/>
              </a:spcBef>
              <a:spcAft>
                <a:spcPts val="0"/>
              </a:spcAft>
              <a:buClr>
                <a:srgbClr val="27313B"/>
              </a:buClr>
              <a:buSzPts val="2000"/>
              <a:buNone/>
              <a:defRPr sz="2000">
                <a:solidFill>
                  <a:srgbClr val="27313B"/>
                </a:solidFill>
              </a:defRPr>
            </a:lvl7pPr>
            <a:lvl8pPr lvl="7" algn="l">
              <a:lnSpc>
                <a:spcPct val="100000"/>
              </a:lnSpc>
              <a:spcBef>
                <a:spcPts val="0"/>
              </a:spcBef>
              <a:spcAft>
                <a:spcPts val="0"/>
              </a:spcAft>
              <a:buClr>
                <a:srgbClr val="27313B"/>
              </a:buClr>
              <a:buSzPts val="2000"/>
              <a:buNone/>
              <a:defRPr sz="2000">
                <a:solidFill>
                  <a:srgbClr val="27313B"/>
                </a:solidFill>
              </a:defRPr>
            </a:lvl8pPr>
            <a:lvl9pPr lvl="8" algn="l">
              <a:lnSpc>
                <a:spcPct val="100000"/>
              </a:lnSpc>
              <a:spcBef>
                <a:spcPts val="0"/>
              </a:spcBef>
              <a:spcAft>
                <a:spcPts val="0"/>
              </a:spcAft>
              <a:buClr>
                <a:srgbClr val="27313B"/>
              </a:buClr>
              <a:buSzPts val="2000"/>
              <a:buNone/>
              <a:defRPr sz="2000">
                <a:solidFill>
                  <a:srgbClr val="27313B"/>
                </a:solidFill>
              </a:defRPr>
            </a:lvl9pPr>
          </a:lstStyle>
          <a:p/>
        </p:txBody>
      </p:sp>
      <p:sp>
        <p:nvSpPr>
          <p:cNvPr id="79" name="Google Shape;79;p20"/>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descr="preencoded.png" id="80" name="Google Shape;80;p20"/>
          <p:cNvPicPr preferRelativeResize="0"/>
          <p:nvPr/>
        </p:nvPicPr>
        <p:blipFill rotWithShape="1">
          <a:blip r:embed="rId2">
            <a:alphaModFix/>
          </a:blip>
          <a:srcRect b="0" l="0" r="0" t="0"/>
          <a:stretch/>
        </p:blipFill>
        <p:spPr>
          <a:xfrm>
            <a:off x="8096250" y="186690"/>
            <a:ext cx="868680" cy="228600"/>
          </a:xfrm>
          <a:prstGeom prst="rect">
            <a:avLst/>
          </a:prstGeom>
          <a:noFill/>
          <a:ln>
            <a:noFill/>
          </a:ln>
        </p:spPr>
      </p:pic>
      <p:sp>
        <p:nvSpPr>
          <p:cNvPr id="81" name="Google Shape;81;p20"/>
          <p:cNvSpPr/>
          <p:nvPr/>
        </p:nvSpPr>
        <p:spPr>
          <a:xfrm>
            <a:off x="228600" y="4777740"/>
            <a:ext cx="1994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6E7C89"/>
                </a:solidFill>
                <a:latin typeface="Inter"/>
                <a:ea typeface="Inter"/>
                <a:cs typeface="Inter"/>
                <a:sym typeface="Inter"/>
              </a:rPr>
              <a:t>© AnyMind Group. All Rights Reserved.</a:t>
            </a:r>
            <a:endParaRPr b="0" i="0" sz="600" u="none" cap="none" strike="noStrike">
              <a:solidFill>
                <a:srgbClr val="6E7C89"/>
              </a:solidFill>
              <a:latin typeface="Calibri"/>
              <a:ea typeface="Calibri"/>
              <a:cs typeface="Calibri"/>
              <a:sym typeface="Calibri"/>
            </a:endParaRPr>
          </a:p>
        </p:txBody>
      </p:sp>
      <p:sp>
        <p:nvSpPr>
          <p:cNvPr id="82" name="Google Shape;82;p20"/>
          <p:cNvSpPr/>
          <p:nvPr/>
        </p:nvSpPr>
        <p:spPr>
          <a:xfrm>
            <a:off x="7983700" y="4800540"/>
            <a:ext cx="743100" cy="183000"/>
          </a:xfrm>
          <a:prstGeom prst="roundRect">
            <a:avLst>
              <a:gd fmla="val 16667" name="adj"/>
            </a:avLst>
          </a:prstGeom>
          <a:solidFill>
            <a:srgbClr val="6E7C8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0"/>
          <p:cNvSpPr/>
          <p:nvPr/>
        </p:nvSpPr>
        <p:spPr>
          <a:xfrm>
            <a:off x="7983850" y="4800540"/>
            <a:ext cx="743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Inter"/>
                <a:ea typeface="Inter"/>
                <a:cs typeface="Inter"/>
                <a:sym typeface="Inter"/>
              </a:rPr>
              <a:t>CONFIDENTIAL</a:t>
            </a:r>
            <a:endParaRPr b="0" i="0" sz="7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tail 1 2 1">
  <p:cSld name="detail 1 2 (g3f6caea8f55_10_0)">
    <p:spTree>
      <p:nvGrpSpPr>
        <p:cNvPr id="84" name="Shape 84"/>
        <p:cNvGrpSpPr/>
        <p:nvPr/>
      </p:nvGrpSpPr>
      <p:grpSpPr>
        <a:xfrm>
          <a:off x="0" y="0"/>
          <a:ext cx="0" cy="0"/>
          <a:chOff x="0" y="0"/>
          <a:chExt cx="0" cy="0"/>
        </a:xfrm>
      </p:grpSpPr>
      <p:sp>
        <p:nvSpPr>
          <p:cNvPr id="85" name="Google Shape;85;p21"/>
          <p:cNvSpPr txBox="1"/>
          <p:nvPr>
            <p:ph idx="1" type="subTitle"/>
          </p:nvPr>
        </p:nvSpPr>
        <p:spPr>
          <a:xfrm>
            <a:off x="228600" y="1017550"/>
            <a:ext cx="8686800" cy="824400"/>
          </a:xfrm>
          <a:prstGeom prst="rect">
            <a:avLst/>
          </a:prstGeom>
          <a:noFill/>
          <a:ln>
            <a:noFill/>
          </a:ln>
        </p:spPr>
        <p:txBody>
          <a:bodyPr anchorCtr="0" anchor="t" bIns="91425" lIns="91425" spcFirstLastPara="1" rIns="91425" wrap="square" tIns="91425">
            <a:normAutofit/>
          </a:bodyPr>
          <a:lstStyle>
            <a:lvl1pPr lvl="0" algn="l">
              <a:lnSpc>
                <a:spcPct val="150000"/>
              </a:lnSpc>
              <a:spcBef>
                <a:spcPts val="0"/>
              </a:spcBef>
              <a:spcAft>
                <a:spcPts val="0"/>
              </a:spcAft>
              <a:buClr>
                <a:srgbClr val="6E7C89"/>
              </a:buClr>
              <a:buSzPts val="1000"/>
              <a:buNone/>
              <a:defRPr sz="1000">
                <a:solidFill>
                  <a:srgbClr val="6E7C89"/>
                </a:solidFill>
              </a:defRPr>
            </a:lvl1pPr>
            <a:lvl2pPr lvl="1" algn="l">
              <a:lnSpc>
                <a:spcPct val="150000"/>
              </a:lnSpc>
              <a:spcBef>
                <a:spcPts val="0"/>
              </a:spcBef>
              <a:spcAft>
                <a:spcPts val="0"/>
              </a:spcAft>
              <a:buClr>
                <a:srgbClr val="6E7C89"/>
              </a:buClr>
              <a:buSzPts val="1000"/>
              <a:buNone/>
              <a:defRPr sz="1000">
                <a:solidFill>
                  <a:srgbClr val="6E7C89"/>
                </a:solidFill>
              </a:defRPr>
            </a:lvl2pPr>
            <a:lvl3pPr lvl="2" algn="l">
              <a:lnSpc>
                <a:spcPct val="150000"/>
              </a:lnSpc>
              <a:spcBef>
                <a:spcPts val="0"/>
              </a:spcBef>
              <a:spcAft>
                <a:spcPts val="0"/>
              </a:spcAft>
              <a:buClr>
                <a:srgbClr val="6E7C89"/>
              </a:buClr>
              <a:buSzPts val="1000"/>
              <a:buNone/>
              <a:defRPr sz="1000">
                <a:solidFill>
                  <a:srgbClr val="6E7C89"/>
                </a:solidFill>
              </a:defRPr>
            </a:lvl3pPr>
            <a:lvl4pPr lvl="3" algn="l">
              <a:lnSpc>
                <a:spcPct val="150000"/>
              </a:lnSpc>
              <a:spcBef>
                <a:spcPts val="0"/>
              </a:spcBef>
              <a:spcAft>
                <a:spcPts val="0"/>
              </a:spcAft>
              <a:buClr>
                <a:srgbClr val="6E7C89"/>
              </a:buClr>
              <a:buSzPts val="1000"/>
              <a:buNone/>
              <a:defRPr sz="1000">
                <a:solidFill>
                  <a:srgbClr val="6E7C89"/>
                </a:solidFill>
              </a:defRPr>
            </a:lvl4pPr>
            <a:lvl5pPr lvl="4" algn="l">
              <a:lnSpc>
                <a:spcPct val="150000"/>
              </a:lnSpc>
              <a:spcBef>
                <a:spcPts val="0"/>
              </a:spcBef>
              <a:spcAft>
                <a:spcPts val="0"/>
              </a:spcAft>
              <a:buClr>
                <a:srgbClr val="6E7C89"/>
              </a:buClr>
              <a:buSzPts val="1000"/>
              <a:buNone/>
              <a:defRPr sz="1000">
                <a:solidFill>
                  <a:srgbClr val="6E7C89"/>
                </a:solidFill>
              </a:defRPr>
            </a:lvl5pPr>
            <a:lvl6pPr lvl="5" algn="l">
              <a:lnSpc>
                <a:spcPct val="150000"/>
              </a:lnSpc>
              <a:spcBef>
                <a:spcPts val="0"/>
              </a:spcBef>
              <a:spcAft>
                <a:spcPts val="0"/>
              </a:spcAft>
              <a:buClr>
                <a:srgbClr val="6E7C89"/>
              </a:buClr>
              <a:buSzPts val="1000"/>
              <a:buNone/>
              <a:defRPr sz="1000">
                <a:solidFill>
                  <a:srgbClr val="6E7C89"/>
                </a:solidFill>
              </a:defRPr>
            </a:lvl6pPr>
            <a:lvl7pPr lvl="6" algn="l">
              <a:lnSpc>
                <a:spcPct val="150000"/>
              </a:lnSpc>
              <a:spcBef>
                <a:spcPts val="0"/>
              </a:spcBef>
              <a:spcAft>
                <a:spcPts val="0"/>
              </a:spcAft>
              <a:buClr>
                <a:srgbClr val="6E7C89"/>
              </a:buClr>
              <a:buSzPts val="1000"/>
              <a:buNone/>
              <a:defRPr sz="1000">
                <a:solidFill>
                  <a:srgbClr val="6E7C89"/>
                </a:solidFill>
              </a:defRPr>
            </a:lvl7pPr>
            <a:lvl8pPr lvl="7" algn="l">
              <a:lnSpc>
                <a:spcPct val="150000"/>
              </a:lnSpc>
              <a:spcBef>
                <a:spcPts val="0"/>
              </a:spcBef>
              <a:spcAft>
                <a:spcPts val="0"/>
              </a:spcAft>
              <a:buClr>
                <a:srgbClr val="6E7C89"/>
              </a:buClr>
              <a:buSzPts val="1000"/>
              <a:buNone/>
              <a:defRPr sz="1000">
                <a:solidFill>
                  <a:srgbClr val="6E7C89"/>
                </a:solidFill>
              </a:defRPr>
            </a:lvl8pPr>
            <a:lvl9pPr lvl="8" algn="l">
              <a:lnSpc>
                <a:spcPct val="150000"/>
              </a:lnSpc>
              <a:spcBef>
                <a:spcPts val="0"/>
              </a:spcBef>
              <a:spcAft>
                <a:spcPts val="0"/>
              </a:spcAft>
              <a:buClr>
                <a:srgbClr val="6E7C89"/>
              </a:buClr>
              <a:buSzPts val="1000"/>
              <a:buNone/>
              <a:defRPr sz="1000">
                <a:solidFill>
                  <a:srgbClr val="6E7C89"/>
                </a:solidFill>
              </a:defRPr>
            </a:lvl9pPr>
          </a:lstStyle>
          <a:p/>
        </p:txBody>
      </p:sp>
      <p:sp>
        <p:nvSpPr>
          <p:cNvPr id="86" name="Google Shape;86;p21"/>
          <p:cNvSpPr txBox="1"/>
          <p:nvPr>
            <p:ph type="ctrTitle"/>
          </p:nvPr>
        </p:nvSpPr>
        <p:spPr>
          <a:xfrm>
            <a:off x="228600" y="629050"/>
            <a:ext cx="8686800" cy="3885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27313B"/>
              </a:buClr>
              <a:buSzPts val="2000"/>
              <a:buNone/>
              <a:defRPr sz="2000">
                <a:solidFill>
                  <a:srgbClr val="27313B"/>
                </a:solidFill>
              </a:defRPr>
            </a:lvl1pPr>
            <a:lvl2pPr lvl="1" algn="l">
              <a:lnSpc>
                <a:spcPct val="100000"/>
              </a:lnSpc>
              <a:spcBef>
                <a:spcPts val="0"/>
              </a:spcBef>
              <a:spcAft>
                <a:spcPts val="0"/>
              </a:spcAft>
              <a:buClr>
                <a:srgbClr val="27313B"/>
              </a:buClr>
              <a:buSzPts val="2000"/>
              <a:buNone/>
              <a:defRPr sz="2000">
                <a:solidFill>
                  <a:srgbClr val="27313B"/>
                </a:solidFill>
              </a:defRPr>
            </a:lvl2pPr>
            <a:lvl3pPr lvl="2" algn="l">
              <a:lnSpc>
                <a:spcPct val="100000"/>
              </a:lnSpc>
              <a:spcBef>
                <a:spcPts val="0"/>
              </a:spcBef>
              <a:spcAft>
                <a:spcPts val="0"/>
              </a:spcAft>
              <a:buClr>
                <a:srgbClr val="27313B"/>
              </a:buClr>
              <a:buSzPts val="2000"/>
              <a:buNone/>
              <a:defRPr sz="2000">
                <a:solidFill>
                  <a:srgbClr val="27313B"/>
                </a:solidFill>
              </a:defRPr>
            </a:lvl3pPr>
            <a:lvl4pPr lvl="3" algn="l">
              <a:lnSpc>
                <a:spcPct val="100000"/>
              </a:lnSpc>
              <a:spcBef>
                <a:spcPts val="0"/>
              </a:spcBef>
              <a:spcAft>
                <a:spcPts val="0"/>
              </a:spcAft>
              <a:buClr>
                <a:srgbClr val="27313B"/>
              </a:buClr>
              <a:buSzPts val="2000"/>
              <a:buNone/>
              <a:defRPr sz="2000">
                <a:solidFill>
                  <a:srgbClr val="27313B"/>
                </a:solidFill>
              </a:defRPr>
            </a:lvl4pPr>
            <a:lvl5pPr lvl="4" algn="l">
              <a:lnSpc>
                <a:spcPct val="100000"/>
              </a:lnSpc>
              <a:spcBef>
                <a:spcPts val="0"/>
              </a:spcBef>
              <a:spcAft>
                <a:spcPts val="0"/>
              </a:spcAft>
              <a:buClr>
                <a:srgbClr val="27313B"/>
              </a:buClr>
              <a:buSzPts val="2000"/>
              <a:buNone/>
              <a:defRPr sz="2000">
                <a:solidFill>
                  <a:srgbClr val="27313B"/>
                </a:solidFill>
              </a:defRPr>
            </a:lvl5pPr>
            <a:lvl6pPr lvl="5" algn="l">
              <a:lnSpc>
                <a:spcPct val="100000"/>
              </a:lnSpc>
              <a:spcBef>
                <a:spcPts val="0"/>
              </a:spcBef>
              <a:spcAft>
                <a:spcPts val="0"/>
              </a:spcAft>
              <a:buClr>
                <a:srgbClr val="27313B"/>
              </a:buClr>
              <a:buSzPts val="2000"/>
              <a:buNone/>
              <a:defRPr sz="2000">
                <a:solidFill>
                  <a:srgbClr val="27313B"/>
                </a:solidFill>
              </a:defRPr>
            </a:lvl6pPr>
            <a:lvl7pPr lvl="6" algn="l">
              <a:lnSpc>
                <a:spcPct val="100000"/>
              </a:lnSpc>
              <a:spcBef>
                <a:spcPts val="0"/>
              </a:spcBef>
              <a:spcAft>
                <a:spcPts val="0"/>
              </a:spcAft>
              <a:buClr>
                <a:srgbClr val="27313B"/>
              </a:buClr>
              <a:buSzPts val="2000"/>
              <a:buNone/>
              <a:defRPr sz="2000">
                <a:solidFill>
                  <a:srgbClr val="27313B"/>
                </a:solidFill>
              </a:defRPr>
            </a:lvl7pPr>
            <a:lvl8pPr lvl="7" algn="l">
              <a:lnSpc>
                <a:spcPct val="100000"/>
              </a:lnSpc>
              <a:spcBef>
                <a:spcPts val="0"/>
              </a:spcBef>
              <a:spcAft>
                <a:spcPts val="0"/>
              </a:spcAft>
              <a:buClr>
                <a:srgbClr val="27313B"/>
              </a:buClr>
              <a:buSzPts val="2000"/>
              <a:buNone/>
              <a:defRPr sz="2000">
                <a:solidFill>
                  <a:srgbClr val="27313B"/>
                </a:solidFill>
              </a:defRPr>
            </a:lvl8pPr>
            <a:lvl9pPr lvl="8" algn="l">
              <a:lnSpc>
                <a:spcPct val="100000"/>
              </a:lnSpc>
              <a:spcBef>
                <a:spcPts val="0"/>
              </a:spcBef>
              <a:spcAft>
                <a:spcPts val="0"/>
              </a:spcAft>
              <a:buClr>
                <a:srgbClr val="27313B"/>
              </a:buClr>
              <a:buSzPts val="2000"/>
              <a:buNone/>
              <a:defRPr sz="2000">
                <a:solidFill>
                  <a:srgbClr val="27313B"/>
                </a:solidFill>
              </a:defRPr>
            </a:lvl9pPr>
          </a:lstStyle>
          <a:p/>
        </p:txBody>
      </p:sp>
      <p:sp>
        <p:nvSpPr>
          <p:cNvPr id="87" name="Google Shape;87;p21"/>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rtation">
  <p:cSld name="DEFAULT_1_1">
    <p:bg>
      <p:bgPr>
        <a:solidFill>
          <a:srgbClr val="091732"/>
        </a:solidFill>
      </p:bgPr>
    </p:bg>
    <p:spTree>
      <p:nvGrpSpPr>
        <p:cNvPr id="88" name="Shape 88"/>
        <p:cNvGrpSpPr/>
        <p:nvPr/>
      </p:nvGrpSpPr>
      <p:grpSpPr>
        <a:xfrm>
          <a:off x="0" y="0"/>
          <a:ext cx="0" cy="0"/>
          <a:chOff x="0" y="0"/>
          <a:chExt cx="0" cy="0"/>
        </a:xfrm>
      </p:grpSpPr>
      <p:sp>
        <p:nvSpPr>
          <p:cNvPr id="89" name="Google Shape;89;p22"/>
          <p:cNvSpPr/>
          <p:nvPr/>
        </p:nvSpPr>
        <p:spPr>
          <a:xfrm>
            <a:off x="222885" y="4800550"/>
            <a:ext cx="1994400" cy="183000"/>
          </a:xfrm>
          <a:prstGeom prst="rect">
            <a:avLst/>
          </a:prstGeom>
          <a:noFill/>
          <a:ln>
            <a:noFill/>
          </a:ln>
        </p:spPr>
        <p:txBody>
          <a:bodyPr anchorCtr="0" anchor="ctr" bIns="0" lIns="0" spcFirstLastPara="1" rIns="0" wrap="square" tIns="0">
            <a:noAutofit/>
          </a:bodyPr>
          <a:lstStyle/>
          <a:p>
            <a:pPr indent="0" lvl="0" marL="0" marR="0" rtl="0" algn="l">
              <a:lnSpc>
                <a:spcPct val="118181"/>
              </a:lnSpc>
              <a:spcBef>
                <a:spcPts val="0"/>
              </a:spcBef>
              <a:spcAft>
                <a:spcPts val="0"/>
              </a:spcAft>
              <a:buClr>
                <a:srgbClr val="000000"/>
              </a:buClr>
              <a:buSzPts val="700"/>
              <a:buFont typeface="Arial"/>
              <a:buNone/>
            </a:pPr>
            <a:r>
              <a:rPr b="0" i="0" lang="en" sz="700" u="none" cap="none" strike="noStrike">
                <a:solidFill>
                  <a:srgbClr val="FFFFFF"/>
                </a:solidFill>
                <a:latin typeface="Inter"/>
                <a:ea typeface="Inter"/>
                <a:cs typeface="Inter"/>
                <a:sym typeface="Inter"/>
              </a:rPr>
              <a:t>© AnyMind Group. All Rights Reserved.</a:t>
            </a:r>
            <a:endParaRPr b="0" i="0" sz="700" u="none" cap="none" strike="noStrike">
              <a:solidFill>
                <a:srgbClr val="FFFFFF"/>
              </a:solidFill>
              <a:latin typeface="Calibri"/>
              <a:ea typeface="Calibri"/>
              <a:cs typeface="Calibri"/>
              <a:sym typeface="Calibri"/>
            </a:endParaRPr>
          </a:p>
        </p:txBody>
      </p:sp>
      <p:pic>
        <p:nvPicPr>
          <p:cNvPr descr="preencoded.png" id="90" name="Google Shape;90;p22"/>
          <p:cNvPicPr preferRelativeResize="0"/>
          <p:nvPr/>
        </p:nvPicPr>
        <p:blipFill rotWithShape="1">
          <a:blip r:embed="rId2">
            <a:alphaModFix/>
          </a:blip>
          <a:srcRect b="0" l="0" r="0" t="0"/>
          <a:stretch/>
        </p:blipFill>
        <p:spPr>
          <a:xfrm>
            <a:off x="7983855" y="4800600"/>
            <a:ext cx="742950" cy="182880"/>
          </a:xfrm>
          <a:prstGeom prst="rect">
            <a:avLst/>
          </a:prstGeom>
          <a:noFill/>
          <a:ln>
            <a:noFill/>
          </a:ln>
        </p:spPr>
      </p:pic>
      <p:sp>
        <p:nvSpPr>
          <p:cNvPr id="91" name="Google Shape;91;p22"/>
          <p:cNvSpPr/>
          <p:nvPr/>
        </p:nvSpPr>
        <p:spPr>
          <a:xfrm>
            <a:off x="7983850" y="4800550"/>
            <a:ext cx="743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Inter"/>
                <a:ea typeface="Inter"/>
                <a:cs typeface="Inter"/>
                <a:sym typeface="Inter"/>
              </a:rPr>
              <a:t>CONFIDENTIAL</a:t>
            </a:r>
            <a:endParaRPr b="0" i="0" sz="7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2" name="Shape 92"/>
        <p:cNvGrpSpPr/>
        <p:nvPr/>
      </p:nvGrpSpPr>
      <p:grpSpPr>
        <a:xfrm>
          <a:off x="0" y="0"/>
          <a:ext cx="0" cy="0"/>
          <a:chOff x="0" y="0"/>
          <a:chExt cx="0" cy="0"/>
        </a:xfrm>
      </p:grpSpPr>
      <p:sp>
        <p:nvSpPr>
          <p:cNvPr id="93" name="Google Shape;93;p2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4" name="Google Shape;94;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5" name="Shape 95"/>
        <p:cNvGrpSpPr/>
        <p:nvPr/>
      </p:nvGrpSpPr>
      <p:grpSpPr>
        <a:xfrm>
          <a:off x="0" y="0"/>
          <a:ext cx="0" cy="0"/>
          <a:chOff x="0" y="0"/>
          <a:chExt cx="0" cy="0"/>
        </a:xfrm>
      </p:grpSpPr>
      <p:sp>
        <p:nvSpPr>
          <p:cNvPr id="96" name="Google Shape;96;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7" name="Google Shape;97;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8" name="Google Shape;98;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9" name="Shape 99"/>
        <p:cNvGrpSpPr/>
        <p:nvPr/>
      </p:nvGrpSpPr>
      <p:grpSpPr>
        <a:xfrm>
          <a:off x="0" y="0"/>
          <a:ext cx="0" cy="0"/>
          <a:chOff x="0" y="0"/>
          <a:chExt cx="0" cy="0"/>
        </a:xfrm>
      </p:grpSpPr>
      <p:sp>
        <p:nvSpPr>
          <p:cNvPr id="100" name="Google Shape;100;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1" name="Google Shape;101;p2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2" name="Google Shape;102;p2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3" name="Google Shape;103;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6" name="Google Shape;106;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7" name="Shape 107"/>
        <p:cNvGrpSpPr/>
        <p:nvPr/>
      </p:nvGrpSpPr>
      <p:grpSpPr>
        <a:xfrm>
          <a:off x="0" y="0"/>
          <a:ext cx="0" cy="0"/>
          <a:chOff x="0" y="0"/>
          <a:chExt cx="0" cy="0"/>
        </a:xfrm>
      </p:grpSpPr>
      <p:sp>
        <p:nvSpPr>
          <p:cNvPr id="108" name="Google Shape;108;p2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9" name="Google Shape;109;p2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0" name="Google Shape;110;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1" name="Shape 111"/>
        <p:cNvGrpSpPr/>
        <p:nvPr/>
      </p:nvGrpSpPr>
      <p:grpSpPr>
        <a:xfrm>
          <a:off x="0" y="0"/>
          <a:ext cx="0" cy="0"/>
          <a:chOff x="0" y="0"/>
          <a:chExt cx="0" cy="0"/>
        </a:xfrm>
      </p:grpSpPr>
      <p:sp>
        <p:nvSpPr>
          <p:cNvPr id="112" name="Google Shape;112;p2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13" name="Google Shape;11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4" name="Shape 114"/>
        <p:cNvGrpSpPr/>
        <p:nvPr/>
      </p:nvGrpSpPr>
      <p:grpSpPr>
        <a:xfrm>
          <a:off x="0" y="0"/>
          <a:ext cx="0" cy="0"/>
          <a:chOff x="0" y="0"/>
          <a:chExt cx="0" cy="0"/>
        </a:xfrm>
      </p:grpSpPr>
      <p:sp>
        <p:nvSpPr>
          <p:cNvPr id="115" name="Google Shape;115;p2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17" name="Google Shape;117;p2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8" name="Google Shape;118;p2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9" name="Google Shape;119;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0" name="Shape 120"/>
        <p:cNvGrpSpPr/>
        <p:nvPr/>
      </p:nvGrpSpPr>
      <p:grpSpPr>
        <a:xfrm>
          <a:off x="0" y="0"/>
          <a:ext cx="0" cy="0"/>
          <a:chOff x="0" y="0"/>
          <a:chExt cx="0" cy="0"/>
        </a:xfrm>
      </p:grpSpPr>
      <p:sp>
        <p:nvSpPr>
          <p:cNvPr id="121" name="Google Shape;121;p3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22" name="Google Shape;122;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3" name="Shape 123"/>
        <p:cNvGrpSpPr/>
        <p:nvPr/>
      </p:nvGrpSpPr>
      <p:grpSpPr>
        <a:xfrm>
          <a:off x="0" y="0"/>
          <a:ext cx="0" cy="0"/>
          <a:chOff x="0" y="0"/>
          <a:chExt cx="0" cy="0"/>
        </a:xfrm>
      </p:grpSpPr>
      <p:sp>
        <p:nvSpPr>
          <p:cNvPr id="124" name="Google Shape;124;p3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25" name="Google Shape;125;p3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26" name="Google Shape;126;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7" name="Shape 127"/>
        <p:cNvGrpSpPr/>
        <p:nvPr/>
      </p:nvGrpSpPr>
      <p:grpSpPr>
        <a:xfrm>
          <a:off x="0" y="0"/>
          <a:ext cx="0" cy="0"/>
          <a:chOff x="0" y="0"/>
          <a:chExt cx="0" cy="0"/>
        </a:xfrm>
      </p:grpSpPr>
      <p:sp>
        <p:nvSpPr>
          <p:cNvPr id="128" name="Google Shape;128;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3.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6.xml"/><Relationship Id="rId10" Type="http://schemas.openxmlformats.org/officeDocument/2006/relationships/slideLayout" Target="../slideLayouts/slideLayout25.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5" Type="http://schemas.openxmlformats.org/officeDocument/2006/relationships/slideLayout" Target="../slideLayouts/slideLayout30.xml"/><Relationship Id="rId14" Type="http://schemas.openxmlformats.org/officeDocument/2006/relationships/slideLayout" Target="../slideLayouts/slideLayout29.xml"/><Relationship Id="rId16" Type="http://schemas.openxmlformats.org/officeDocument/2006/relationships/theme" Target="../theme/theme1.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7" name="Shape 67"/>
        <p:cNvGrpSpPr/>
        <p:nvPr/>
      </p:nvGrpSpPr>
      <p:grpSpPr>
        <a:xfrm>
          <a:off x="0" y="0"/>
          <a:ext cx="0" cy="0"/>
          <a:chOff x="0" y="0"/>
          <a:chExt cx="0" cy="0"/>
        </a:xfrm>
      </p:grpSpPr>
      <p:sp>
        <p:nvSpPr>
          <p:cNvPr id="68" name="Google Shape;68;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69" name="Google Shape;69;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70" name="Google Shape;70;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3.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omments" Target="../comments/comment1.xml"/><Relationship Id="rId4" Type="http://schemas.openxmlformats.org/officeDocument/2006/relationships/image" Target="../media/image7.png"/><Relationship Id="rId5"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2.jpg"/><Relationship Id="rId5"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omments" Target="../comments/comment2.xml"/><Relationship Id="rId4" Type="http://schemas.openxmlformats.org/officeDocument/2006/relationships/image" Target="../media/image7.png"/><Relationship Id="rId5"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36.png"/><Relationship Id="rId5"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39.png"/><Relationship Id="rId5" Type="http://schemas.openxmlformats.org/officeDocument/2006/relationships/image" Target="../media/image4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comments" Target="../comments/comment3.xml"/><Relationship Id="rId4" Type="http://schemas.openxmlformats.org/officeDocument/2006/relationships/image" Target="../media/image7.png"/><Relationship Id="rId5" Type="http://schemas.openxmlformats.org/officeDocument/2006/relationships/image" Target="../media/image4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20.png"/><Relationship Id="rId5"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comments" Target="../comments/comment4.xml"/><Relationship Id="rId4" Type="http://schemas.openxmlformats.org/officeDocument/2006/relationships/image" Target="../media/image7.png"/><Relationship Id="rId5" Type="http://schemas.openxmlformats.org/officeDocument/2006/relationships/image" Target="../media/image2.jpg"/><Relationship Id="rId6" Type="http://schemas.openxmlformats.org/officeDocument/2006/relationships/image" Target="../media/image14.png"/><Relationship Id="rId7" Type="http://schemas.openxmlformats.org/officeDocument/2006/relationships/image" Target="../media/image21.png"/><Relationship Id="rId8"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7.png"/><Relationship Id="rId4" Type="http://schemas.openxmlformats.org/officeDocument/2006/relationships/image" Target="../media/image2.jp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2.jpg"/><Relationship Id="rId5"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7.png"/><Relationship Id="rId4" Type="http://schemas.openxmlformats.org/officeDocument/2006/relationships/image" Target="../media/image2.jpg"/><Relationship Id="rId5"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7.png"/><Relationship Id="rId4" Type="http://schemas.openxmlformats.org/officeDocument/2006/relationships/image" Target="../media/image2.jpg"/><Relationship Id="rId5" Type="http://schemas.openxmlformats.org/officeDocument/2006/relationships/image" Target="../media/image25.png"/><Relationship Id="rId6" Type="http://schemas.openxmlformats.org/officeDocument/2006/relationships/image" Target="../media/image30.png"/><Relationship Id="rId7"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comments" Target="../comments/comment5.xml"/><Relationship Id="rId4" Type="http://schemas.openxmlformats.org/officeDocument/2006/relationships/image" Target="../media/image19.png"/><Relationship Id="rId5" Type="http://schemas.openxmlformats.org/officeDocument/2006/relationships/image" Target="../media/image7.png"/><Relationship Id="rId6" Type="http://schemas.openxmlformats.org/officeDocument/2006/relationships/image" Target="../media/image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7.png"/><Relationship Id="rId4" Type="http://schemas.openxmlformats.org/officeDocument/2006/relationships/image" Target="../media/image2.jpg"/><Relationship Id="rId5" Type="http://schemas.openxmlformats.org/officeDocument/2006/relationships/image" Target="../media/image32.png"/><Relationship Id="rId6" Type="http://schemas.openxmlformats.org/officeDocument/2006/relationships/image" Target="../media/image35.png"/><Relationship Id="rId7"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7.png"/><Relationship Id="rId4" Type="http://schemas.openxmlformats.org/officeDocument/2006/relationships/image" Target="../media/image2.jpg"/><Relationship Id="rId5" Type="http://schemas.openxmlformats.org/officeDocument/2006/relationships/image" Target="../media/image26.png"/><Relationship Id="rId6" Type="http://schemas.openxmlformats.org/officeDocument/2006/relationships/image" Target="../media/image24.png"/><Relationship Id="rId7"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7.png"/><Relationship Id="rId4" Type="http://schemas.openxmlformats.org/officeDocument/2006/relationships/image" Target="../media/image2.jpg"/></Relationships>
</file>

<file path=ppt/slides/_rels/slide35.xml.rels><?xml version="1.0" encoding="UTF-8" standalone="yes"?><Relationships xmlns="http://schemas.openxmlformats.org/package/2006/relationships"><Relationship Id="rId11" Type="http://schemas.openxmlformats.org/officeDocument/2006/relationships/image" Target="../media/image40.png"/><Relationship Id="rId10" Type="http://schemas.openxmlformats.org/officeDocument/2006/relationships/image" Target="../media/image29.png"/><Relationship Id="rId13" Type="http://schemas.openxmlformats.org/officeDocument/2006/relationships/image" Target="../media/image38.png"/><Relationship Id="rId12" Type="http://schemas.openxmlformats.org/officeDocument/2006/relationships/image" Target="../media/image45.png"/><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7.png"/><Relationship Id="rId4" Type="http://schemas.openxmlformats.org/officeDocument/2006/relationships/image" Target="../media/image2.jpg"/><Relationship Id="rId9" Type="http://schemas.openxmlformats.org/officeDocument/2006/relationships/image" Target="../media/image33.png"/><Relationship Id="rId15" Type="http://schemas.openxmlformats.org/officeDocument/2006/relationships/image" Target="../media/image44.png"/><Relationship Id="rId14" Type="http://schemas.openxmlformats.org/officeDocument/2006/relationships/image" Target="../media/image41.png"/><Relationship Id="rId5" Type="http://schemas.openxmlformats.org/officeDocument/2006/relationships/image" Target="../media/image31.png"/><Relationship Id="rId6" Type="http://schemas.openxmlformats.org/officeDocument/2006/relationships/image" Target="../media/image23.png"/><Relationship Id="rId7" Type="http://schemas.openxmlformats.org/officeDocument/2006/relationships/image" Target="../media/image19.png"/><Relationship Id="rId8" Type="http://schemas.openxmlformats.org/officeDocument/2006/relationships/image" Target="../media/image4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7.pn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2" name="Shape 132"/>
        <p:cNvGrpSpPr/>
        <p:nvPr/>
      </p:nvGrpSpPr>
      <p:grpSpPr>
        <a:xfrm>
          <a:off x="0" y="0"/>
          <a:ext cx="0" cy="0"/>
          <a:chOff x="0" y="0"/>
          <a:chExt cx="0" cy="0"/>
        </a:xfrm>
      </p:grpSpPr>
      <p:pic>
        <p:nvPicPr>
          <p:cNvPr id="133" name="Google Shape;133;p33"/>
          <p:cNvPicPr preferRelativeResize="0"/>
          <p:nvPr/>
        </p:nvPicPr>
        <p:blipFill rotWithShape="1">
          <a:blip r:embed="rId4">
            <a:alphaModFix/>
          </a:blip>
          <a:srcRect b="0" l="1040" r="-1040" t="0"/>
          <a:stretch/>
        </p:blipFill>
        <p:spPr>
          <a:xfrm>
            <a:off x="-36169" y="-69125"/>
            <a:ext cx="9275500" cy="5217474"/>
          </a:xfrm>
          <a:prstGeom prst="rect">
            <a:avLst/>
          </a:prstGeom>
          <a:noFill/>
          <a:ln>
            <a:noFill/>
          </a:ln>
        </p:spPr>
      </p:pic>
      <p:grpSp>
        <p:nvGrpSpPr>
          <p:cNvPr id="134" name="Google Shape;134;p33"/>
          <p:cNvGrpSpPr/>
          <p:nvPr/>
        </p:nvGrpSpPr>
        <p:grpSpPr>
          <a:xfrm>
            <a:off x="0" y="1852716"/>
            <a:ext cx="9144000" cy="1388690"/>
            <a:chOff x="8230" y="1814144"/>
            <a:chExt cx="9144000" cy="1388690"/>
          </a:xfrm>
        </p:grpSpPr>
        <p:pic>
          <p:nvPicPr>
            <p:cNvPr descr="preencoded.png" id="135" name="Google Shape;135;p33"/>
            <p:cNvPicPr preferRelativeResize="0"/>
            <p:nvPr/>
          </p:nvPicPr>
          <p:blipFill rotWithShape="1">
            <a:blip r:embed="rId5">
              <a:alphaModFix/>
            </a:blip>
            <a:srcRect b="0" l="0" r="0" t="0"/>
            <a:stretch/>
          </p:blipFill>
          <p:spPr>
            <a:xfrm>
              <a:off x="3159127" y="1814144"/>
              <a:ext cx="2896175" cy="773078"/>
            </a:xfrm>
            <a:prstGeom prst="rect">
              <a:avLst/>
            </a:prstGeom>
            <a:noFill/>
            <a:ln>
              <a:noFill/>
            </a:ln>
          </p:spPr>
        </p:pic>
        <p:sp>
          <p:nvSpPr>
            <p:cNvPr id="136" name="Google Shape;136;p33"/>
            <p:cNvSpPr/>
            <p:nvPr/>
          </p:nvSpPr>
          <p:spPr>
            <a:xfrm>
              <a:off x="8230" y="2758234"/>
              <a:ext cx="9144000" cy="444600"/>
            </a:xfrm>
            <a:prstGeom prst="rect">
              <a:avLst/>
            </a:prstGeom>
            <a:noFill/>
            <a:ln>
              <a:noFill/>
            </a:ln>
          </p:spPr>
          <p:txBody>
            <a:bodyPr anchorCtr="0" anchor="t" bIns="0" lIns="0" spcFirstLastPara="1" rIns="0" wrap="square" tIns="0">
              <a:noAutofit/>
            </a:bodyPr>
            <a:lstStyle/>
            <a:p>
              <a:pPr indent="0" lvl="0" marL="0" marR="0" rtl="0" algn="ctr">
                <a:lnSpc>
                  <a:spcPct val="120833"/>
                </a:lnSpc>
                <a:spcBef>
                  <a:spcPts val="0"/>
                </a:spcBef>
                <a:spcAft>
                  <a:spcPts val="0"/>
                </a:spcAft>
                <a:buClr>
                  <a:srgbClr val="000000"/>
                </a:buClr>
                <a:buSzPts val="1100"/>
                <a:buFont typeface="Arial"/>
                <a:buNone/>
              </a:pPr>
              <a:r>
                <a:rPr b="1" i="0" lang="en" sz="1400" u="none" cap="none" strike="noStrike">
                  <a:solidFill>
                    <a:srgbClr val="FFFFFF"/>
                  </a:solidFill>
                  <a:latin typeface="Inter"/>
                  <a:ea typeface="Inter"/>
                  <a:cs typeface="Inter"/>
                  <a:sym typeface="Inter"/>
                </a:rPr>
                <a:t>ID HALEON August 2026 Review</a:t>
              </a:r>
              <a:endParaRPr b="1" i="0" sz="1400" u="none" cap="none" strike="noStrike">
                <a:solidFill>
                  <a:srgbClr val="FFFFFF"/>
                </a:solidFill>
                <a:latin typeface="Inter"/>
                <a:ea typeface="Inter"/>
                <a:cs typeface="Inter"/>
                <a:sym typeface="Inte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4"/>
          <p:cNvSpPr/>
          <p:nvPr/>
        </p:nvSpPr>
        <p:spPr>
          <a:xfrm>
            <a:off x="-6513854" y="1503934"/>
            <a:ext cx="270600" cy="299400"/>
          </a:xfrm>
          <a:prstGeom prst="rect">
            <a:avLst/>
          </a:prstGeom>
          <a:noFill/>
          <a:ln>
            <a:noFill/>
          </a:ln>
        </p:spPr>
        <p:txBody>
          <a:bodyPr anchorCtr="0" anchor="t" bIns="34275" lIns="68575" spcFirstLastPara="1" rIns="68575" wrap="square" tIns="34275">
            <a:noAutofit/>
          </a:bodyPr>
          <a:lstStyle/>
          <a:p>
            <a:pPr indent="0" lvl="0" marL="0" marR="0" rtl="0" algn="ctr">
              <a:lnSpc>
                <a:spcPct val="148571"/>
              </a:lnSpc>
              <a:spcBef>
                <a:spcPts val="0"/>
              </a:spcBef>
              <a:spcAft>
                <a:spcPts val="0"/>
              </a:spcAft>
              <a:buClr>
                <a:srgbClr val="000000"/>
              </a:buClr>
              <a:buSzPts val="1100"/>
              <a:buFont typeface="Arial"/>
              <a:buNone/>
            </a:pPr>
            <a:r>
              <a:rPr b="0" i="0" lang="en" sz="2000" u="none" cap="none" strike="noStrike">
                <a:solidFill>
                  <a:srgbClr val="FFFFFF"/>
                </a:solidFill>
                <a:latin typeface="Arial"/>
                <a:ea typeface="Arial"/>
                <a:cs typeface="Arial"/>
                <a:sym typeface="Arial"/>
              </a:rPr>
              <a:t>×</a:t>
            </a:r>
            <a:endParaRPr b="0" i="0" sz="2000" u="none" cap="none" strike="noStrike">
              <a:solidFill>
                <a:srgbClr val="FFFFFF"/>
              </a:solidFill>
              <a:latin typeface="Arial"/>
              <a:ea typeface="Arial"/>
              <a:cs typeface="Arial"/>
              <a:sym typeface="Arial"/>
            </a:endParaRPr>
          </a:p>
        </p:txBody>
      </p:sp>
      <p:pic>
        <p:nvPicPr>
          <p:cNvPr id="143" name="Google Shape;143;p34"/>
          <p:cNvPicPr preferRelativeResize="0"/>
          <p:nvPr/>
        </p:nvPicPr>
        <p:blipFill rotWithShape="1">
          <a:blip r:embed="rId3">
            <a:alphaModFix/>
          </a:blip>
          <a:srcRect b="0" l="0" r="0" t="0"/>
          <a:stretch/>
        </p:blipFill>
        <p:spPr>
          <a:xfrm>
            <a:off x="-6228335" y="1542176"/>
            <a:ext cx="1137599" cy="299310"/>
          </a:xfrm>
          <a:prstGeom prst="rect">
            <a:avLst/>
          </a:prstGeom>
          <a:noFill/>
          <a:ln>
            <a:noFill/>
          </a:ln>
        </p:spPr>
      </p:pic>
      <p:pic>
        <p:nvPicPr>
          <p:cNvPr id="144" name="Google Shape;144;p34"/>
          <p:cNvPicPr preferRelativeResize="0"/>
          <p:nvPr/>
        </p:nvPicPr>
        <p:blipFill rotWithShape="1">
          <a:blip r:embed="rId4">
            <a:alphaModFix/>
          </a:blip>
          <a:srcRect b="0" l="0" r="0" t="0"/>
          <a:stretch/>
        </p:blipFill>
        <p:spPr>
          <a:xfrm>
            <a:off x="-7488888" y="1447341"/>
            <a:ext cx="1137597" cy="490650"/>
          </a:xfrm>
          <a:prstGeom prst="rect">
            <a:avLst/>
          </a:prstGeom>
          <a:noFill/>
          <a:ln>
            <a:noFill/>
          </a:ln>
        </p:spPr>
      </p:pic>
      <p:grpSp>
        <p:nvGrpSpPr>
          <p:cNvPr id="145" name="Google Shape;145;p34"/>
          <p:cNvGrpSpPr/>
          <p:nvPr/>
        </p:nvGrpSpPr>
        <p:grpSpPr>
          <a:xfrm>
            <a:off x="0" y="1776516"/>
            <a:ext cx="9144000" cy="1388690"/>
            <a:chOff x="8230" y="1814144"/>
            <a:chExt cx="9144000" cy="1388690"/>
          </a:xfrm>
        </p:grpSpPr>
        <p:pic>
          <p:nvPicPr>
            <p:cNvPr descr="preencoded.png" id="146" name="Google Shape;146;p34"/>
            <p:cNvPicPr preferRelativeResize="0"/>
            <p:nvPr/>
          </p:nvPicPr>
          <p:blipFill rotWithShape="1">
            <a:blip r:embed="rId5">
              <a:alphaModFix/>
            </a:blip>
            <a:srcRect b="0" l="0" r="0" t="0"/>
            <a:stretch/>
          </p:blipFill>
          <p:spPr>
            <a:xfrm>
              <a:off x="3159127" y="1814144"/>
              <a:ext cx="2896175" cy="773078"/>
            </a:xfrm>
            <a:prstGeom prst="rect">
              <a:avLst/>
            </a:prstGeom>
            <a:noFill/>
            <a:ln>
              <a:noFill/>
            </a:ln>
          </p:spPr>
        </p:pic>
        <p:sp>
          <p:nvSpPr>
            <p:cNvPr id="147" name="Google Shape;147;p34"/>
            <p:cNvSpPr/>
            <p:nvPr/>
          </p:nvSpPr>
          <p:spPr>
            <a:xfrm>
              <a:off x="8230" y="2758234"/>
              <a:ext cx="9144000" cy="444600"/>
            </a:xfrm>
            <a:prstGeom prst="rect">
              <a:avLst/>
            </a:prstGeom>
            <a:noFill/>
            <a:ln>
              <a:noFill/>
            </a:ln>
          </p:spPr>
          <p:txBody>
            <a:bodyPr anchorCtr="0" anchor="t" bIns="0" lIns="0" spcFirstLastPara="1" rIns="0" wrap="square" tIns="0">
              <a:noAutofit/>
            </a:bodyPr>
            <a:lstStyle/>
            <a:p>
              <a:pPr indent="0" lvl="0" marL="0" marR="0" rtl="0" algn="ctr">
                <a:lnSpc>
                  <a:spcPct val="120833"/>
                </a:lnSpc>
                <a:spcBef>
                  <a:spcPts val="0"/>
                </a:spcBef>
                <a:spcAft>
                  <a:spcPts val="0"/>
                </a:spcAft>
                <a:buClr>
                  <a:srgbClr val="000000"/>
                </a:buClr>
                <a:buSzPts val="1400"/>
                <a:buFont typeface="Arial"/>
                <a:buNone/>
              </a:pPr>
              <a:r>
                <a:rPr b="1" i="0" lang="en" sz="1400" u="none" cap="none" strike="noStrike">
                  <a:solidFill>
                    <a:srgbClr val="FFFFFF"/>
                  </a:solidFill>
                  <a:latin typeface="Inter"/>
                  <a:ea typeface="Inter"/>
                  <a:cs typeface="Inter"/>
                  <a:sym typeface="Inter"/>
                </a:rPr>
                <a:t>AnyMind Credential Deck</a:t>
              </a:r>
              <a:endParaRPr b="0" i="0" sz="1400" u="none" cap="none" strike="noStrike">
                <a:solidFill>
                  <a:srgbClr val="000000"/>
                </a:solidFill>
                <a:latin typeface="Calibri"/>
                <a:ea typeface="Calibri"/>
                <a:cs typeface="Calibri"/>
                <a:sym typeface="Calibri"/>
              </a:endParaRPr>
            </a:p>
          </p:txBody>
        </p:sp>
      </p:grpSp>
      <p:sp>
        <p:nvSpPr>
          <p:cNvPr id="148" name="Google Shape;148;p34"/>
          <p:cNvSpPr txBox="1"/>
          <p:nvPr/>
        </p:nvSpPr>
        <p:spPr>
          <a:xfrm>
            <a:off x="182878" y="4936977"/>
            <a:ext cx="1578300" cy="91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FFFFFF"/>
                </a:solidFill>
                <a:latin typeface="Arial"/>
                <a:ea typeface="Arial"/>
                <a:cs typeface="Arial"/>
                <a:sym typeface="Arial"/>
              </a:rPr>
              <a:t>© AnyMind Group. All Rights Reserved.</a:t>
            </a:r>
            <a:endParaRPr b="0" i="0" sz="700" u="none" cap="none" strike="noStrike">
              <a:solidFill>
                <a:srgbClr val="FFFFFF"/>
              </a:solidFill>
              <a:latin typeface="Arial"/>
              <a:ea typeface="Arial"/>
              <a:cs typeface="Arial"/>
              <a:sym typeface="Arial"/>
            </a:endParaRPr>
          </a:p>
        </p:txBody>
      </p:sp>
      <p:sp>
        <p:nvSpPr>
          <p:cNvPr id="149" name="Google Shape;149;p34"/>
          <p:cNvSpPr txBox="1"/>
          <p:nvPr/>
        </p:nvSpPr>
        <p:spPr>
          <a:xfrm>
            <a:off x="8676350" y="4891227"/>
            <a:ext cx="342900" cy="1830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FFFFFF"/>
                </a:solidFill>
                <a:latin typeface="Inter SemiBold"/>
                <a:ea typeface="Inter SemiBold"/>
                <a:cs typeface="Inter SemiBold"/>
                <a:sym typeface="Inter SemiBold"/>
              </a:rPr>
              <a:t>‹#›</a:t>
            </a:fld>
            <a:endParaRPr b="0" i="0" sz="800" u="none" cap="none" strike="noStrike">
              <a:solidFill>
                <a:srgbClr val="FFFFFF"/>
              </a:solidFill>
              <a:latin typeface="Inter SemiBold"/>
              <a:ea typeface="Inter SemiBold"/>
              <a:cs typeface="Inter SemiBold"/>
              <a:sym typeface="Inter SemiBold"/>
            </a:endParaRPr>
          </a:p>
        </p:txBody>
      </p:sp>
      <p:sp>
        <p:nvSpPr>
          <p:cNvPr id="150" name="Google Shape;150;p34"/>
          <p:cNvSpPr/>
          <p:nvPr/>
        </p:nvSpPr>
        <p:spPr>
          <a:xfrm>
            <a:off x="7983850" y="4891227"/>
            <a:ext cx="743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Inter"/>
                <a:ea typeface="Inter"/>
                <a:cs typeface="Inter"/>
                <a:sym typeface="Inter"/>
              </a:rPr>
              <a:t>CONFIDENTIAL</a:t>
            </a:r>
            <a:endParaRPr b="0" i="0" sz="700" u="none" cap="none" strike="noStrike">
              <a:solidFill>
                <a:srgbClr val="FFFFFF"/>
              </a:solidFill>
              <a:latin typeface="Calibri"/>
              <a:ea typeface="Calibri"/>
              <a:cs typeface="Calibri"/>
              <a:sym typeface="Calibri"/>
            </a:endParaRPr>
          </a:p>
        </p:txBody>
      </p:sp>
      <p:pic>
        <p:nvPicPr>
          <p:cNvPr id="151" name="Google Shape;151;p34"/>
          <p:cNvPicPr preferRelativeResize="0"/>
          <p:nvPr/>
        </p:nvPicPr>
        <p:blipFill rotWithShape="1">
          <a:blip r:embed="rId6">
            <a:alphaModFix/>
          </a:blip>
          <a:srcRect b="0" l="1040" r="-1040" t="0"/>
          <a:stretch/>
        </p:blipFill>
        <p:spPr>
          <a:xfrm>
            <a:off x="-7100" y="-73975"/>
            <a:ext cx="9310126" cy="5217474"/>
          </a:xfrm>
          <a:prstGeom prst="rect">
            <a:avLst/>
          </a:prstGeom>
          <a:noFill/>
          <a:ln>
            <a:noFill/>
          </a:ln>
        </p:spPr>
      </p:pic>
      <p:sp>
        <p:nvSpPr>
          <p:cNvPr id="152" name="Google Shape;152;p34"/>
          <p:cNvSpPr/>
          <p:nvPr/>
        </p:nvSpPr>
        <p:spPr>
          <a:xfrm>
            <a:off x="1205875" y="4800550"/>
            <a:ext cx="1994400" cy="183000"/>
          </a:xfrm>
          <a:prstGeom prst="rect">
            <a:avLst/>
          </a:prstGeom>
          <a:noFill/>
          <a:ln>
            <a:noFill/>
          </a:ln>
        </p:spPr>
        <p:txBody>
          <a:bodyPr anchorCtr="0" anchor="ctr" bIns="0" lIns="0" spcFirstLastPara="1" rIns="0" wrap="square" tIns="0">
            <a:noAutofit/>
          </a:bodyPr>
          <a:lstStyle/>
          <a:p>
            <a:pPr indent="0" lvl="0" marL="0" marR="0" rtl="0" algn="l">
              <a:lnSpc>
                <a:spcPct val="118181"/>
              </a:lnSpc>
              <a:spcBef>
                <a:spcPts val="0"/>
              </a:spcBef>
              <a:spcAft>
                <a:spcPts val="0"/>
              </a:spcAft>
              <a:buClr>
                <a:srgbClr val="000000"/>
              </a:buClr>
              <a:buSzPts val="700"/>
              <a:buFont typeface="Arial"/>
              <a:buNone/>
            </a:pPr>
            <a:r>
              <a:rPr b="0" i="0" lang="en" sz="700" u="none" cap="none" strike="noStrike">
                <a:solidFill>
                  <a:srgbClr val="FFFFFF"/>
                </a:solidFill>
                <a:latin typeface="Inter"/>
                <a:ea typeface="Inter"/>
                <a:cs typeface="Inter"/>
                <a:sym typeface="Inter"/>
              </a:rPr>
              <a:t>© AnyMind Group. All Rights Reserved.</a:t>
            </a:r>
            <a:endParaRPr b="0" i="0" sz="700" u="none" cap="none" strike="noStrike">
              <a:solidFill>
                <a:srgbClr val="FFFFFF"/>
              </a:solidFill>
              <a:latin typeface="Calibri"/>
              <a:ea typeface="Calibri"/>
              <a:cs typeface="Calibri"/>
              <a:sym typeface="Calibri"/>
            </a:endParaRPr>
          </a:p>
        </p:txBody>
      </p:sp>
      <p:pic>
        <p:nvPicPr>
          <p:cNvPr descr="preencoded.png" id="153" name="Google Shape;153;p34"/>
          <p:cNvPicPr preferRelativeResize="0"/>
          <p:nvPr/>
        </p:nvPicPr>
        <p:blipFill rotWithShape="1">
          <a:blip r:embed="rId7">
            <a:alphaModFix/>
          </a:blip>
          <a:srcRect b="0" l="0" r="0" t="0"/>
          <a:stretch/>
        </p:blipFill>
        <p:spPr>
          <a:xfrm>
            <a:off x="222885" y="4777740"/>
            <a:ext cx="880110" cy="228600"/>
          </a:xfrm>
          <a:prstGeom prst="rect">
            <a:avLst/>
          </a:prstGeom>
          <a:noFill/>
          <a:ln>
            <a:noFill/>
          </a:ln>
        </p:spPr>
      </p:pic>
      <p:sp>
        <p:nvSpPr>
          <p:cNvPr id="154" name="Google Shape;154;p34"/>
          <p:cNvSpPr/>
          <p:nvPr/>
        </p:nvSpPr>
        <p:spPr>
          <a:xfrm>
            <a:off x="7983850" y="4800540"/>
            <a:ext cx="743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Inter"/>
                <a:ea typeface="Inter"/>
                <a:cs typeface="Inter"/>
                <a:sym typeface="Inter"/>
              </a:rPr>
              <a:t>CONFIDENTIAL</a:t>
            </a:r>
            <a:endParaRPr b="0" i="0" sz="700" u="none" cap="none" strike="noStrike">
              <a:solidFill>
                <a:srgbClr val="000000"/>
              </a:solidFill>
              <a:latin typeface="Calibri"/>
              <a:ea typeface="Calibri"/>
              <a:cs typeface="Calibri"/>
              <a:sym typeface="Calibri"/>
            </a:endParaRPr>
          </a:p>
        </p:txBody>
      </p:sp>
      <p:sp>
        <p:nvSpPr>
          <p:cNvPr id="155" name="Google Shape;155;p34"/>
          <p:cNvSpPr txBox="1"/>
          <p:nvPr/>
        </p:nvSpPr>
        <p:spPr>
          <a:xfrm>
            <a:off x="8676350" y="4800550"/>
            <a:ext cx="342900" cy="1830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FFFFFF"/>
                </a:solidFill>
                <a:latin typeface="Inter SemiBold"/>
                <a:ea typeface="Inter SemiBold"/>
                <a:cs typeface="Inter SemiBold"/>
                <a:sym typeface="Inter SemiBold"/>
              </a:rPr>
              <a:t>‹#›</a:t>
            </a:fld>
            <a:endParaRPr b="0" i="0" sz="800" u="none" cap="none" strike="noStrike">
              <a:solidFill>
                <a:srgbClr val="FFFFFF"/>
              </a:solidFill>
              <a:latin typeface="Inter SemiBold"/>
              <a:ea typeface="Inter SemiBold"/>
              <a:cs typeface="Inter SemiBold"/>
              <a:sym typeface="Inter SemiBold"/>
            </a:endParaRPr>
          </a:p>
        </p:txBody>
      </p:sp>
      <p:sp>
        <p:nvSpPr>
          <p:cNvPr id="156" name="Google Shape;156;p34"/>
          <p:cNvSpPr/>
          <p:nvPr/>
        </p:nvSpPr>
        <p:spPr>
          <a:xfrm>
            <a:off x="2275200" y="1377375"/>
            <a:ext cx="4963200" cy="218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323850" lvl="0" marL="457200" marR="0" rtl="0" algn="l">
              <a:lnSpc>
                <a:spcPct val="150000"/>
              </a:lnSpc>
              <a:spcBef>
                <a:spcPts val="0"/>
              </a:spcBef>
              <a:spcAft>
                <a:spcPts val="0"/>
              </a:spcAft>
              <a:buClr>
                <a:srgbClr val="3880C1"/>
              </a:buClr>
              <a:buSzPts val="1500"/>
              <a:buFont typeface="Inter"/>
              <a:buAutoNum type="arabicPeriod"/>
            </a:pPr>
            <a:r>
              <a:rPr b="1" i="0" lang="en" sz="1500" u="none" cap="none" strike="noStrike">
                <a:solidFill>
                  <a:srgbClr val="3880C1"/>
                </a:solidFill>
                <a:latin typeface="Inter"/>
                <a:ea typeface="Inter"/>
                <a:cs typeface="Inter"/>
                <a:sym typeface="Inter"/>
              </a:rPr>
              <a:t>Sell In &amp; B2C Performance</a:t>
            </a:r>
            <a:endParaRPr b="1" i="0" sz="1500" u="none" cap="none" strike="noStrike">
              <a:solidFill>
                <a:srgbClr val="3880C1"/>
              </a:solidFill>
              <a:latin typeface="Inter"/>
              <a:ea typeface="Inter"/>
              <a:cs typeface="Inter"/>
              <a:sym typeface="Inter"/>
            </a:endParaRPr>
          </a:p>
          <a:p>
            <a:pPr indent="-323850" lvl="0" marL="457200" marR="0" rtl="0" algn="l">
              <a:lnSpc>
                <a:spcPct val="150000"/>
              </a:lnSpc>
              <a:spcBef>
                <a:spcPts val="0"/>
              </a:spcBef>
              <a:spcAft>
                <a:spcPts val="0"/>
              </a:spcAft>
              <a:buClr>
                <a:srgbClr val="CCCCCC"/>
              </a:buClr>
              <a:buSzPts val="1500"/>
              <a:buFont typeface="Inter"/>
              <a:buAutoNum type="arabicPeriod"/>
            </a:pPr>
            <a:r>
              <a:rPr b="1" i="0" lang="en" sz="1500" u="none" cap="none" strike="noStrike">
                <a:solidFill>
                  <a:srgbClr val="CCCCCC"/>
                </a:solidFill>
                <a:latin typeface="Inter"/>
                <a:ea typeface="Inter"/>
                <a:cs typeface="Inter"/>
                <a:sym typeface="Inter"/>
              </a:rPr>
              <a:t>B2C Marketing Activations</a:t>
            </a:r>
            <a:endParaRPr b="1" i="0" sz="1500" u="none" cap="none" strike="noStrike">
              <a:solidFill>
                <a:srgbClr val="CCCCCC"/>
              </a:solidFill>
              <a:latin typeface="Inter"/>
              <a:ea typeface="Inter"/>
              <a:cs typeface="Inter"/>
              <a:sym typeface="Inter"/>
            </a:endParaRPr>
          </a:p>
          <a:p>
            <a:pPr indent="-323850" lvl="0" marL="457200" marR="0" rtl="0" algn="l">
              <a:lnSpc>
                <a:spcPct val="150000"/>
              </a:lnSpc>
              <a:spcBef>
                <a:spcPts val="0"/>
              </a:spcBef>
              <a:spcAft>
                <a:spcPts val="0"/>
              </a:spcAft>
              <a:buClr>
                <a:srgbClr val="CCCCCC"/>
              </a:buClr>
              <a:buSzPts val="1500"/>
              <a:buFont typeface="Inter"/>
              <a:buAutoNum type="arabicPeriod"/>
            </a:pPr>
            <a:r>
              <a:rPr b="1" i="0" lang="en" sz="1500" u="none" cap="none" strike="noStrike">
                <a:solidFill>
                  <a:srgbClr val="CCCCCC"/>
                </a:solidFill>
                <a:latin typeface="Inter"/>
                <a:ea typeface="Inter"/>
                <a:cs typeface="Inter"/>
                <a:sym typeface="Inter"/>
              </a:rPr>
              <a:t>B2B Performance</a:t>
            </a:r>
            <a:endParaRPr b="1" i="0" sz="1500" u="none" cap="none" strike="noStrike">
              <a:solidFill>
                <a:srgbClr val="CCCCCC"/>
              </a:solidFill>
              <a:latin typeface="Inter"/>
              <a:ea typeface="Inter"/>
              <a:cs typeface="Inter"/>
              <a:sym typeface="Inter"/>
            </a:endParaRPr>
          </a:p>
          <a:p>
            <a:pPr indent="-323850" lvl="0" marL="457200" marR="0" rtl="0" algn="l">
              <a:lnSpc>
                <a:spcPct val="150000"/>
              </a:lnSpc>
              <a:spcBef>
                <a:spcPts val="0"/>
              </a:spcBef>
              <a:spcAft>
                <a:spcPts val="0"/>
              </a:spcAft>
              <a:buClr>
                <a:srgbClr val="CCCCCC"/>
              </a:buClr>
              <a:buSzPts val="1500"/>
              <a:buFont typeface="Inter"/>
              <a:buAutoNum type="arabicPeriod"/>
            </a:pPr>
            <a:r>
              <a:rPr b="1" i="0" lang="en" sz="1500" u="none" cap="none" strike="noStrike">
                <a:solidFill>
                  <a:srgbClr val="CCCCCC"/>
                </a:solidFill>
                <a:latin typeface="Inter"/>
                <a:ea typeface="Inter"/>
                <a:cs typeface="Inter"/>
                <a:sym typeface="Inter"/>
              </a:rPr>
              <a:t>Key Learnings and Initiatives for </a:t>
            </a:r>
            <a:r>
              <a:rPr b="1" lang="en" sz="1500">
                <a:solidFill>
                  <a:srgbClr val="CCCCCC"/>
                </a:solidFill>
                <a:latin typeface="Inter"/>
                <a:ea typeface="Inter"/>
                <a:cs typeface="Inter"/>
                <a:sym typeface="Inter"/>
              </a:rPr>
              <a:t>September</a:t>
            </a:r>
            <a:endParaRPr b="1" i="0" sz="1500" u="none" cap="none" strike="noStrike">
              <a:solidFill>
                <a:srgbClr val="CCCCCC"/>
              </a:solidFill>
              <a:latin typeface="Inter"/>
              <a:ea typeface="Inter"/>
              <a:cs typeface="Inter"/>
              <a:sym typeface="Inter"/>
            </a:endParaRPr>
          </a:p>
        </p:txBody>
      </p:sp>
      <p:sp>
        <p:nvSpPr>
          <p:cNvPr id="157" name="Google Shape;157;p34"/>
          <p:cNvSpPr txBox="1"/>
          <p:nvPr/>
        </p:nvSpPr>
        <p:spPr>
          <a:xfrm>
            <a:off x="348875" y="301725"/>
            <a:ext cx="1806900" cy="531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4500"/>
              <a:buFont typeface="Arial"/>
              <a:buNone/>
            </a:pPr>
            <a:r>
              <a:rPr b="1" i="0" lang="en" sz="3000" u="none" cap="none" strike="noStrike">
                <a:solidFill>
                  <a:schemeClr val="lt1"/>
                </a:solidFill>
                <a:latin typeface="Inter"/>
                <a:ea typeface="Inter"/>
                <a:cs typeface="Inter"/>
                <a:sym typeface="Inter"/>
              </a:rPr>
              <a:t>Agenda</a:t>
            </a:r>
            <a:endParaRPr b="1" i="0" sz="3000" u="none" cap="none" strike="noStrike">
              <a:solidFill>
                <a:schemeClr val="lt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5"/>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sp>
        <p:nvSpPr>
          <p:cNvPr id="163" name="Google Shape;163;p35"/>
          <p:cNvSpPr txBox="1"/>
          <p:nvPr>
            <p:ph type="ctrTitle"/>
          </p:nvPr>
        </p:nvSpPr>
        <p:spPr>
          <a:xfrm>
            <a:off x="174550" y="131975"/>
            <a:ext cx="8655600" cy="695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Sell In Performance </a:t>
            </a:r>
            <a:endParaRPr b="1" sz="2310">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Sell In performance YTD August 2026</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rPr i="1" lang="en" sz="1200">
                <a:solidFill>
                  <a:srgbClr val="3880C1"/>
                </a:solidFill>
                <a:latin typeface="Inter"/>
                <a:ea typeface="Inter"/>
                <a:cs typeface="Inter"/>
                <a:sym typeface="Inter"/>
              </a:rPr>
              <a:t>SLA still below 95% due to Multi Warehouse PO not fully fulfilled and Scott’s Original OOS Issue</a:t>
            </a:r>
            <a:endParaRPr i="1" sz="1200">
              <a:solidFill>
                <a:srgbClr val="3880C1"/>
              </a:solidFill>
              <a:latin typeface="Inter"/>
              <a:ea typeface="Inter"/>
              <a:cs typeface="Inter"/>
              <a:sym typeface="Inter"/>
            </a:endParaRPr>
          </a:p>
        </p:txBody>
      </p:sp>
      <p:pic>
        <p:nvPicPr>
          <p:cNvPr id="164" name="Google Shape;164;p35"/>
          <p:cNvPicPr preferRelativeResize="0"/>
          <p:nvPr/>
        </p:nvPicPr>
        <p:blipFill rotWithShape="1">
          <a:blip r:embed="rId4">
            <a:alphaModFix/>
          </a:blip>
          <a:srcRect b="0" l="0" r="0" t="0"/>
          <a:stretch/>
        </p:blipFill>
        <p:spPr>
          <a:xfrm rot="10800000">
            <a:off x="-4151" y="0"/>
            <a:ext cx="9148151" cy="79825"/>
          </a:xfrm>
          <a:prstGeom prst="rect">
            <a:avLst/>
          </a:prstGeom>
          <a:noFill/>
          <a:ln>
            <a:noFill/>
          </a:ln>
        </p:spPr>
      </p:pic>
      <p:pic>
        <p:nvPicPr>
          <p:cNvPr id="165" name="Google Shape;165;p35"/>
          <p:cNvPicPr preferRelativeResize="0"/>
          <p:nvPr/>
        </p:nvPicPr>
        <p:blipFill rotWithShape="1">
          <a:blip r:embed="rId5">
            <a:alphaModFix/>
          </a:blip>
          <a:srcRect b="0" l="0" r="0" t="12564"/>
          <a:stretch/>
        </p:blipFill>
        <p:spPr>
          <a:xfrm>
            <a:off x="7406900" y="121550"/>
            <a:ext cx="634924" cy="451775"/>
          </a:xfrm>
          <a:prstGeom prst="rect">
            <a:avLst/>
          </a:prstGeom>
          <a:noFill/>
          <a:ln>
            <a:noFill/>
          </a:ln>
        </p:spPr>
      </p:pic>
      <p:sp>
        <p:nvSpPr>
          <p:cNvPr id="166" name="Google Shape;166;p35"/>
          <p:cNvSpPr txBox="1"/>
          <p:nvPr/>
        </p:nvSpPr>
        <p:spPr>
          <a:xfrm>
            <a:off x="277525" y="3124850"/>
            <a:ext cx="3692400" cy="22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Inter"/>
              <a:ea typeface="Inter"/>
              <a:cs typeface="Inter"/>
              <a:sym typeface="Inter"/>
            </a:endParaRPr>
          </a:p>
        </p:txBody>
      </p:sp>
      <p:sp>
        <p:nvSpPr>
          <p:cNvPr id="167" name="Google Shape;167;p35"/>
          <p:cNvSpPr/>
          <p:nvPr/>
        </p:nvSpPr>
        <p:spPr>
          <a:xfrm>
            <a:off x="3882925" y="3124850"/>
            <a:ext cx="4793400" cy="228600"/>
          </a:xfrm>
          <a:prstGeom prst="flowChartAlternateProcess">
            <a:avLst/>
          </a:prstGeom>
          <a:solidFill>
            <a:srgbClr val="3880C1"/>
          </a:solidFill>
          <a:ln cap="flat" cmpd="sng" w="6775">
            <a:solidFill>
              <a:srgbClr val="3880C1"/>
            </a:solidFill>
            <a:prstDash val="solid"/>
            <a:round/>
            <a:headEnd len="sm" w="sm" type="none"/>
            <a:tailEnd len="sm" w="sm" type="none"/>
          </a:ln>
        </p:spPr>
        <p:txBody>
          <a:bodyPr anchorCtr="0" anchor="ctr" bIns="65050" lIns="65050" spcFirstLastPara="1" rIns="65050" wrap="square" tIns="65050">
            <a:noAutofit/>
          </a:bodyPr>
          <a:lstStyle/>
          <a:p>
            <a:pPr indent="0" lvl="0" marL="0" marR="0" rtl="0" algn="ctr">
              <a:lnSpc>
                <a:spcPct val="100000"/>
              </a:lnSpc>
              <a:spcBef>
                <a:spcPts val="0"/>
              </a:spcBef>
              <a:spcAft>
                <a:spcPts val="0"/>
              </a:spcAft>
              <a:buClr>
                <a:srgbClr val="000000"/>
              </a:buClr>
              <a:buSzPts val="640"/>
              <a:buFont typeface="Arial"/>
              <a:buNone/>
            </a:pPr>
            <a:r>
              <a:rPr b="1" i="0" lang="en" sz="640" u="none" cap="none" strike="noStrike">
                <a:solidFill>
                  <a:schemeClr val="lt1"/>
                </a:solidFill>
                <a:latin typeface="Inter"/>
                <a:ea typeface="Inter"/>
                <a:cs typeface="Inter"/>
                <a:sym typeface="Inter"/>
              </a:rPr>
              <a:t>Key Highlights</a:t>
            </a:r>
            <a:endParaRPr b="1" i="0" sz="640" u="none" cap="none" strike="noStrike">
              <a:solidFill>
                <a:schemeClr val="lt1"/>
              </a:solidFill>
              <a:latin typeface="Inter"/>
              <a:ea typeface="Inter"/>
              <a:cs typeface="Inter"/>
              <a:sym typeface="Inter"/>
            </a:endParaRPr>
          </a:p>
        </p:txBody>
      </p:sp>
      <p:graphicFrame>
        <p:nvGraphicFramePr>
          <p:cNvPr id="168" name="Google Shape;168;p35"/>
          <p:cNvGraphicFramePr/>
          <p:nvPr/>
        </p:nvGraphicFramePr>
        <p:xfrm>
          <a:off x="277500" y="3124850"/>
          <a:ext cx="3000000" cy="3000000"/>
        </p:xfrm>
        <a:graphic>
          <a:graphicData uri="http://schemas.openxmlformats.org/drawingml/2006/table">
            <a:tbl>
              <a:tblPr>
                <a:noFill/>
                <a:tableStyleId>{05CF1300-53F3-430B-9C35-424554A46B0A}</a:tableStyleId>
              </a:tblPr>
              <a:tblGrid>
                <a:gridCol w="839300"/>
                <a:gridCol w="912275"/>
                <a:gridCol w="912275"/>
                <a:gridCol w="839300"/>
              </a:tblGrid>
              <a:tr h="244825">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Metrics</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PO</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GR</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SLA</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r>
              <a:tr h="2448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Waringin</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6,579,445,700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5,676,522,500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86%</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r>
              <a:tr h="2448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Surabaya</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2,143,447,700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1,304,331,800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61%</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r>
              <a:tr h="2448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Makassar</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1,122,936,200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195,163,700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17%</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r>
              <a:tr h="2448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Medan</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1,070,484,100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316,011,200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30%</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r>
              <a:tr h="2448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Total</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10,916,313,700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7,492,029,200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69%</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r>
            </a:tbl>
          </a:graphicData>
        </a:graphic>
      </p:graphicFrame>
      <p:graphicFrame>
        <p:nvGraphicFramePr>
          <p:cNvPr id="169" name="Google Shape;169;p35"/>
          <p:cNvGraphicFramePr/>
          <p:nvPr/>
        </p:nvGraphicFramePr>
        <p:xfrm>
          <a:off x="277488" y="975838"/>
          <a:ext cx="3000000" cy="3000000"/>
        </p:xfrm>
        <a:graphic>
          <a:graphicData uri="http://schemas.openxmlformats.org/drawingml/2006/table">
            <a:tbl>
              <a:tblPr>
                <a:noFill/>
                <a:tableStyleId>{05CF1300-53F3-430B-9C35-424554A46B0A}</a:tableStyleId>
              </a:tblPr>
              <a:tblGrid>
                <a:gridCol w="938675"/>
                <a:gridCol w="1020275"/>
                <a:gridCol w="1020275"/>
                <a:gridCol w="938675"/>
                <a:gridCol w="989650"/>
                <a:gridCol w="1020275"/>
              </a:tblGrid>
              <a:tr h="200025">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Metrics</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Q1</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Q2</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July</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August</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Total</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Open PO</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26,509,161,700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21,683,641,700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12,988,402,800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10,916,313,700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72,097,519,900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Actual Inbound</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21,427,538,900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16,409,380,000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9,468,502,400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7,492,029,200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54,797,450,500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SLA</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81%</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76%</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73%</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69%</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76%</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B2C JKT</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14,183,431,593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11,639,260,977</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2,994,365,000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3,991,532,800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32,808,590,370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B2C SBY</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1,816,993,410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3,797,758,551</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1,409,971,900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1,127,910,200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8,152,634,061</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B2C MKS</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131,599,491</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155,903,800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195,163,700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482,666,991</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B2C MDN</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146,653,644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232,313,200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316,011,200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694,978,044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B2B</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7,012,741,600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2,251,476,700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4,675,948,500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1,729,904,400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15,670,071,200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Achievement</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102%</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73%</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121%</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93%</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93%</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r>
            </a:tbl>
          </a:graphicData>
        </a:graphic>
      </p:graphicFrame>
      <p:graphicFrame>
        <p:nvGraphicFramePr>
          <p:cNvPr id="170" name="Google Shape;170;p35"/>
          <p:cNvGraphicFramePr/>
          <p:nvPr/>
        </p:nvGraphicFramePr>
        <p:xfrm>
          <a:off x="6333925" y="975863"/>
          <a:ext cx="3000000" cy="3000000"/>
        </p:xfrm>
        <a:graphic>
          <a:graphicData uri="http://schemas.openxmlformats.org/drawingml/2006/table">
            <a:tbl>
              <a:tblPr>
                <a:noFill/>
                <a:tableStyleId>{05CF1300-53F3-430B-9C35-424554A46B0A}</a:tableStyleId>
              </a:tblPr>
              <a:tblGrid>
                <a:gridCol w="1361800"/>
                <a:gridCol w="980750"/>
              </a:tblGrid>
              <a:tr h="262525">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Nama Product</a:t>
                      </a:r>
                      <a:endParaRPr b="1" sz="800">
                        <a:solidFill>
                          <a:srgbClr val="FFFFFF"/>
                        </a:solidFill>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Brand Low SLA</a:t>
                      </a:r>
                      <a:endParaRPr b="1" sz="800">
                        <a:solidFill>
                          <a:srgbClr val="FFFFFF"/>
                        </a:solidFill>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r>
              <a:tr h="425050">
                <a:tc>
                  <a:txBody>
                    <a:bodyPr/>
                    <a:lstStyle/>
                    <a:p>
                      <a:pPr indent="0" lvl="0" marL="0" rtl="0" algn="l">
                        <a:lnSpc>
                          <a:spcPct val="115000"/>
                        </a:lnSpc>
                        <a:spcBef>
                          <a:spcPts val="0"/>
                        </a:spcBef>
                        <a:spcAft>
                          <a:spcPts val="0"/>
                        </a:spcAft>
                        <a:buNone/>
                      </a:pPr>
                      <a:r>
                        <a:rPr lang="en" sz="800">
                          <a:latin typeface="Inter"/>
                          <a:ea typeface="Inter"/>
                          <a:cs typeface="Inter"/>
                          <a:sym typeface="Inter"/>
                        </a:rPr>
                        <a:t>Sens TB R&amp;P Extra soft 2s</a:t>
                      </a:r>
                      <a:endParaRPr sz="8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56%</a:t>
                      </a:r>
                      <a:endParaRPr sz="8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62525">
                <a:tc>
                  <a:txBody>
                    <a:bodyPr/>
                    <a:lstStyle/>
                    <a:p>
                      <a:pPr indent="0" lvl="0" marL="0" rtl="0" algn="l">
                        <a:lnSpc>
                          <a:spcPct val="115000"/>
                        </a:lnSpc>
                        <a:spcBef>
                          <a:spcPts val="0"/>
                        </a:spcBef>
                        <a:spcAft>
                          <a:spcPts val="0"/>
                        </a:spcAft>
                        <a:buNone/>
                      </a:pPr>
                      <a:r>
                        <a:rPr lang="en" sz="800">
                          <a:latin typeface="Inter"/>
                          <a:ea typeface="Inter"/>
                          <a:cs typeface="Inter"/>
                          <a:sym typeface="Inter"/>
                        </a:rPr>
                        <a:t>Scott's Jeruk 200ml</a:t>
                      </a:r>
                      <a:endParaRPr sz="8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69%</a:t>
                      </a:r>
                      <a:endParaRPr sz="8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62525">
                <a:tc>
                  <a:txBody>
                    <a:bodyPr/>
                    <a:lstStyle/>
                    <a:p>
                      <a:pPr indent="0" lvl="0" marL="0" rtl="0" algn="l">
                        <a:lnSpc>
                          <a:spcPct val="115000"/>
                        </a:lnSpc>
                        <a:spcBef>
                          <a:spcPts val="0"/>
                        </a:spcBef>
                        <a:spcAft>
                          <a:spcPts val="0"/>
                        </a:spcAft>
                        <a:buNone/>
                      </a:pPr>
                      <a:r>
                        <a:rPr lang="en" sz="800">
                          <a:latin typeface="Inter"/>
                          <a:ea typeface="Inter"/>
                          <a:cs typeface="Inter"/>
                          <a:sym typeface="Inter"/>
                        </a:rPr>
                        <a:t>Scott's Jeruk 400ml</a:t>
                      </a:r>
                      <a:endParaRPr sz="8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60%</a:t>
                      </a:r>
                      <a:endParaRPr sz="8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62525">
                <a:tc>
                  <a:txBody>
                    <a:bodyPr/>
                    <a:lstStyle/>
                    <a:p>
                      <a:pPr indent="0" lvl="0" marL="0" rtl="0" algn="l">
                        <a:lnSpc>
                          <a:spcPct val="115000"/>
                        </a:lnSpc>
                        <a:spcBef>
                          <a:spcPts val="0"/>
                        </a:spcBef>
                        <a:spcAft>
                          <a:spcPts val="0"/>
                        </a:spcAft>
                        <a:buNone/>
                      </a:pPr>
                      <a:r>
                        <a:rPr lang="en" sz="800">
                          <a:latin typeface="Inter"/>
                          <a:ea typeface="Inter"/>
                          <a:cs typeface="Inter"/>
                          <a:sym typeface="Inter"/>
                        </a:rPr>
                        <a:t>Scott's Original 400ml</a:t>
                      </a:r>
                      <a:endParaRPr sz="8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20%</a:t>
                      </a:r>
                      <a:endParaRPr sz="8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62525">
                <a:tc>
                  <a:txBody>
                    <a:bodyPr/>
                    <a:lstStyle/>
                    <a:p>
                      <a:pPr indent="0" lvl="0" marL="0" rtl="0" algn="l">
                        <a:lnSpc>
                          <a:spcPct val="115000"/>
                        </a:lnSpc>
                        <a:spcBef>
                          <a:spcPts val="0"/>
                        </a:spcBef>
                        <a:spcAft>
                          <a:spcPts val="0"/>
                        </a:spcAft>
                        <a:buNone/>
                      </a:pPr>
                      <a:r>
                        <a:rPr lang="en" sz="800">
                          <a:latin typeface="Inter"/>
                          <a:ea typeface="Inter"/>
                          <a:cs typeface="Inter"/>
                          <a:sym typeface="Inter"/>
                        </a:rPr>
                        <a:t>Polident Fresh Mint 20g</a:t>
                      </a:r>
                      <a:endParaRPr sz="8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68%</a:t>
                      </a:r>
                      <a:endParaRPr sz="8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62525">
                <a:tc>
                  <a:txBody>
                    <a:bodyPr/>
                    <a:lstStyle/>
                    <a:p>
                      <a:pPr indent="0" lvl="0" marL="0" rtl="0" algn="l">
                        <a:lnSpc>
                          <a:spcPct val="115000"/>
                        </a:lnSpc>
                        <a:spcBef>
                          <a:spcPts val="0"/>
                        </a:spcBef>
                        <a:spcAft>
                          <a:spcPts val="0"/>
                        </a:spcAft>
                        <a:buNone/>
                      </a:pPr>
                      <a:r>
                        <a:rPr lang="en" sz="800">
                          <a:latin typeface="Inter"/>
                          <a:ea typeface="Inter"/>
                          <a:cs typeface="Inter"/>
                          <a:sym typeface="Inter"/>
                        </a:rPr>
                        <a:t>Polident Fresh Mint 60g</a:t>
                      </a:r>
                      <a:endParaRPr sz="8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64%</a:t>
                      </a:r>
                      <a:endParaRPr sz="8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bl>
          </a:graphicData>
        </a:graphic>
      </p:graphicFrame>
      <p:sp>
        <p:nvSpPr>
          <p:cNvPr id="171" name="Google Shape;171;p35"/>
          <p:cNvSpPr txBox="1"/>
          <p:nvPr/>
        </p:nvSpPr>
        <p:spPr>
          <a:xfrm>
            <a:off x="3882925" y="3391300"/>
            <a:ext cx="4793400" cy="1202400"/>
          </a:xfrm>
          <a:prstGeom prst="rect">
            <a:avLst/>
          </a:prstGeom>
          <a:noFill/>
          <a:ln>
            <a:noFill/>
          </a:ln>
        </p:spPr>
        <p:txBody>
          <a:bodyPr anchorCtr="0" anchor="t" bIns="65050" lIns="65050" spcFirstLastPara="1" rIns="65050" wrap="square" tIns="65050">
            <a:noAutofit/>
          </a:bodyPr>
          <a:lstStyle/>
          <a:p>
            <a:pPr indent="-292100" lvl="0" marL="457200" rtl="0" algn="l">
              <a:lnSpc>
                <a:spcPct val="115000"/>
              </a:lnSpc>
              <a:spcBef>
                <a:spcPts val="1000"/>
              </a:spcBef>
              <a:spcAft>
                <a:spcPts val="0"/>
              </a:spcAft>
              <a:buClr>
                <a:schemeClr val="dk2"/>
              </a:buClr>
              <a:buSzPts val="1000"/>
              <a:buFont typeface="Inter"/>
              <a:buChar char="●"/>
            </a:pPr>
            <a:r>
              <a:rPr lang="en" sz="1000">
                <a:solidFill>
                  <a:schemeClr val="dk2"/>
                </a:solidFill>
                <a:latin typeface="Inter"/>
                <a:ea typeface="Inter"/>
                <a:cs typeface="Inter"/>
                <a:sym typeface="Inter"/>
              </a:rPr>
              <a:t>Scott's Original OOS contributed to the lower SLA in August, along with unfulfilled POs at multiple warehouses such as Medan and Makassar, which further lowered the SLA. Medan and Makassar are currently growing by</a:t>
            </a:r>
            <a:r>
              <a:rPr b="1" lang="en" sz="1000">
                <a:solidFill>
                  <a:schemeClr val="dk2"/>
                </a:solidFill>
                <a:latin typeface="Inter"/>
                <a:ea typeface="Inter"/>
                <a:cs typeface="Inter"/>
                <a:sym typeface="Inter"/>
              </a:rPr>
              <a:t> 4%</a:t>
            </a:r>
            <a:r>
              <a:rPr lang="en" sz="1000">
                <a:solidFill>
                  <a:schemeClr val="dk2"/>
                </a:solidFill>
                <a:latin typeface="Inter"/>
                <a:ea typeface="Inter"/>
                <a:cs typeface="Inter"/>
                <a:sym typeface="Inter"/>
              </a:rPr>
              <a:t> and </a:t>
            </a:r>
            <a:r>
              <a:rPr b="1" lang="en" sz="1000">
                <a:solidFill>
                  <a:schemeClr val="dk2"/>
                </a:solidFill>
                <a:latin typeface="Inter"/>
                <a:ea typeface="Inter"/>
                <a:cs typeface="Inter"/>
                <a:sym typeface="Inter"/>
              </a:rPr>
              <a:t>3%</a:t>
            </a:r>
            <a:r>
              <a:rPr lang="en" sz="1000">
                <a:solidFill>
                  <a:schemeClr val="dk2"/>
                </a:solidFill>
                <a:latin typeface="Inter"/>
                <a:ea typeface="Inter"/>
                <a:cs typeface="Inter"/>
                <a:sym typeface="Inter"/>
              </a:rPr>
              <a:t> respectively in August.</a:t>
            </a:r>
            <a:endParaRPr sz="1000">
              <a:solidFill>
                <a:schemeClr val="dk2"/>
              </a:solidFill>
              <a:latin typeface="Inter"/>
              <a:ea typeface="Inter"/>
              <a:cs typeface="Inter"/>
              <a:sym typeface="Inter"/>
            </a:endParaRPr>
          </a:p>
          <a:p>
            <a:pPr indent="-292100" lvl="0" marL="457200" rtl="0" algn="l">
              <a:lnSpc>
                <a:spcPct val="115000"/>
              </a:lnSpc>
              <a:spcBef>
                <a:spcPts val="1000"/>
              </a:spcBef>
              <a:spcAft>
                <a:spcPts val="1000"/>
              </a:spcAft>
              <a:buClr>
                <a:schemeClr val="dk2"/>
              </a:buClr>
              <a:buSzPts val="1000"/>
              <a:buFont typeface="Inter"/>
              <a:buChar char="●"/>
            </a:pPr>
            <a:r>
              <a:rPr lang="en" sz="1000">
                <a:solidFill>
                  <a:schemeClr val="dk2"/>
                </a:solidFill>
                <a:latin typeface="Inter"/>
                <a:ea typeface="Inter"/>
                <a:cs typeface="Inter"/>
                <a:sym typeface="Inter"/>
              </a:rPr>
              <a:t>Most SLA that are lower than </a:t>
            </a:r>
            <a:r>
              <a:rPr b="1" lang="en" sz="1000">
                <a:solidFill>
                  <a:schemeClr val="dk2"/>
                </a:solidFill>
                <a:latin typeface="Inter"/>
                <a:ea typeface="Inter"/>
                <a:cs typeface="Inter"/>
                <a:sym typeface="Inter"/>
              </a:rPr>
              <a:t>70% </a:t>
            </a:r>
            <a:r>
              <a:rPr lang="en" sz="1000">
                <a:solidFill>
                  <a:schemeClr val="dk2"/>
                </a:solidFill>
                <a:latin typeface="Inter"/>
                <a:ea typeface="Inter"/>
                <a:cs typeface="Inter"/>
                <a:sym typeface="Inter"/>
              </a:rPr>
              <a:t>are coming from Scott’s and Polident which from unfulfilled PO’S from MWH with Sensodyne TB are the only SKU that are lower from SLA wise coming from B2B side</a:t>
            </a:r>
            <a:endParaRPr sz="712">
              <a:solidFill>
                <a:schemeClr val="dk2"/>
              </a:solidFill>
              <a:latin typeface="Inter"/>
              <a:ea typeface="Inter"/>
              <a:cs typeface="Inter"/>
              <a:sym typeface="Inter"/>
            </a:endParaRPr>
          </a:p>
        </p:txBody>
      </p:sp>
      <p:sp>
        <p:nvSpPr>
          <p:cNvPr id="172" name="Google Shape;172;p35"/>
          <p:cNvSpPr/>
          <p:nvPr/>
        </p:nvSpPr>
        <p:spPr>
          <a:xfrm>
            <a:off x="277500" y="3859325"/>
            <a:ext cx="3503100" cy="489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5"/>
          <p:cNvSpPr/>
          <p:nvPr/>
        </p:nvSpPr>
        <p:spPr>
          <a:xfrm>
            <a:off x="4195400" y="1175875"/>
            <a:ext cx="989700" cy="1800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6"/>
          <p:cNvSpPr txBox="1"/>
          <p:nvPr/>
        </p:nvSpPr>
        <p:spPr>
          <a:xfrm>
            <a:off x="5719200" y="1399875"/>
            <a:ext cx="3424800" cy="3295500"/>
          </a:xfrm>
          <a:prstGeom prst="rect">
            <a:avLst/>
          </a:prstGeom>
          <a:noFill/>
          <a:ln>
            <a:noFill/>
          </a:ln>
        </p:spPr>
        <p:txBody>
          <a:bodyPr anchorCtr="0" anchor="t" bIns="91425" lIns="91425" spcFirstLastPara="1" rIns="91425" wrap="square" tIns="91425">
            <a:noAutofit/>
          </a:bodyPr>
          <a:lstStyle/>
          <a:p>
            <a:pPr indent="-292100" lvl="0" marL="457200" marR="0" rtl="0" algn="l">
              <a:lnSpc>
                <a:spcPct val="115000"/>
              </a:lnSpc>
              <a:spcBef>
                <a:spcPts val="1000"/>
              </a:spcBef>
              <a:spcAft>
                <a:spcPts val="0"/>
              </a:spcAft>
              <a:buClr>
                <a:schemeClr val="dk2"/>
              </a:buClr>
              <a:buSzPts val="1000"/>
              <a:buFont typeface="Inter"/>
              <a:buChar char="●"/>
            </a:pPr>
            <a:r>
              <a:rPr lang="en" sz="1000">
                <a:solidFill>
                  <a:schemeClr val="dk2"/>
                </a:solidFill>
                <a:latin typeface="Inter"/>
                <a:ea typeface="Inter"/>
                <a:cs typeface="Inter"/>
                <a:sym typeface="Inter"/>
              </a:rPr>
              <a:t>All channels achieved </a:t>
            </a:r>
            <a:r>
              <a:rPr b="1" lang="en" sz="1000">
                <a:solidFill>
                  <a:schemeClr val="dk2"/>
                </a:solidFill>
                <a:latin typeface="Inter"/>
                <a:ea typeface="Inter"/>
                <a:cs typeface="Inter"/>
                <a:sym typeface="Inter"/>
              </a:rPr>
              <a:t>96%</a:t>
            </a:r>
            <a:r>
              <a:rPr lang="en" sz="1000">
                <a:solidFill>
                  <a:schemeClr val="dk2"/>
                </a:solidFill>
                <a:latin typeface="Inter"/>
                <a:ea typeface="Inter"/>
                <a:cs typeface="Inter"/>
                <a:sym typeface="Inter"/>
              </a:rPr>
              <a:t> of total target, leaving a </a:t>
            </a:r>
            <a:r>
              <a:rPr b="1" lang="en" sz="1000">
                <a:solidFill>
                  <a:schemeClr val="dk2"/>
                </a:solidFill>
                <a:latin typeface="Inter"/>
                <a:ea typeface="Inter"/>
                <a:cs typeface="Inter"/>
                <a:sym typeface="Inter"/>
              </a:rPr>
              <a:t>4%</a:t>
            </a:r>
            <a:r>
              <a:rPr lang="en" sz="1000">
                <a:solidFill>
                  <a:schemeClr val="dk2"/>
                </a:solidFill>
                <a:latin typeface="Inter"/>
                <a:ea typeface="Inter"/>
                <a:cs typeface="Inter"/>
                <a:sym typeface="Inter"/>
              </a:rPr>
              <a:t> gap. Still, we managed to grow by </a:t>
            </a:r>
            <a:r>
              <a:rPr b="1" lang="en" sz="1000">
                <a:solidFill>
                  <a:schemeClr val="dk2"/>
                </a:solidFill>
                <a:latin typeface="Inter"/>
                <a:ea typeface="Inter"/>
                <a:cs typeface="Inter"/>
                <a:sym typeface="Inter"/>
              </a:rPr>
              <a:t>2%</a:t>
            </a:r>
            <a:r>
              <a:rPr lang="en" sz="1000">
                <a:solidFill>
                  <a:schemeClr val="dk2"/>
                </a:solidFill>
                <a:latin typeface="Inter"/>
                <a:ea typeface="Inter"/>
                <a:cs typeface="Inter"/>
                <a:sym typeface="Inter"/>
              </a:rPr>
              <a:t>, even though some platforms considered August a slow month</a:t>
            </a:r>
            <a:endParaRPr sz="1000">
              <a:solidFill>
                <a:schemeClr val="dk2"/>
              </a:solidFill>
              <a:latin typeface="Inter"/>
              <a:ea typeface="Inter"/>
              <a:cs typeface="Inter"/>
              <a:sym typeface="Inter"/>
            </a:endParaRPr>
          </a:p>
          <a:p>
            <a:pPr indent="-292100" lvl="0" marL="457200" marR="0" rtl="0" algn="l">
              <a:lnSpc>
                <a:spcPct val="115000"/>
              </a:lnSpc>
              <a:spcBef>
                <a:spcPts val="1000"/>
              </a:spcBef>
              <a:spcAft>
                <a:spcPts val="0"/>
              </a:spcAft>
              <a:buClr>
                <a:schemeClr val="dk2"/>
              </a:buClr>
              <a:buSzPts val="1000"/>
              <a:buFont typeface="Inter"/>
              <a:buChar char="●"/>
            </a:pPr>
            <a:r>
              <a:rPr lang="en" sz="1000">
                <a:solidFill>
                  <a:schemeClr val="dk2"/>
                </a:solidFill>
                <a:latin typeface="Inter"/>
                <a:ea typeface="Inter"/>
                <a:cs typeface="Inter"/>
                <a:sym typeface="Inter"/>
              </a:rPr>
              <a:t>Shopee achieved </a:t>
            </a:r>
            <a:r>
              <a:rPr b="1" lang="en" sz="1000">
                <a:solidFill>
                  <a:schemeClr val="dk2"/>
                </a:solidFill>
                <a:latin typeface="Inter"/>
                <a:ea typeface="Inter"/>
                <a:cs typeface="Inter"/>
                <a:sym typeface="Inter"/>
              </a:rPr>
              <a:t>96%</a:t>
            </a:r>
            <a:r>
              <a:rPr lang="en" sz="1000">
                <a:solidFill>
                  <a:schemeClr val="dk2"/>
                </a:solidFill>
                <a:latin typeface="Inter"/>
                <a:ea typeface="Inter"/>
                <a:cs typeface="Inter"/>
                <a:sym typeface="Inter"/>
              </a:rPr>
              <a:t>, still growing by </a:t>
            </a:r>
            <a:r>
              <a:rPr b="1" lang="en" sz="1000">
                <a:solidFill>
                  <a:schemeClr val="dk2"/>
                </a:solidFill>
                <a:latin typeface="Inter"/>
                <a:ea typeface="Inter"/>
                <a:cs typeface="Inter"/>
                <a:sym typeface="Inter"/>
              </a:rPr>
              <a:t>2%</a:t>
            </a:r>
            <a:r>
              <a:rPr lang="en" sz="1000">
                <a:solidFill>
                  <a:schemeClr val="dk2"/>
                </a:solidFill>
                <a:latin typeface="Inter"/>
                <a:ea typeface="Inter"/>
                <a:cs typeface="Inter"/>
                <a:sym typeface="Inter"/>
              </a:rPr>
              <a:t>. We managed to grow even as platform support started shifting to a different category. (Co-funding was withdrawn as a Shopee feature.</a:t>
            </a:r>
            <a:endParaRPr sz="1000">
              <a:solidFill>
                <a:schemeClr val="dk2"/>
              </a:solidFill>
              <a:latin typeface="Inter"/>
              <a:ea typeface="Inter"/>
              <a:cs typeface="Inter"/>
              <a:sym typeface="Inter"/>
            </a:endParaRPr>
          </a:p>
          <a:p>
            <a:pPr indent="-292100" lvl="0" marL="457200" marR="0" rtl="0" algn="l">
              <a:lnSpc>
                <a:spcPct val="115000"/>
              </a:lnSpc>
              <a:spcBef>
                <a:spcPts val="1000"/>
              </a:spcBef>
              <a:spcAft>
                <a:spcPts val="0"/>
              </a:spcAft>
              <a:buClr>
                <a:schemeClr val="dk2"/>
              </a:buClr>
              <a:buSzPts val="1000"/>
              <a:buFont typeface="Inter"/>
              <a:buChar char="●"/>
            </a:pPr>
            <a:r>
              <a:rPr lang="en" sz="1000">
                <a:solidFill>
                  <a:schemeClr val="dk2"/>
                </a:solidFill>
                <a:latin typeface="Inter"/>
                <a:ea typeface="Inter"/>
                <a:cs typeface="Inter"/>
                <a:sym typeface="Inter"/>
              </a:rPr>
              <a:t>Lazada achieved </a:t>
            </a:r>
            <a:r>
              <a:rPr b="1" lang="en" sz="1000">
                <a:solidFill>
                  <a:schemeClr val="dk2"/>
                </a:solidFill>
                <a:latin typeface="Inter"/>
                <a:ea typeface="Inter"/>
                <a:cs typeface="Inter"/>
                <a:sym typeface="Inter"/>
              </a:rPr>
              <a:t>84%</a:t>
            </a:r>
            <a:r>
              <a:rPr lang="en" sz="1000">
                <a:solidFill>
                  <a:schemeClr val="dk2"/>
                </a:solidFill>
                <a:latin typeface="Inter"/>
                <a:ea typeface="Inter"/>
                <a:cs typeface="Inter"/>
                <a:sym typeface="Inter"/>
              </a:rPr>
              <a:t> MTD overall due to decreased subsidy from the platform, but the overall NMV decline wasn't significant.</a:t>
            </a:r>
            <a:endParaRPr sz="1000">
              <a:solidFill>
                <a:schemeClr val="dk2"/>
              </a:solidFill>
              <a:latin typeface="Inter"/>
              <a:ea typeface="Inter"/>
              <a:cs typeface="Inter"/>
              <a:sym typeface="Inter"/>
            </a:endParaRPr>
          </a:p>
          <a:p>
            <a:pPr indent="-292100" lvl="0" marL="457200" marR="0" rtl="0" algn="l">
              <a:lnSpc>
                <a:spcPct val="115000"/>
              </a:lnSpc>
              <a:spcBef>
                <a:spcPts val="1000"/>
              </a:spcBef>
              <a:spcAft>
                <a:spcPts val="1000"/>
              </a:spcAft>
              <a:buClr>
                <a:schemeClr val="dk2"/>
              </a:buClr>
              <a:buSzPts val="1000"/>
              <a:buFont typeface="Inter"/>
              <a:buChar char="●"/>
            </a:pPr>
            <a:r>
              <a:rPr lang="en" sz="1000">
                <a:solidFill>
                  <a:schemeClr val="dk2"/>
                </a:solidFill>
                <a:latin typeface="Inter"/>
                <a:ea typeface="Inter"/>
                <a:cs typeface="Inter"/>
                <a:sym typeface="Inter"/>
              </a:rPr>
              <a:t>C2C managed to achieve </a:t>
            </a:r>
            <a:r>
              <a:rPr b="1" lang="en" sz="1000">
                <a:solidFill>
                  <a:schemeClr val="dk2"/>
                </a:solidFill>
                <a:latin typeface="Inter"/>
                <a:ea typeface="Inter"/>
                <a:cs typeface="Inter"/>
                <a:sym typeface="Inter"/>
              </a:rPr>
              <a:t>101%</a:t>
            </a:r>
            <a:r>
              <a:rPr lang="en" sz="1000">
                <a:solidFill>
                  <a:schemeClr val="dk2"/>
                </a:solidFill>
                <a:latin typeface="Inter"/>
                <a:ea typeface="Inter"/>
                <a:cs typeface="Inter"/>
                <a:sym typeface="Inter"/>
              </a:rPr>
              <a:t> of target, driven by increases in PV and ABS</a:t>
            </a:r>
            <a:endParaRPr sz="1000">
              <a:solidFill>
                <a:schemeClr val="dk2"/>
              </a:solidFill>
              <a:latin typeface="Inter"/>
              <a:ea typeface="Inter"/>
              <a:cs typeface="Inter"/>
              <a:sym typeface="Inter"/>
            </a:endParaRPr>
          </a:p>
        </p:txBody>
      </p:sp>
      <p:sp>
        <p:nvSpPr>
          <p:cNvPr id="179" name="Google Shape;179;p36"/>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sp>
        <p:nvSpPr>
          <p:cNvPr id="180" name="Google Shape;180;p36"/>
          <p:cNvSpPr txBox="1"/>
          <p:nvPr>
            <p:ph type="ctrTitle"/>
          </p:nvPr>
        </p:nvSpPr>
        <p:spPr>
          <a:xfrm>
            <a:off x="174550" y="131975"/>
            <a:ext cx="8655600" cy="695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B2C Overall Performance</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B2C Achievement and Daily Phasing to Target</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rPr i="1" lang="en" sz="1200">
                <a:solidFill>
                  <a:srgbClr val="3880C1"/>
                </a:solidFill>
                <a:latin typeface="Inter"/>
                <a:ea typeface="Inter"/>
                <a:cs typeface="Inter"/>
                <a:sym typeface="Inter"/>
              </a:rPr>
              <a:t>Shopee achieving by </a:t>
            </a:r>
            <a:r>
              <a:rPr b="1" i="1" lang="en" sz="1200">
                <a:solidFill>
                  <a:srgbClr val="3880C1"/>
                </a:solidFill>
                <a:latin typeface="Inter"/>
                <a:ea typeface="Inter"/>
                <a:cs typeface="Inter"/>
                <a:sym typeface="Inter"/>
              </a:rPr>
              <a:t>96% </a:t>
            </a:r>
            <a:r>
              <a:rPr i="1" lang="en" sz="1200">
                <a:solidFill>
                  <a:srgbClr val="3880C1"/>
                </a:solidFill>
                <a:latin typeface="Inter"/>
                <a:ea typeface="Inter"/>
                <a:cs typeface="Inter"/>
                <a:sym typeface="Inter"/>
              </a:rPr>
              <a:t>and sill growth by </a:t>
            </a:r>
            <a:r>
              <a:rPr b="1" i="1" lang="en" sz="1200">
                <a:solidFill>
                  <a:srgbClr val="3880C1"/>
                </a:solidFill>
                <a:latin typeface="Inter"/>
                <a:ea typeface="Inter"/>
                <a:cs typeface="Inter"/>
                <a:sym typeface="Inter"/>
              </a:rPr>
              <a:t>2% </a:t>
            </a:r>
            <a:r>
              <a:rPr i="1" lang="en" sz="1200">
                <a:solidFill>
                  <a:srgbClr val="3880C1"/>
                </a:solidFill>
                <a:latin typeface="Inter"/>
                <a:ea typeface="Inter"/>
                <a:cs typeface="Inter"/>
                <a:sym typeface="Inter"/>
              </a:rPr>
              <a:t>even while the stock issue and cofund being withdrawn</a:t>
            </a:r>
            <a:endParaRPr i="1" sz="1200">
              <a:solidFill>
                <a:srgbClr val="3880C1"/>
              </a:solidFill>
              <a:latin typeface="Inter"/>
              <a:ea typeface="Inter"/>
              <a:cs typeface="Inter"/>
              <a:sym typeface="Inter"/>
            </a:endParaRPr>
          </a:p>
        </p:txBody>
      </p:sp>
      <p:pic>
        <p:nvPicPr>
          <p:cNvPr id="181" name="Google Shape;181;p36"/>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pic>
        <p:nvPicPr>
          <p:cNvPr id="182" name="Google Shape;182;p36"/>
          <p:cNvPicPr preferRelativeResize="0"/>
          <p:nvPr/>
        </p:nvPicPr>
        <p:blipFill rotWithShape="1">
          <a:blip r:embed="rId4">
            <a:alphaModFix/>
          </a:blip>
          <a:srcRect b="0" l="0" r="0" t="12564"/>
          <a:stretch/>
        </p:blipFill>
        <p:spPr>
          <a:xfrm>
            <a:off x="7406900" y="121550"/>
            <a:ext cx="634924" cy="451775"/>
          </a:xfrm>
          <a:prstGeom prst="rect">
            <a:avLst/>
          </a:prstGeom>
          <a:noFill/>
          <a:ln>
            <a:noFill/>
          </a:ln>
        </p:spPr>
      </p:pic>
      <p:sp>
        <p:nvSpPr>
          <p:cNvPr id="183" name="Google Shape;183;p36"/>
          <p:cNvSpPr/>
          <p:nvPr/>
        </p:nvSpPr>
        <p:spPr>
          <a:xfrm>
            <a:off x="5820600" y="1088900"/>
            <a:ext cx="3222000" cy="2286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lt1"/>
                </a:solidFill>
                <a:latin typeface="Inter"/>
                <a:ea typeface="Inter"/>
                <a:cs typeface="Inter"/>
                <a:sym typeface="Inter"/>
              </a:rPr>
              <a:t>Key Highlights</a:t>
            </a:r>
            <a:endParaRPr b="1" i="0" sz="900" u="none" cap="none" strike="noStrike">
              <a:solidFill>
                <a:schemeClr val="lt1"/>
              </a:solidFill>
              <a:latin typeface="Inter"/>
              <a:ea typeface="Inter"/>
              <a:cs typeface="Inter"/>
              <a:sym typeface="Inter"/>
            </a:endParaRPr>
          </a:p>
        </p:txBody>
      </p:sp>
      <p:pic>
        <p:nvPicPr>
          <p:cNvPr id="184" name="Google Shape;184;p36" title="Chart"/>
          <p:cNvPicPr preferRelativeResize="0"/>
          <p:nvPr/>
        </p:nvPicPr>
        <p:blipFill>
          <a:blip r:embed="rId5">
            <a:alphaModFix/>
          </a:blip>
          <a:stretch>
            <a:fillRect/>
          </a:stretch>
        </p:blipFill>
        <p:spPr>
          <a:xfrm>
            <a:off x="230963" y="2165803"/>
            <a:ext cx="5368514" cy="2611949"/>
          </a:xfrm>
          <a:prstGeom prst="rect">
            <a:avLst/>
          </a:prstGeom>
          <a:noFill/>
          <a:ln>
            <a:noFill/>
          </a:ln>
        </p:spPr>
      </p:pic>
      <p:graphicFrame>
        <p:nvGraphicFramePr>
          <p:cNvPr id="185" name="Google Shape;185;p36"/>
          <p:cNvGraphicFramePr/>
          <p:nvPr/>
        </p:nvGraphicFramePr>
        <p:xfrm>
          <a:off x="270425" y="1022375"/>
          <a:ext cx="3000000" cy="3000000"/>
        </p:xfrm>
        <a:graphic>
          <a:graphicData uri="http://schemas.openxmlformats.org/drawingml/2006/table">
            <a:tbl>
              <a:tblPr>
                <a:noFill/>
                <a:tableStyleId>{05CF1300-53F3-430B-9C35-424554A46B0A}</a:tableStyleId>
              </a:tblPr>
              <a:tblGrid>
                <a:gridCol w="888175"/>
                <a:gridCol w="888175"/>
                <a:gridCol w="888175"/>
                <a:gridCol w="888175"/>
                <a:gridCol w="888175"/>
                <a:gridCol w="888175"/>
              </a:tblGrid>
              <a:tr h="200025">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Metrics</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MTD</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MTD M-1</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Growth</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Forecast</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Achievement</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Shopee</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5,998,042,656</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5,861,757,401</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6,245,698,999</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96%</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Lazada</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269,270,474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272,605,993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319,206,080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84%</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C2C</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66,593,952</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57,059,074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17%</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65,724,486</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101%</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Total</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6,333,907,082</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6,191,422,468</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6,630,629,565</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96%</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7"/>
          <p:cNvSpPr txBox="1"/>
          <p:nvPr/>
        </p:nvSpPr>
        <p:spPr>
          <a:xfrm>
            <a:off x="209950" y="3575551"/>
            <a:ext cx="8584800" cy="995400"/>
          </a:xfrm>
          <a:prstGeom prst="rect">
            <a:avLst/>
          </a:prstGeom>
          <a:noFill/>
          <a:ln>
            <a:noFill/>
          </a:ln>
        </p:spPr>
        <p:txBody>
          <a:bodyPr anchorCtr="0" anchor="t" bIns="91425" lIns="91425" spcFirstLastPara="1" rIns="91425" wrap="square" tIns="91425">
            <a:noAutofit/>
          </a:bodyPr>
          <a:lstStyle/>
          <a:p>
            <a:pPr indent="-285750" lvl="0" marL="457200" rtl="0" algn="l">
              <a:lnSpc>
                <a:spcPct val="100000"/>
              </a:lnSpc>
              <a:spcBef>
                <a:spcPts val="1000"/>
              </a:spcBef>
              <a:spcAft>
                <a:spcPts val="0"/>
              </a:spcAft>
              <a:buClr>
                <a:schemeClr val="dk2"/>
              </a:buClr>
              <a:buSzPts val="900"/>
              <a:buFont typeface="Inter"/>
              <a:buChar char="●"/>
            </a:pPr>
            <a:r>
              <a:rPr lang="en" sz="900">
                <a:solidFill>
                  <a:schemeClr val="dk2"/>
                </a:solidFill>
                <a:latin typeface="Inter"/>
                <a:ea typeface="Inter"/>
                <a:cs typeface="Inter"/>
                <a:sym typeface="Inter"/>
              </a:rPr>
              <a:t>On the Shopee side, CR decreased by</a:t>
            </a:r>
            <a:r>
              <a:rPr b="1" lang="en" sz="900">
                <a:solidFill>
                  <a:schemeClr val="dk2"/>
                </a:solidFill>
                <a:latin typeface="Inter"/>
                <a:ea typeface="Inter"/>
                <a:cs typeface="Inter"/>
                <a:sym typeface="Inter"/>
              </a:rPr>
              <a:t> -0.5pp</a:t>
            </a:r>
            <a:r>
              <a:rPr lang="en" sz="900">
                <a:solidFill>
                  <a:schemeClr val="dk2"/>
                </a:solidFill>
                <a:latin typeface="Inter"/>
                <a:ea typeface="Inter"/>
                <a:cs typeface="Inter"/>
                <a:sym typeface="Inter"/>
              </a:rPr>
              <a:t> despite a </a:t>
            </a:r>
            <a:r>
              <a:rPr b="1" lang="en" sz="900">
                <a:solidFill>
                  <a:schemeClr val="dk2"/>
                </a:solidFill>
                <a:latin typeface="Inter"/>
                <a:ea typeface="Inter"/>
                <a:cs typeface="Inter"/>
                <a:sym typeface="Inter"/>
              </a:rPr>
              <a:t>16%</a:t>
            </a:r>
            <a:r>
              <a:rPr lang="en" sz="900">
                <a:solidFill>
                  <a:schemeClr val="dk2"/>
                </a:solidFill>
                <a:latin typeface="Inter"/>
                <a:ea typeface="Inter"/>
                <a:cs typeface="Inter"/>
                <a:sym typeface="Inter"/>
              </a:rPr>
              <a:t> rise in PV which came from Ads metrics partly due to lower peak day subsidy support as the platform pushed non FMCG categories in August. Orders still grew </a:t>
            </a:r>
            <a:r>
              <a:rPr b="1" lang="en" sz="900">
                <a:solidFill>
                  <a:schemeClr val="dk2"/>
                </a:solidFill>
                <a:latin typeface="Inter"/>
                <a:ea typeface="Inter"/>
                <a:cs typeface="Inter"/>
                <a:sym typeface="Inter"/>
              </a:rPr>
              <a:t>5%</a:t>
            </a:r>
            <a:r>
              <a:rPr lang="en" sz="900">
                <a:solidFill>
                  <a:schemeClr val="dk2"/>
                </a:solidFill>
                <a:latin typeface="Inter"/>
                <a:ea typeface="Inter"/>
                <a:cs typeface="Inter"/>
                <a:sym typeface="Inter"/>
              </a:rPr>
              <a:t>, and we'll push CR further through promotions wise.</a:t>
            </a:r>
            <a:endParaRPr sz="900">
              <a:solidFill>
                <a:schemeClr val="dk2"/>
              </a:solidFill>
              <a:latin typeface="Inter"/>
              <a:ea typeface="Inter"/>
              <a:cs typeface="Inter"/>
              <a:sym typeface="Inter"/>
            </a:endParaRPr>
          </a:p>
          <a:p>
            <a:pPr indent="-285750" lvl="0" marL="457200" rtl="0" algn="l">
              <a:lnSpc>
                <a:spcPct val="100000"/>
              </a:lnSpc>
              <a:spcBef>
                <a:spcPts val="1000"/>
              </a:spcBef>
              <a:spcAft>
                <a:spcPts val="0"/>
              </a:spcAft>
              <a:buClr>
                <a:schemeClr val="dk2"/>
              </a:buClr>
              <a:buSzPts val="900"/>
              <a:buFont typeface="Inter"/>
              <a:buChar char="●"/>
            </a:pPr>
            <a:r>
              <a:rPr lang="en" sz="900">
                <a:solidFill>
                  <a:schemeClr val="dk2"/>
                </a:solidFill>
                <a:latin typeface="Inter"/>
                <a:ea typeface="Inter"/>
                <a:cs typeface="Inter"/>
                <a:sym typeface="Inter"/>
              </a:rPr>
              <a:t>Lazada's subsidy decreased by </a:t>
            </a:r>
            <a:r>
              <a:rPr b="1" lang="en" sz="900">
                <a:solidFill>
                  <a:schemeClr val="dk2"/>
                </a:solidFill>
                <a:latin typeface="Inter"/>
                <a:ea typeface="Inter"/>
                <a:cs typeface="Inter"/>
                <a:sym typeface="Inter"/>
              </a:rPr>
              <a:t>60% </a:t>
            </a:r>
            <a:r>
              <a:rPr lang="en" sz="900">
                <a:solidFill>
                  <a:schemeClr val="dk2"/>
                </a:solidFill>
                <a:latin typeface="Inter"/>
                <a:ea typeface="Inter"/>
                <a:cs typeface="Inter"/>
                <a:sym typeface="Inter"/>
              </a:rPr>
              <a:t>MTD, but overall PV grew strongly by </a:t>
            </a:r>
            <a:r>
              <a:rPr b="1" lang="en" sz="900">
                <a:solidFill>
                  <a:schemeClr val="dk2"/>
                </a:solidFill>
                <a:latin typeface="Inter"/>
                <a:ea typeface="Inter"/>
                <a:cs typeface="Inter"/>
                <a:sym typeface="Inter"/>
              </a:rPr>
              <a:t>58%</a:t>
            </a:r>
            <a:r>
              <a:rPr lang="en" sz="900">
                <a:solidFill>
                  <a:schemeClr val="dk2"/>
                </a:solidFill>
                <a:latin typeface="Inter"/>
                <a:ea typeface="Inter"/>
                <a:cs typeface="Inter"/>
                <a:sym typeface="Inter"/>
              </a:rPr>
              <a:t>. CR was impacted by </a:t>
            </a:r>
            <a:r>
              <a:rPr b="1" lang="en" sz="900">
                <a:solidFill>
                  <a:schemeClr val="dk2"/>
                </a:solidFill>
                <a:latin typeface="Inter"/>
                <a:ea typeface="Inter"/>
                <a:cs typeface="Inter"/>
                <a:sym typeface="Inter"/>
              </a:rPr>
              <a:t>-0.15pp</a:t>
            </a:r>
            <a:r>
              <a:rPr lang="en" sz="900">
                <a:solidFill>
                  <a:schemeClr val="dk2"/>
                </a:solidFill>
                <a:latin typeface="Inter"/>
                <a:ea typeface="Inter"/>
                <a:cs typeface="Inter"/>
                <a:sym typeface="Inter"/>
              </a:rPr>
              <a:t>, while ABS was higher due to bulk buyers on peak days." </a:t>
            </a:r>
            <a:endParaRPr sz="900">
              <a:solidFill>
                <a:schemeClr val="dk2"/>
              </a:solidFill>
              <a:latin typeface="Inter"/>
              <a:ea typeface="Inter"/>
              <a:cs typeface="Inter"/>
              <a:sym typeface="Inter"/>
            </a:endParaRPr>
          </a:p>
          <a:p>
            <a:pPr indent="-285750" lvl="0" marL="457200" rtl="0" algn="l">
              <a:lnSpc>
                <a:spcPct val="100000"/>
              </a:lnSpc>
              <a:spcBef>
                <a:spcPts val="1000"/>
              </a:spcBef>
              <a:spcAft>
                <a:spcPts val="1000"/>
              </a:spcAft>
              <a:buClr>
                <a:schemeClr val="dk2"/>
              </a:buClr>
              <a:buSzPts val="900"/>
              <a:buFont typeface="Inter"/>
              <a:buChar char="●"/>
            </a:pPr>
            <a:r>
              <a:rPr lang="en" sz="900">
                <a:solidFill>
                  <a:schemeClr val="dk2"/>
                </a:solidFill>
                <a:latin typeface="Inter"/>
                <a:ea typeface="Inter"/>
                <a:cs typeface="Inter"/>
                <a:sym typeface="Inter"/>
              </a:rPr>
              <a:t>C2C is growing strong across overall metrics, even though platform support is lower. We'll maintain this performance and continue planning for C2C growth </a:t>
            </a:r>
            <a:endParaRPr sz="900">
              <a:solidFill>
                <a:schemeClr val="dk2"/>
              </a:solidFill>
              <a:latin typeface="Inter"/>
              <a:ea typeface="Inter"/>
              <a:cs typeface="Inter"/>
              <a:sym typeface="Inter"/>
            </a:endParaRPr>
          </a:p>
        </p:txBody>
      </p:sp>
      <p:sp>
        <p:nvSpPr>
          <p:cNvPr id="191" name="Google Shape;191;p37"/>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sp>
        <p:nvSpPr>
          <p:cNvPr id="192" name="Google Shape;192;p37"/>
          <p:cNvSpPr txBox="1"/>
          <p:nvPr>
            <p:ph type="ctrTitle"/>
          </p:nvPr>
        </p:nvSpPr>
        <p:spPr>
          <a:xfrm>
            <a:off x="174550" y="79825"/>
            <a:ext cx="8655600" cy="695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B2C Overall Performance</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B2C Key Metrics MoM Performance</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rPr i="1" lang="en" sz="1200">
                <a:solidFill>
                  <a:srgbClr val="3880C1"/>
                </a:solidFill>
                <a:latin typeface="Inter"/>
                <a:ea typeface="Inter"/>
                <a:cs typeface="Inter"/>
                <a:sym typeface="Inter"/>
              </a:rPr>
              <a:t>C2C showing the most growth on NMV by </a:t>
            </a:r>
            <a:r>
              <a:rPr b="1" i="1" lang="en" sz="1200">
                <a:solidFill>
                  <a:srgbClr val="3880C1"/>
                </a:solidFill>
                <a:latin typeface="Inter"/>
                <a:ea typeface="Inter"/>
                <a:cs typeface="Inter"/>
                <a:sym typeface="Inter"/>
              </a:rPr>
              <a:t>14%</a:t>
            </a:r>
            <a:r>
              <a:rPr i="1" lang="en" sz="1200">
                <a:solidFill>
                  <a:srgbClr val="3880C1"/>
                </a:solidFill>
                <a:latin typeface="Inter"/>
                <a:ea typeface="Inter"/>
                <a:cs typeface="Inter"/>
                <a:sym typeface="Inter"/>
              </a:rPr>
              <a:t>, while shopee and and Lazada both gaving growth from the PV sides</a:t>
            </a:r>
            <a:endParaRPr>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t/>
            </a:r>
            <a:endParaRPr i="1" sz="1200">
              <a:solidFill>
                <a:srgbClr val="3880C1"/>
              </a:solidFill>
              <a:latin typeface="Inter"/>
              <a:ea typeface="Inter"/>
              <a:cs typeface="Inter"/>
              <a:sym typeface="Inter"/>
            </a:endParaRPr>
          </a:p>
        </p:txBody>
      </p:sp>
      <p:pic>
        <p:nvPicPr>
          <p:cNvPr id="193" name="Google Shape;193;p37"/>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pic>
        <p:nvPicPr>
          <p:cNvPr id="194" name="Google Shape;194;p37"/>
          <p:cNvPicPr preferRelativeResize="0"/>
          <p:nvPr/>
        </p:nvPicPr>
        <p:blipFill rotWithShape="1">
          <a:blip r:embed="rId4">
            <a:alphaModFix/>
          </a:blip>
          <a:srcRect b="0" l="0" r="0" t="12564"/>
          <a:stretch/>
        </p:blipFill>
        <p:spPr>
          <a:xfrm>
            <a:off x="7406900" y="121550"/>
            <a:ext cx="634924" cy="451775"/>
          </a:xfrm>
          <a:prstGeom prst="rect">
            <a:avLst/>
          </a:prstGeom>
          <a:noFill/>
          <a:ln>
            <a:noFill/>
          </a:ln>
        </p:spPr>
      </p:pic>
      <p:sp>
        <p:nvSpPr>
          <p:cNvPr id="195" name="Google Shape;195;p37"/>
          <p:cNvSpPr/>
          <p:nvPr/>
        </p:nvSpPr>
        <p:spPr>
          <a:xfrm>
            <a:off x="296700" y="3384462"/>
            <a:ext cx="8550600" cy="1911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lt1"/>
                </a:solidFill>
                <a:latin typeface="Inter"/>
                <a:ea typeface="Inter"/>
                <a:cs typeface="Inter"/>
                <a:sym typeface="Inter"/>
              </a:rPr>
              <a:t>Key Highlights</a:t>
            </a:r>
            <a:endParaRPr b="1" i="0" sz="1100" u="none" cap="none" strike="noStrike">
              <a:solidFill>
                <a:schemeClr val="lt1"/>
              </a:solidFill>
              <a:latin typeface="Inter"/>
              <a:ea typeface="Inter"/>
              <a:cs typeface="Inter"/>
              <a:sym typeface="Inter"/>
            </a:endParaRPr>
          </a:p>
        </p:txBody>
      </p:sp>
      <p:graphicFrame>
        <p:nvGraphicFramePr>
          <p:cNvPr id="196" name="Google Shape;196;p37"/>
          <p:cNvGraphicFramePr/>
          <p:nvPr/>
        </p:nvGraphicFramePr>
        <p:xfrm>
          <a:off x="283675" y="927788"/>
          <a:ext cx="3000000" cy="3000000"/>
        </p:xfrm>
        <a:graphic>
          <a:graphicData uri="http://schemas.openxmlformats.org/drawingml/2006/table">
            <a:tbl>
              <a:tblPr>
                <a:noFill/>
                <a:tableStyleId>{05CF1300-53F3-430B-9C35-424554A46B0A}</a:tableStyleId>
              </a:tblPr>
              <a:tblGrid>
                <a:gridCol w="952500"/>
                <a:gridCol w="952500"/>
                <a:gridCol w="952500"/>
                <a:gridCol w="952500"/>
                <a:gridCol w="952500"/>
                <a:gridCol w="952500"/>
                <a:gridCol w="952500"/>
                <a:gridCol w="952500"/>
                <a:gridCol w="952500"/>
              </a:tblGrid>
              <a:tr h="200025">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Shopee</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NMV</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PV</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Order CR</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Order</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Qty Sold</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ABS</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ASP</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Subsidy</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MTD</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5,991,933,117</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1,498,736</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4.84%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72,532</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84,590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82,611</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70,835</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1,064,046,516</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MTD M-1</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5,861,757,401</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1,287,881</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5.36%</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68,974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83,120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84,985</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70,522</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1,041,686,346</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Growth</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16%</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-0.5%</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5%</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-3%</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a:t>
                      </a:r>
                      <a:r>
                        <a:rPr b="1" lang="en" sz="800">
                          <a:latin typeface="Inter"/>
                          <a:ea typeface="Inter"/>
                          <a:cs typeface="Inter"/>
                          <a:sym typeface="Inter"/>
                        </a:rPr>
                        <a:t>%</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200025">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Lazada</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NMV</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PV</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Order CR</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Order</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Qty Sold</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ABS</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ASP</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Subsidy</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MTD</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268,927,244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2,085,364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0.08%</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1,630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1,981</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164,986</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135,753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39,800,053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MTD M-1</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272,605,993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870,047</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0.23%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1,981</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2,498</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137,610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109,130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63,763,832</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Growth</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58%</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-0.1%</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-22%</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-26%</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17%</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20%</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-60%</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00025">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C2C</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NMV</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PV</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Order CR</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Order</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Qty Sold</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ABS</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ASP</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Subsidy</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MTD</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66,257,714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38,157</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2.91%</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1,109</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1,323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59,745</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50,081</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3,915,731</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MTD M-1</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57,059,074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33,343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3.19%</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1,063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1,215</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53,677</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46,962</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4,232,595</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Growth</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14%</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13%</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-0.3%</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4%</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8%</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10%</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6%</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-8%</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bl>
          </a:graphicData>
        </a:graphic>
      </p:graphicFrame>
      <p:sp>
        <p:nvSpPr>
          <p:cNvPr id="197" name="Google Shape;197;p37"/>
          <p:cNvSpPr/>
          <p:nvPr/>
        </p:nvSpPr>
        <p:spPr>
          <a:xfrm>
            <a:off x="7903675" y="1727900"/>
            <a:ext cx="944100" cy="800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7"/>
          <p:cNvSpPr/>
          <p:nvPr/>
        </p:nvSpPr>
        <p:spPr>
          <a:xfrm>
            <a:off x="2188675" y="927800"/>
            <a:ext cx="1905000" cy="800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8"/>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sp>
        <p:nvSpPr>
          <p:cNvPr id="204" name="Google Shape;204;p38"/>
          <p:cNvSpPr txBox="1"/>
          <p:nvPr>
            <p:ph type="ctrTitle"/>
          </p:nvPr>
        </p:nvSpPr>
        <p:spPr>
          <a:xfrm>
            <a:off x="174550" y="131975"/>
            <a:ext cx="8655600" cy="695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B2C Overall Performance</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9.9 Post Mortem</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rPr i="1" lang="en" sz="1200">
                <a:solidFill>
                  <a:srgbClr val="3880C1"/>
                </a:solidFill>
                <a:latin typeface="Inter"/>
                <a:ea typeface="Inter"/>
                <a:cs typeface="Inter"/>
                <a:sym typeface="Inter"/>
              </a:rPr>
              <a:t>Shopee hit another all time high for the highest NMV achieved in a day, due to huge support from platform and ads wise</a:t>
            </a:r>
            <a:endParaRPr i="1" sz="1200">
              <a:solidFill>
                <a:srgbClr val="3880C1"/>
              </a:solidFill>
              <a:latin typeface="Inter"/>
              <a:ea typeface="Inter"/>
              <a:cs typeface="Inter"/>
              <a:sym typeface="Inter"/>
            </a:endParaRPr>
          </a:p>
        </p:txBody>
      </p:sp>
      <p:pic>
        <p:nvPicPr>
          <p:cNvPr id="205" name="Google Shape;205;p38"/>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pic>
        <p:nvPicPr>
          <p:cNvPr id="206" name="Google Shape;206;p38"/>
          <p:cNvPicPr preferRelativeResize="0"/>
          <p:nvPr/>
        </p:nvPicPr>
        <p:blipFill rotWithShape="1">
          <a:blip r:embed="rId4">
            <a:alphaModFix/>
          </a:blip>
          <a:srcRect b="0" l="0" r="0" t="12564"/>
          <a:stretch/>
        </p:blipFill>
        <p:spPr>
          <a:xfrm>
            <a:off x="7406900" y="121550"/>
            <a:ext cx="634924" cy="451775"/>
          </a:xfrm>
          <a:prstGeom prst="rect">
            <a:avLst/>
          </a:prstGeom>
          <a:noFill/>
          <a:ln>
            <a:noFill/>
          </a:ln>
        </p:spPr>
      </p:pic>
      <p:sp>
        <p:nvSpPr>
          <p:cNvPr id="207" name="Google Shape;207;p38"/>
          <p:cNvSpPr/>
          <p:nvPr/>
        </p:nvSpPr>
        <p:spPr>
          <a:xfrm>
            <a:off x="277525" y="3788325"/>
            <a:ext cx="8332500" cy="2286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lt1"/>
                </a:solidFill>
                <a:latin typeface="Inter"/>
                <a:ea typeface="Inter"/>
                <a:cs typeface="Inter"/>
                <a:sym typeface="Inter"/>
              </a:rPr>
              <a:t>Key Highlights</a:t>
            </a:r>
            <a:endParaRPr b="1" i="0" sz="1100" u="none" cap="none" strike="noStrike">
              <a:solidFill>
                <a:schemeClr val="lt1"/>
              </a:solidFill>
              <a:latin typeface="Inter"/>
              <a:ea typeface="Inter"/>
              <a:cs typeface="Inter"/>
              <a:sym typeface="Inter"/>
            </a:endParaRPr>
          </a:p>
        </p:txBody>
      </p:sp>
      <p:graphicFrame>
        <p:nvGraphicFramePr>
          <p:cNvPr id="208" name="Google Shape;208;p38"/>
          <p:cNvGraphicFramePr/>
          <p:nvPr/>
        </p:nvGraphicFramePr>
        <p:xfrm>
          <a:off x="236050" y="1013538"/>
          <a:ext cx="3000000" cy="3000000"/>
        </p:xfrm>
        <a:graphic>
          <a:graphicData uri="http://schemas.openxmlformats.org/drawingml/2006/table">
            <a:tbl>
              <a:tblPr>
                <a:noFill/>
                <a:tableStyleId>{05CF1300-53F3-430B-9C35-424554A46B0A}</a:tableStyleId>
              </a:tblPr>
              <a:tblGrid>
                <a:gridCol w="952500"/>
                <a:gridCol w="952500"/>
                <a:gridCol w="952500"/>
                <a:gridCol w="952500"/>
                <a:gridCol w="952500"/>
                <a:gridCol w="952500"/>
                <a:gridCol w="952500"/>
                <a:gridCol w="952500"/>
              </a:tblGrid>
              <a:tr h="227225">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Shopee</a:t>
                      </a:r>
                      <a:endParaRPr b="1" sz="800">
                        <a:solidFill>
                          <a:srgbClr val="FFFFFF"/>
                        </a:solidFill>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Nmv</a:t>
                      </a:r>
                      <a:endParaRPr b="1" sz="800">
                        <a:solidFill>
                          <a:srgbClr val="FFFFFF"/>
                        </a:solidFill>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Pv</a:t>
                      </a:r>
                      <a:endParaRPr b="1" sz="800">
                        <a:solidFill>
                          <a:srgbClr val="FFFFFF"/>
                        </a:solidFill>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Order</a:t>
                      </a:r>
                      <a:endParaRPr b="1" sz="800">
                        <a:solidFill>
                          <a:srgbClr val="FFFFFF"/>
                        </a:solidFill>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Qty Sold</a:t>
                      </a:r>
                      <a:endParaRPr b="1" sz="800">
                        <a:solidFill>
                          <a:srgbClr val="FFFFFF"/>
                        </a:solidFill>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CR</a:t>
                      </a:r>
                      <a:endParaRPr b="1" sz="800">
                        <a:solidFill>
                          <a:srgbClr val="FFFFFF"/>
                        </a:solidFill>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ABS</a:t>
                      </a:r>
                      <a:endParaRPr b="1" sz="800">
                        <a:solidFill>
                          <a:srgbClr val="FFFFFF"/>
                        </a:solidFill>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Subsidy</a:t>
                      </a:r>
                      <a:endParaRPr b="1" sz="800">
                        <a:solidFill>
                          <a:srgbClr val="FFFFFF"/>
                        </a:solidFill>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337DC5"/>
                    </a:solidFill>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9.9</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1,227,449,601</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212,461</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13,055</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14,816</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6.14%</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94,021</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327,225,450</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8.8</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963,705,910</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133,918</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10,014</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12,025</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7.48%</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96,236</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225,199,710</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Growth</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27%</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59%</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30%</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23%</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-7%</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45%</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7E1CD"/>
                    </a:solidFill>
                  </a:tcPr>
                </a:tc>
              </a:tr>
            </a:tbl>
          </a:graphicData>
        </a:graphic>
      </p:graphicFrame>
      <p:graphicFrame>
        <p:nvGraphicFramePr>
          <p:cNvPr id="209" name="Google Shape;209;p38"/>
          <p:cNvGraphicFramePr/>
          <p:nvPr/>
        </p:nvGraphicFramePr>
        <p:xfrm>
          <a:off x="236050" y="1907650"/>
          <a:ext cx="3000000" cy="3000000"/>
        </p:xfrm>
        <a:graphic>
          <a:graphicData uri="http://schemas.openxmlformats.org/drawingml/2006/table">
            <a:tbl>
              <a:tblPr>
                <a:noFill/>
                <a:tableStyleId>{05CF1300-53F3-430B-9C35-424554A46B0A}</a:tableStyleId>
              </a:tblPr>
              <a:tblGrid>
                <a:gridCol w="989300"/>
                <a:gridCol w="989300"/>
                <a:gridCol w="989300"/>
                <a:gridCol w="989300"/>
                <a:gridCol w="989300"/>
                <a:gridCol w="989300"/>
                <a:gridCol w="989300"/>
                <a:gridCol w="989300"/>
              </a:tblGrid>
              <a:tr h="200025">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Lazada</a:t>
                      </a:r>
                      <a:endParaRPr b="1" sz="800">
                        <a:solidFill>
                          <a:srgbClr val="FFFFFF"/>
                        </a:solidFill>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Nmv</a:t>
                      </a:r>
                      <a:endParaRPr b="1" sz="800">
                        <a:solidFill>
                          <a:srgbClr val="FFFFFF"/>
                        </a:solidFill>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Pv</a:t>
                      </a:r>
                      <a:endParaRPr b="1" sz="800">
                        <a:solidFill>
                          <a:srgbClr val="FFFFFF"/>
                        </a:solidFill>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Order</a:t>
                      </a:r>
                      <a:endParaRPr b="1" sz="800">
                        <a:solidFill>
                          <a:srgbClr val="FFFFFF"/>
                        </a:solidFill>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Qty Sold</a:t>
                      </a:r>
                      <a:endParaRPr b="1" sz="800">
                        <a:solidFill>
                          <a:srgbClr val="FFFFFF"/>
                        </a:solidFill>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CR</a:t>
                      </a:r>
                      <a:endParaRPr b="1" sz="800">
                        <a:solidFill>
                          <a:srgbClr val="FFFFFF"/>
                        </a:solidFill>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ABS</a:t>
                      </a:r>
                      <a:endParaRPr b="1" sz="800">
                        <a:solidFill>
                          <a:srgbClr val="FFFFFF"/>
                        </a:solidFill>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Subsidy</a:t>
                      </a:r>
                      <a:endParaRPr b="1" sz="800">
                        <a:solidFill>
                          <a:srgbClr val="FFFFFF"/>
                        </a:solidFill>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337DC5"/>
                    </a:solidFill>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9.9</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65,755,422</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42,614</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415</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473</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0.97%</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158,447</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17,573,154</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8.8</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50,949,382</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57,144</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311</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356</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0.54%</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163,824</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12,168,235</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Growth</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29%</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-25%</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33%</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33%</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0.4%</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-3%</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44%</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7E1CD"/>
                    </a:solidFill>
                  </a:tcPr>
                </a:tc>
              </a:tr>
            </a:tbl>
          </a:graphicData>
        </a:graphic>
      </p:graphicFrame>
      <p:sp>
        <p:nvSpPr>
          <p:cNvPr id="210" name="Google Shape;210;p38"/>
          <p:cNvSpPr txBox="1"/>
          <p:nvPr/>
        </p:nvSpPr>
        <p:spPr>
          <a:xfrm>
            <a:off x="279600" y="3985349"/>
            <a:ext cx="8584800" cy="1072800"/>
          </a:xfrm>
          <a:prstGeom prst="rect">
            <a:avLst/>
          </a:prstGeom>
          <a:noFill/>
          <a:ln>
            <a:noFill/>
          </a:ln>
        </p:spPr>
        <p:txBody>
          <a:bodyPr anchorCtr="0" anchor="t" bIns="91425" lIns="91425" spcFirstLastPara="1" rIns="91425" wrap="square" tIns="91425">
            <a:noAutofit/>
          </a:bodyPr>
          <a:lstStyle/>
          <a:p>
            <a:pPr indent="-285750" lvl="0" marL="457200" rtl="0" algn="l">
              <a:lnSpc>
                <a:spcPct val="115000"/>
              </a:lnSpc>
              <a:spcBef>
                <a:spcPts val="1000"/>
              </a:spcBef>
              <a:spcAft>
                <a:spcPts val="0"/>
              </a:spcAft>
              <a:buClr>
                <a:srgbClr val="595959"/>
              </a:buClr>
              <a:buSzPts val="900"/>
              <a:buFont typeface="Inter"/>
              <a:buChar char="●"/>
            </a:pPr>
            <a:r>
              <a:rPr lang="en" sz="900">
                <a:solidFill>
                  <a:srgbClr val="595959"/>
                </a:solidFill>
                <a:latin typeface="Inter"/>
                <a:ea typeface="Inter"/>
                <a:cs typeface="Inter"/>
                <a:sym typeface="Inter"/>
              </a:rPr>
              <a:t>Shopee hit another </a:t>
            </a:r>
            <a:r>
              <a:rPr b="1" lang="en" sz="900">
                <a:solidFill>
                  <a:srgbClr val="595959"/>
                </a:solidFill>
                <a:latin typeface="Inter"/>
                <a:ea typeface="Inter"/>
                <a:cs typeface="Inter"/>
                <a:sym typeface="Inter"/>
              </a:rPr>
              <a:t>1 Bio </a:t>
            </a:r>
            <a:r>
              <a:rPr lang="en" sz="900">
                <a:solidFill>
                  <a:srgbClr val="595959"/>
                </a:solidFill>
                <a:latin typeface="Inter"/>
                <a:ea typeface="Inter"/>
                <a:cs typeface="Inter"/>
                <a:sym typeface="Inter"/>
              </a:rPr>
              <a:t>on Double date with MoM growth by </a:t>
            </a:r>
            <a:r>
              <a:rPr b="1" lang="en" sz="900">
                <a:solidFill>
                  <a:srgbClr val="595959"/>
                </a:solidFill>
                <a:latin typeface="Inter"/>
                <a:ea typeface="Inter"/>
                <a:cs typeface="Inter"/>
                <a:sym typeface="Inter"/>
              </a:rPr>
              <a:t>23%</a:t>
            </a:r>
            <a:r>
              <a:rPr lang="en" sz="900">
                <a:solidFill>
                  <a:srgbClr val="595959"/>
                </a:solidFill>
                <a:latin typeface="Inter"/>
                <a:ea typeface="Inter"/>
                <a:cs typeface="Inter"/>
                <a:sym typeface="Inter"/>
              </a:rPr>
              <a:t>, a huge increased by Subsidy by platform by </a:t>
            </a:r>
            <a:r>
              <a:rPr b="1" lang="en" sz="900">
                <a:solidFill>
                  <a:srgbClr val="595959"/>
                </a:solidFill>
                <a:latin typeface="Inter"/>
                <a:ea typeface="Inter"/>
                <a:cs typeface="Inter"/>
                <a:sym typeface="Inter"/>
              </a:rPr>
              <a:t>45%</a:t>
            </a:r>
            <a:r>
              <a:rPr lang="en" sz="900">
                <a:solidFill>
                  <a:srgbClr val="595959"/>
                </a:solidFill>
                <a:latin typeface="Inter"/>
                <a:ea typeface="Inter"/>
                <a:cs typeface="Inter"/>
                <a:sym typeface="Inter"/>
              </a:rPr>
              <a:t> also due to our participants on </a:t>
            </a:r>
            <a:r>
              <a:rPr b="1" lang="en" sz="900">
                <a:solidFill>
                  <a:srgbClr val="595959"/>
                </a:solidFill>
                <a:latin typeface="Inter"/>
                <a:ea typeface="Inter"/>
                <a:cs typeface="Inter"/>
                <a:sym typeface="Inter"/>
              </a:rPr>
              <a:t>PE+ </a:t>
            </a:r>
            <a:r>
              <a:rPr lang="en" sz="900">
                <a:solidFill>
                  <a:srgbClr val="595959"/>
                </a:solidFill>
                <a:latin typeface="Inter"/>
                <a:ea typeface="Inter"/>
                <a:cs typeface="Inter"/>
                <a:sym typeface="Inter"/>
              </a:rPr>
              <a:t>with a good performance from Ads which increased the PV by </a:t>
            </a:r>
            <a:r>
              <a:rPr b="1" lang="en" sz="900">
                <a:solidFill>
                  <a:srgbClr val="595959"/>
                </a:solidFill>
                <a:latin typeface="Inter"/>
                <a:ea typeface="Inter"/>
                <a:cs typeface="Inter"/>
                <a:sym typeface="Inter"/>
              </a:rPr>
              <a:t>58%, </a:t>
            </a:r>
            <a:r>
              <a:rPr lang="en" sz="900">
                <a:solidFill>
                  <a:srgbClr val="595959"/>
                </a:solidFill>
                <a:latin typeface="Inter"/>
                <a:ea typeface="Inter"/>
                <a:cs typeface="Inter"/>
                <a:sym typeface="Inter"/>
              </a:rPr>
              <a:t>which also caused the CR quite drop </a:t>
            </a:r>
            <a:r>
              <a:rPr lang="en" sz="900">
                <a:solidFill>
                  <a:srgbClr val="595959"/>
                </a:solidFill>
                <a:latin typeface="Inter"/>
                <a:ea typeface="Inter"/>
                <a:cs typeface="Inter"/>
                <a:sym typeface="Inter"/>
              </a:rPr>
              <a:t>by </a:t>
            </a:r>
            <a:r>
              <a:rPr b="1" lang="en" sz="900">
                <a:solidFill>
                  <a:srgbClr val="595959"/>
                </a:solidFill>
                <a:latin typeface="Inter"/>
                <a:ea typeface="Inter"/>
                <a:cs typeface="Inter"/>
                <a:sym typeface="Inter"/>
              </a:rPr>
              <a:t>-7pp.</a:t>
            </a:r>
            <a:endParaRPr b="1" sz="900">
              <a:solidFill>
                <a:srgbClr val="595959"/>
              </a:solidFill>
              <a:latin typeface="Inter"/>
              <a:ea typeface="Inter"/>
              <a:cs typeface="Inter"/>
              <a:sym typeface="Inter"/>
            </a:endParaRPr>
          </a:p>
          <a:p>
            <a:pPr indent="-285750" lvl="0" marL="457200" rtl="0" algn="l">
              <a:lnSpc>
                <a:spcPct val="115000"/>
              </a:lnSpc>
              <a:spcBef>
                <a:spcPts val="1000"/>
              </a:spcBef>
              <a:spcAft>
                <a:spcPts val="1000"/>
              </a:spcAft>
              <a:buClr>
                <a:srgbClr val="595959"/>
              </a:buClr>
              <a:buSzPts val="900"/>
              <a:buFont typeface="Inter"/>
              <a:buChar char="●"/>
            </a:pPr>
            <a:r>
              <a:rPr lang="en" sz="900">
                <a:solidFill>
                  <a:srgbClr val="595959"/>
                </a:solidFill>
                <a:latin typeface="Inter"/>
                <a:ea typeface="Inter"/>
                <a:cs typeface="Inter"/>
                <a:sym typeface="Inter"/>
              </a:rPr>
              <a:t>Lazada also giving a good push on D.D with </a:t>
            </a:r>
            <a:r>
              <a:rPr lang="en" sz="900">
                <a:solidFill>
                  <a:srgbClr val="595959"/>
                </a:solidFill>
                <a:latin typeface="Inter"/>
                <a:ea typeface="Inter"/>
                <a:cs typeface="Inter"/>
                <a:sym typeface="Inter"/>
              </a:rPr>
              <a:t>subsidy</a:t>
            </a:r>
            <a:r>
              <a:rPr lang="en" sz="900">
                <a:solidFill>
                  <a:srgbClr val="595959"/>
                </a:solidFill>
                <a:latin typeface="Inter"/>
                <a:ea typeface="Inter"/>
                <a:cs typeface="Inter"/>
                <a:sym typeface="Inter"/>
              </a:rPr>
              <a:t> increased also by </a:t>
            </a:r>
            <a:r>
              <a:rPr b="1" lang="en" sz="900">
                <a:solidFill>
                  <a:srgbClr val="595959"/>
                </a:solidFill>
                <a:latin typeface="Inter"/>
                <a:ea typeface="Inter"/>
                <a:cs typeface="Inter"/>
                <a:sym typeface="Inter"/>
              </a:rPr>
              <a:t>44%</a:t>
            </a:r>
            <a:r>
              <a:rPr lang="en" sz="900">
                <a:solidFill>
                  <a:srgbClr val="595959"/>
                </a:solidFill>
                <a:latin typeface="Inter"/>
                <a:ea typeface="Inter"/>
                <a:cs typeface="Inter"/>
                <a:sym typeface="Inter"/>
              </a:rPr>
              <a:t> and NMV growth by </a:t>
            </a:r>
            <a:r>
              <a:rPr b="1" lang="en" sz="900">
                <a:solidFill>
                  <a:srgbClr val="595959"/>
                </a:solidFill>
                <a:latin typeface="Inter"/>
                <a:ea typeface="Inter"/>
                <a:cs typeface="Inter"/>
                <a:sym typeface="Inter"/>
              </a:rPr>
              <a:t>29%</a:t>
            </a:r>
            <a:r>
              <a:rPr lang="en" sz="900">
                <a:solidFill>
                  <a:srgbClr val="595959"/>
                </a:solidFill>
                <a:latin typeface="Inter"/>
                <a:ea typeface="Inter"/>
                <a:cs typeface="Inter"/>
                <a:sym typeface="Inter"/>
              </a:rPr>
              <a:t> meanwhile CR increased by</a:t>
            </a:r>
            <a:r>
              <a:rPr b="1" lang="en" sz="900">
                <a:solidFill>
                  <a:srgbClr val="595959"/>
                </a:solidFill>
                <a:latin typeface="Inter"/>
                <a:ea typeface="Inter"/>
                <a:cs typeface="Inter"/>
                <a:sym typeface="Inter"/>
              </a:rPr>
              <a:t> 4pp</a:t>
            </a:r>
            <a:endParaRPr b="1" sz="900">
              <a:solidFill>
                <a:srgbClr val="595959"/>
              </a:solidFill>
              <a:latin typeface="Inter"/>
              <a:ea typeface="Inter"/>
              <a:cs typeface="Inter"/>
              <a:sym typeface="Inter"/>
            </a:endParaRPr>
          </a:p>
        </p:txBody>
      </p:sp>
      <p:graphicFrame>
        <p:nvGraphicFramePr>
          <p:cNvPr id="211" name="Google Shape;211;p38"/>
          <p:cNvGraphicFramePr/>
          <p:nvPr/>
        </p:nvGraphicFramePr>
        <p:xfrm>
          <a:off x="5847763" y="2847975"/>
          <a:ext cx="3000000" cy="3000000"/>
        </p:xfrm>
        <a:graphic>
          <a:graphicData uri="http://schemas.openxmlformats.org/drawingml/2006/table">
            <a:tbl>
              <a:tblPr>
                <a:noFill/>
                <a:tableStyleId>{05CF1300-53F3-430B-9C35-424554A46B0A}</a:tableStyleId>
              </a:tblPr>
              <a:tblGrid>
                <a:gridCol w="1133475"/>
                <a:gridCol w="876300"/>
                <a:gridCol w="752475"/>
              </a:tblGrid>
              <a:tr h="200025">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Channel Contribution</a:t>
                      </a:r>
                      <a:endParaRPr b="1" sz="800">
                        <a:solidFill>
                          <a:srgbClr val="FFFFFF"/>
                        </a:solidFill>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MTD</a:t>
                      </a:r>
                      <a:endParaRPr b="1" sz="800">
                        <a:solidFill>
                          <a:srgbClr val="FFFFFF"/>
                        </a:solidFill>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MTD-1</a:t>
                      </a:r>
                      <a:endParaRPr b="1" sz="800">
                        <a:solidFill>
                          <a:srgbClr val="FFFFFF"/>
                        </a:solidFill>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37DC5"/>
                    </a:solidFill>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Ads</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86%</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79%</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Affiliate</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27%</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36%</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Live Streaming</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17%</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13%</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graphicFrame>
        <p:nvGraphicFramePr>
          <p:cNvPr id="212" name="Google Shape;212;p38"/>
          <p:cNvGraphicFramePr/>
          <p:nvPr/>
        </p:nvGraphicFramePr>
        <p:xfrm>
          <a:off x="279600" y="2847975"/>
          <a:ext cx="3000000" cy="3000000"/>
        </p:xfrm>
        <a:graphic>
          <a:graphicData uri="http://schemas.openxmlformats.org/drawingml/2006/table">
            <a:tbl>
              <a:tblPr>
                <a:noFill/>
                <a:tableStyleId>{05CF1300-53F3-430B-9C35-424554A46B0A}</a:tableStyleId>
              </a:tblPr>
              <a:tblGrid>
                <a:gridCol w="895350"/>
                <a:gridCol w="866775"/>
                <a:gridCol w="847725"/>
                <a:gridCol w="952500"/>
                <a:gridCol w="952500"/>
                <a:gridCol w="952500"/>
              </a:tblGrid>
              <a:tr h="200025">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Metrics</a:t>
                      </a:r>
                      <a:endParaRPr b="1" sz="800">
                        <a:solidFill>
                          <a:srgbClr val="FFFFFF"/>
                        </a:solidFill>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Impression</a:t>
                      </a:r>
                      <a:endParaRPr b="1" sz="800">
                        <a:solidFill>
                          <a:srgbClr val="FFFFFF"/>
                        </a:solidFill>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Clicks</a:t>
                      </a:r>
                      <a:endParaRPr b="1" sz="800">
                        <a:solidFill>
                          <a:srgbClr val="FFFFFF"/>
                        </a:solidFill>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GMV</a:t>
                      </a:r>
                      <a:endParaRPr b="1" sz="800">
                        <a:solidFill>
                          <a:srgbClr val="FFFFFF"/>
                        </a:solidFill>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Spend</a:t>
                      </a:r>
                      <a:endParaRPr b="1" sz="800">
                        <a:solidFill>
                          <a:srgbClr val="FFFFFF"/>
                        </a:solidFill>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37DC5"/>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Roi</a:t>
                      </a:r>
                      <a:endParaRPr b="1" sz="800">
                        <a:solidFill>
                          <a:srgbClr val="FFFFFF"/>
                        </a:solidFill>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37DC5"/>
                    </a:solidFill>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9.9</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2,743,716</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91,858</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1,240,000,000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128,220,000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9.7</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8.8</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1,656,480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51,023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893,182,016</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99,959,684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8.9</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Growth</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66%</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80%</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39%</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28%</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8%</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bl>
          </a:graphicData>
        </a:graphic>
      </p:graphicFrame>
      <p:sp>
        <p:nvSpPr>
          <p:cNvPr id="213" name="Google Shape;213;p38"/>
          <p:cNvSpPr/>
          <p:nvPr/>
        </p:nvSpPr>
        <p:spPr>
          <a:xfrm>
            <a:off x="1174950" y="1632550"/>
            <a:ext cx="1918500" cy="228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38"/>
          <p:cNvSpPr/>
          <p:nvPr/>
        </p:nvSpPr>
        <p:spPr>
          <a:xfrm>
            <a:off x="1174950" y="3448050"/>
            <a:ext cx="4572000" cy="200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38"/>
          <p:cNvSpPr/>
          <p:nvPr/>
        </p:nvSpPr>
        <p:spPr>
          <a:xfrm>
            <a:off x="7161150" y="2507725"/>
            <a:ext cx="989400" cy="200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38"/>
          <p:cNvSpPr/>
          <p:nvPr/>
        </p:nvSpPr>
        <p:spPr>
          <a:xfrm>
            <a:off x="6903550" y="1625000"/>
            <a:ext cx="952500" cy="200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9"/>
          <p:cNvSpPr txBox="1"/>
          <p:nvPr/>
        </p:nvSpPr>
        <p:spPr>
          <a:xfrm>
            <a:off x="174550" y="3732400"/>
            <a:ext cx="8889900" cy="1000200"/>
          </a:xfrm>
          <a:prstGeom prst="rect">
            <a:avLst/>
          </a:prstGeom>
          <a:noFill/>
          <a:ln>
            <a:noFill/>
          </a:ln>
        </p:spPr>
        <p:txBody>
          <a:bodyPr anchorCtr="0" anchor="t" bIns="91425" lIns="91425" spcFirstLastPara="1" rIns="91425" wrap="square" tIns="91425">
            <a:noAutofit/>
          </a:bodyPr>
          <a:lstStyle/>
          <a:p>
            <a:pPr indent="-279400" lvl="0" marL="457200" rtl="0" algn="l">
              <a:lnSpc>
                <a:spcPct val="115000"/>
              </a:lnSpc>
              <a:spcBef>
                <a:spcPts val="1000"/>
              </a:spcBef>
              <a:spcAft>
                <a:spcPts val="0"/>
              </a:spcAft>
              <a:buClr>
                <a:schemeClr val="dk2"/>
              </a:buClr>
              <a:buSzPts val="800"/>
              <a:buFont typeface="Inter"/>
              <a:buChar char="●"/>
            </a:pPr>
            <a:r>
              <a:rPr lang="en" sz="800">
                <a:solidFill>
                  <a:schemeClr val="dk2"/>
                </a:solidFill>
                <a:latin typeface="Inter"/>
                <a:ea typeface="Inter"/>
                <a:cs typeface="Inter"/>
                <a:sym typeface="Inter"/>
              </a:rPr>
              <a:t>Polident Decreased on overall </a:t>
            </a:r>
            <a:r>
              <a:rPr lang="en" sz="800">
                <a:solidFill>
                  <a:schemeClr val="dk2"/>
                </a:solidFill>
                <a:latin typeface="Inter"/>
                <a:ea typeface="Inter"/>
                <a:cs typeface="Inter"/>
                <a:sym typeface="Inter"/>
              </a:rPr>
              <a:t>month</a:t>
            </a:r>
            <a:r>
              <a:rPr lang="en" sz="800">
                <a:solidFill>
                  <a:schemeClr val="dk2"/>
                </a:solidFill>
                <a:latin typeface="Inter"/>
                <a:ea typeface="Inter"/>
                <a:cs typeface="Inter"/>
                <a:sym typeface="Inter"/>
              </a:rPr>
              <a:t> partly due </a:t>
            </a:r>
            <a:r>
              <a:rPr b="1" lang="en" sz="800">
                <a:solidFill>
                  <a:schemeClr val="dk2"/>
                </a:solidFill>
                <a:latin typeface="Inter"/>
                <a:ea typeface="Inter"/>
                <a:cs typeface="Inter"/>
                <a:sym typeface="Inter"/>
              </a:rPr>
              <a:t>Cofund </a:t>
            </a:r>
            <a:r>
              <a:rPr lang="en" sz="800">
                <a:solidFill>
                  <a:schemeClr val="dk2"/>
                </a:solidFill>
                <a:latin typeface="Inter"/>
                <a:ea typeface="Inter"/>
                <a:cs typeface="Inter"/>
                <a:sym typeface="Inter"/>
              </a:rPr>
              <a:t>support that been withdrawn by shopee sides on august, which also the reason the uplift on polident are lower on August, other than that on overall Channel partly decreased on Livestreaming and Affiliates by </a:t>
            </a:r>
            <a:r>
              <a:rPr b="1" lang="en" sz="800">
                <a:solidFill>
                  <a:schemeClr val="dk2"/>
                </a:solidFill>
                <a:latin typeface="Inter"/>
                <a:ea typeface="Inter"/>
                <a:cs typeface="Inter"/>
                <a:sym typeface="Inter"/>
              </a:rPr>
              <a:t>-9% &amp; -7%</a:t>
            </a:r>
            <a:r>
              <a:rPr lang="en" sz="800">
                <a:solidFill>
                  <a:schemeClr val="dk2"/>
                </a:solidFill>
                <a:latin typeface="Inter"/>
                <a:ea typeface="Inter"/>
                <a:cs typeface="Inter"/>
                <a:sym typeface="Inter"/>
              </a:rPr>
              <a:t>, also on Product Ads by spending are lower compared to July since the overall budget on August is lower also compared to July.</a:t>
            </a:r>
            <a:endParaRPr sz="800">
              <a:solidFill>
                <a:schemeClr val="dk2"/>
              </a:solidFill>
              <a:latin typeface="Inter"/>
              <a:ea typeface="Inter"/>
              <a:cs typeface="Inter"/>
              <a:sym typeface="Inter"/>
            </a:endParaRPr>
          </a:p>
          <a:p>
            <a:pPr indent="-279400" lvl="0" marL="457200" rtl="0" algn="l">
              <a:lnSpc>
                <a:spcPct val="115000"/>
              </a:lnSpc>
              <a:spcBef>
                <a:spcPts val="1000"/>
              </a:spcBef>
              <a:spcAft>
                <a:spcPts val="1000"/>
              </a:spcAft>
              <a:buClr>
                <a:schemeClr val="dk2"/>
              </a:buClr>
              <a:buSzPts val="800"/>
              <a:buFont typeface="Inter"/>
              <a:buChar char="●"/>
            </a:pPr>
            <a:r>
              <a:rPr lang="en" sz="800">
                <a:solidFill>
                  <a:schemeClr val="dk2"/>
                </a:solidFill>
                <a:latin typeface="Inter"/>
                <a:ea typeface="Inter"/>
                <a:cs typeface="Inter"/>
                <a:sym typeface="Inter"/>
              </a:rPr>
              <a:t>Scott's increased by </a:t>
            </a:r>
            <a:r>
              <a:rPr b="1" lang="en" sz="800">
                <a:solidFill>
                  <a:schemeClr val="dk2"/>
                </a:solidFill>
                <a:latin typeface="Inter"/>
                <a:ea typeface="Inter"/>
                <a:cs typeface="Inter"/>
                <a:sym typeface="Inter"/>
              </a:rPr>
              <a:t>20.65%</a:t>
            </a:r>
            <a:r>
              <a:rPr lang="en" sz="800">
                <a:solidFill>
                  <a:schemeClr val="dk2"/>
                </a:solidFill>
                <a:latin typeface="Inter"/>
                <a:ea typeface="Inter"/>
                <a:cs typeface="Inter"/>
                <a:sym typeface="Inter"/>
              </a:rPr>
              <a:t>, with its contribution now higher than Polident's, unlike in July. Even though the top SKU was OOS, it still grew overall, helped by channel activation from affiliates tapping into Mega KOLs. Polident on Lazada </a:t>
            </a:r>
            <a:r>
              <a:rPr lang="en" sz="800">
                <a:solidFill>
                  <a:schemeClr val="dk2"/>
                </a:solidFill>
                <a:latin typeface="Inter"/>
                <a:ea typeface="Inter"/>
                <a:cs typeface="Inter"/>
                <a:sym typeface="Inter"/>
              </a:rPr>
              <a:t>contribution</a:t>
            </a:r>
            <a:r>
              <a:rPr lang="en" sz="800">
                <a:solidFill>
                  <a:schemeClr val="dk2"/>
                </a:solidFill>
                <a:latin typeface="Inter"/>
                <a:ea typeface="Inter"/>
                <a:cs typeface="Inter"/>
                <a:sym typeface="Inter"/>
              </a:rPr>
              <a:t> growing higher compare to </a:t>
            </a:r>
            <a:r>
              <a:rPr lang="en" sz="800">
                <a:solidFill>
                  <a:schemeClr val="dk2"/>
                </a:solidFill>
                <a:latin typeface="Inter"/>
                <a:ea typeface="Inter"/>
                <a:cs typeface="Inter"/>
                <a:sym typeface="Inter"/>
              </a:rPr>
              <a:t>other month which hit </a:t>
            </a:r>
            <a:r>
              <a:rPr b="1" lang="en" sz="800">
                <a:solidFill>
                  <a:schemeClr val="dk2"/>
                </a:solidFill>
                <a:latin typeface="Inter"/>
                <a:ea typeface="Inter"/>
                <a:cs typeface="Inter"/>
                <a:sym typeface="Inter"/>
              </a:rPr>
              <a:t>60% </a:t>
            </a:r>
            <a:r>
              <a:rPr lang="en" sz="800">
                <a:solidFill>
                  <a:schemeClr val="dk2"/>
                </a:solidFill>
                <a:latin typeface="Inter"/>
                <a:ea typeface="Inter"/>
                <a:cs typeface="Inter"/>
                <a:sym typeface="Inter"/>
              </a:rPr>
              <a:t>due to other channel dropped especially on Sensodyne since the Subsidy on Lazada are lower this month.</a:t>
            </a:r>
            <a:endParaRPr sz="800">
              <a:solidFill>
                <a:schemeClr val="dk2"/>
              </a:solidFill>
              <a:latin typeface="Inter"/>
              <a:ea typeface="Inter"/>
              <a:cs typeface="Inter"/>
              <a:sym typeface="Inter"/>
            </a:endParaRPr>
          </a:p>
        </p:txBody>
      </p:sp>
      <p:sp>
        <p:nvSpPr>
          <p:cNvPr id="222" name="Google Shape;222;p39"/>
          <p:cNvSpPr txBox="1"/>
          <p:nvPr>
            <p:ph idx="12" type="sldNum"/>
          </p:nvPr>
        </p:nvSpPr>
        <p:spPr>
          <a:xfrm>
            <a:off x="8994150" y="4794565"/>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sp>
        <p:nvSpPr>
          <p:cNvPr id="223" name="Google Shape;223;p39"/>
          <p:cNvSpPr txBox="1"/>
          <p:nvPr>
            <p:ph type="ctrTitle"/>
          </p:nvPr>
        </p:nvSpPr>
        <p:spPr>
          <a:xfrm>
            <a:off x="174550" y="131975"/>
            <a:ext cx="8655600" cy="695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B2C Shopee &amp; Lazada Performance</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B2C Brand Performance</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rPr i="1" lang="en" sz="1200">
                <a:solidFill>
                  <a:srgbClr val="3880C1"/>
                </a:solidFill>
                <a:latin typeface="Inter"/>
                <a:ea typeface="Inter"/>
                <a:cs typeface="Inter"/>
                <a:sym typeface="Inter"/>
              </a:rPr>
              <a:t>Scott’s growing by </a:t>
            </a:r>
            <a:r>
              <a:rPr b="1" i="1" lang="en" sz="1200">
                <a:solidFill>
                  <a:srgbClr val="3880C1"/>
                </a:solidFill>
                <a:latin typeface="Inter"/>
                <a:ea typeface="Inter"/>
                <a:cs typeface="Inter"/>
                <a:sym typeface="Inter"/>
              </a:rPr>
              <a:t>20% </a:t>
            </a:r>
            <a:r>
              <a:rPr i="1" lang="en" sz="1200">
                <a:solidFill>
                  <a:srgbClr val="3880C1"/>
                </a:solidFill>
                <a:latin typeface="Inter"/>
                <a:ea typeface="Inter"/>
                <a:cs typeface="Inter"/>
                <a:sym typeface="Inter"/>
              </a:rPr>
              <a:t>while Polident showing declined on shopee meanwhile on lazada Polident Contribution rise to </a:t>
            </a:r>
            <a:r>
              <a:rPr b="1" i="1" lang="en" sz="1200">
                <a:solidFill>
                  <a:srgbClr val="3880C1"/>
                </a:solidFill>
                <a:latin typeface="Inter"/>
                <a:ea typeface="Inter"/>
                <a:cs typeface="Inter"/>
                <a:sym typeface="Inter"/>
              </a:rPr>
              <a:t>60%</a:t>
            </a:r>
            <a:endParaRPr b="1" i="1" sz="1200">
              <a:solidFill>
                <a:srgbClr val="3880C1"/>
              </a:solidFill>
              <a:latin typeface="Inter"/>
              <a:ea typeface="Inter"/>
              <a:cs typeface="Inter"/>
              <a:sym typeface="Inter"/>
            </a:endParaRPr>
          </a:p>
        </p:txBody>
      </p:sp>
      <p:pic>
        <p:nvPicPr>
          <p:cNvPr id="224" name="Google Shape;224;p39"/>
          <p:cNvPicPr preferRelativeResize="0"/>
          <p:nvPr/>
        </p:nvPicPr>
        <p:blipFill rotWithShape="1">
          <a:blip r:embed="rId4">
            <a:alphaModFix/>
          </a:blip>
          <a:srcRect b="0" l="0" r="0" t="0"/>
          <a:stretch/>
        </p:blipFill>
        <p:spPr>
          <a:xfrm rot="10800000">
            <a:off x="-4151" y="0"/>
            <a:ext cx="9148151" cy="79825"/>
          </a:xfrm>
          <a:prstGeom prst="rect">
            <a:avLst/>
          </a:prstGeom>
          <a:noFill/>
          <a:ln>
            <a:noFill/>
          </a:ln>
        </p:spPr>
      </p:pic>
      <p:pic>
        <p:nvPicPr>
          <p:cNvPr id="225" name="Google Shape;225;p39"/>
          <p:cNvPicPr preferRelativeResize="0"/>
          <p:nvPr/>
        </p:nvPicPr>
        <p:blipFill rotWithShape="1">
          <a:blip r:embed="rId5">
            <a:alphaModFix/>
          </a:blip>
          <a:srcRect b="0" l="0" r="0" t="12564"/>
          <a:stretch/>
        </p:blipFill>
        <p:spPr>
          <a:xfrm>
            <a:off x="7406900" y="121550"/>
            <a:ext cx="634924" cy="451775"/>
          </a:xfrm>
          <a:prstGeom prst="rect">
            <a:avLst/>
          </a:prstGeom>
          <a:noFill/>
          <a:ln>
            <a:noFill/>
          </a:ln>
        </p:spPr>
      </p:pic>
      <p:sp>
        <p:nvSpPr>
          <p:cNvPr id="226" name="Google Shape;226;p39"/>
          <p:cNvSpPr/>
          <p:nvPr/>
        </p:nvSpPr>
        <p:spPr>
          <a:xfrm>
            <a:off x="174550" y="3584850"/>
            <a:ext cx="8732100" cy="1476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000" u="none" cap="none" strike="noStrike">
                <a:solidFill>
                  <a:schemeClr val="lt1"/>
                </a:solidFill>
                <a:latin typeface="Inter"/>
                <a:ea typeface="Inter"/>
                <a:cs typeface="Inter"/>
                <a:sym typeface="Inter"/>
              </a:rPr>
              <a:t>Key Highlights</a:t>
            </a:r>
            <a:endParaRPr b="1" i="0" sz="1000" u="none" cap="none" strike="noStrike">
              <a:solidFill>
                <a:schemeClr val="lt1"/>
              </a:solidFill>
              <a:latin typeface="Inter"/>
              <a:ea typeface="Inter"/>
              <a:cs typeface="Inter"/>
              <a:sym typeface="Inter"/>
            </a:endParaRPr>
          </a:p>
        </p:txBody>
      </p:sp>
      <p:graphicFrame>
        <p:nvGraphicFramePr>
          <p:cNvPr id="227" name="Google Shape;227;p39"/>
          <p:cNvGraphicFramePr/>
          <p:nvPr/>
        </p:nvGraphicFramePr>
        <p:xfrm>
          <a:off x="9174600" y="121550"/>
          <a:ext cx="3000000" cy="3000000"/>
        </p:xfrm>
        <a:graphic>
          <a:graphicData uri="http://schemas.openxmlformats.org/drawingml/2006/table">
            <a:tbl>
              <a:tblPr>
                <a:noFill/>
                <a:tableStyleId>{05CF1300-53F3-430B-9C35-424554A46B0A}</a:tableStyleId>
              </a:tblPr>
              <a:tblGrid>
                <a:gridCol w="1267075"/>
                <a:gridCol w="1267075"/>
                <a:gridCol w="1267075"/>
                <a:gridCol w="1267075"/>
              </a:tblGrid>
              <a:tr h="236925">
                <a:tc gridSpan="4">
                  <a:txBody>
                    <a:bodyPr/>
                    <a:lstStyle/>
                    <a:p>
                      <a:pPr indent="0" lvl="0" marL="0" rtl="0" algn="ctr">
                        <a:lnSpc>
                          <a:spcPct val="115000"/>
                        </a:lnSpc>
                        <a:spcBef>
                          <a:spcPts val="0"/>
                        </a:spcBef>
                        <a:spcAft>
                          <a:spcPts val="0"/>
                        </a:spcAft>
                        <a:buNone/>
                      </a:pPr>
                      <a:r>
                        <a:rPr b="1" lang="en" sz="1000">
                          <a:latin typeface="Inter"/>
                          <a:ea typeface="Inter"/>
                          <a:cs typeface="Inter"/>
                          <a:sym typeface="Inter"/>
                        </a:rPr>
                        <a:t>Shopee</a:t>
                      </a:r>
                      <a:endParaRPr b="1"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hMerge="1"/>
                <a:tc hMerge="1"/>
                <a:tc hMerge="1"/>
              </a:tr>
              <a:tr h="236925">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Brand</a:t>
                      </a:r>
                      <a:endParaRPr b="1"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NMV</a:t>
                      </a:r>
                      <a:endParaRPr b="1"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Contri %</a:t>
                      </a:r>
                      <a:endParaRPr b="1"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Growth MTD-1</a:t>
                      </a:r>
                      <a:endParaRPr b="1"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r>
              <a:tr h="236925">
                <a:tc>
                  <a:txBody>
                    <a:bodyPr/>
                    <a:lstStyle/>
                    <a:p>
                      <a:pPr indent="0" lvl="0" marL="0" rtl="0" algn="ctr">
                        <a:lnSpc>
                          <a:spcPct val="115000"/>
                        </a:lnSpc>
                        <a:spcBef>
                          <a:spcPts val="0"/>
                        </a:spcBef>
                        <a:spcAft>
                          <a:spcPts val="0"/>
                        </a:spcAft>
                        <a:buNone/>
                      </a:pPr>
                      <a:r>
                        <a:rPr lang="en" sz="1000">
                          <a:latin typeface="Inter"/>
                          <a:ea typeface="Inter"/>
                          <a:cs typeface="Inter"/>
                          <a:sym typeface="Inter"/>
                        </a:rPr>
                        <a:t>Sensodyne</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2,593,592,763</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44.25%</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-0.5%</a:t>
                      </a:r>
                      <a:endParaRPr b="1"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36925">
                <a:tc>
                  <a:txBody>
                    <a:bodyPr/>
                    <a:lstStyle/>
                    <a:p>
                      <a:pPr indent="0" lvl="0" marL="0" rtl="0" algn="ctr">
                        <a:lnSpc>
                          <a:spcPct val="115000"/>
                        </a:lnSpc>
                        <a:spcBef>
                          <a:spcPts val="0"/>
                        </a:spcBef>
                        <a:spcAft>
                          <a:spcPts val="0"/>
                        </a:spcAft>
                        <a:buNone/>
                      </a:pPr>
                      <a:r>
                        <a:rPr lang="en" sz="1000">
                          <a:latin typeface="Inter"/>
                          <a:ea typeface="Inter"/>
                          <a:cs typeface="Inter"/>
                          <a:sym typeface="Inter"/>
                        </a:rPr>
                        <a:t>Polident</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1,432,194,183</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24.43%</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-13%</a:t>
                      </a:r>
                      <a:endParaRPr b="1"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36925">
                <a:tc>
                  <a:txBody>
                    <a:bodyPr/>
                    <a:lstStyle/>
                    <a:p>
                      <a:pPr indent="0" lvl="0" marL="0" rtl="0" algn="ctr">
                        <a:lnSpc>
                          <a:spcPct val="115000"/>
                        </a:lnSpc>
                        <a:spcBef>
                          <a:spcPts val="0"/>
                        </a:spcBef>
                        <a:spcAft>
                          <a:spcPts val="0"/>
                        </a:spcAft>
                        <a:buNone/>
                      </a:pPr>
                      <a:r>
                        <a:rPr lang="en" sz="1000">
                          <a:latin typeface="Inter"/>
                          <a:ea typeface="Inter"/>
                          <a:cs typeface="Inter"/>
                          <a:sym typeface="Inter"/>
                        </a:rPr>
                        <a:t>Scott's</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1,943,032,598</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33.15%</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21%</a:t>
                      </a:r>
                      <a:endParaRPr b="1"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236925">
                <a:tc>
                  <a:txBody>
                    <a:bodyPr/>
                    <a:lstStyle/>
                    <a:p>
                      <a:pPr indent="0" lvl="0" marL="0" rtl="0" algn="ctr">
                        <a:lnSpc>
                          <a:spcPct val="115000"/>
                        </a:lnSpc>
                        <a:spcBef>
                          <a:spcPts val="0"/>
                        </a:spcBef>
                        <a:spcAft>
                          <a:spcPts val="0"/>
                        </a:spcAft>
                        <a:buNone/>
                      </a:pPr>
                      <a:r>
                        <a:rPr lang="en" sz="1000">
                          <a:latin typeface="Inter"/>
                          <a:ea typeface="Inter"/>
                          <a:cs typeface="Inter"/>
                          <a:sym typeface="Inter"/>
                        </a:rPr>
                        <a:t>Centrum</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23,113,573</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0.39%</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0%</a:t>
                      </a:r>
                      <a:endParaRPr b="1"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bl>
          </a:graphicData>
        </a:graphic>
      </p:graphicFrame>
      <p:graphicFrame>
        <p:nvGraphicFramePr>
          <p:cNvPr id="228" name="Google Shape;228;p39"/>
          <p:cNvGraphicFramePr/>
          <p:nvPr/>
        </p:nvGraphicFramePr>
        <p:xfrm>
          <a:off x="174556" y="967450"/>
          <a:ext cx="3000000" cy="3000000"/>
        </p:xfrm>
        <a:graphic>
          <a:graphicData uri="http://schemas.openxmlformats.org/drawingml/2006/table">
            <a:tbl>
              <a:tblPr>
                <a:noFill/>
                <a:tableStyleId>{05CF1300-53F3-430B-9C35-424554A46B0A}</a:tableStyleId>
              </a:tblPr>
              <a:tblGrid>
                <a:gridCol w="1097800"/>
                <a:gridCol w="1032600"/>
                <a:gridCol w="1010850"/>
                <a:gridCol w="1097800"/>
              </a:tblGrid>
              <a:tr h="200025">
                <a:tc gridSpan="4">
                  <a:txBody>
                    <a:bodyPr/>
                    <a:lstStyle/>
                    <a:p>
                      <a:pPr indent="0" lvl="0" marL="0" rtl="0" algn="ctr">
                        <a:lnSpc>
                          <a:spcPct val="115000"/>
                        </a:lnSpc>
                        <a:spcBef>
                          <a:spcPts val="0"/>
                        </a:spcBef>
                        <a:spcAft>
                          <a:spcPts val="0"/>
                        </a:spcAft>
                        <a:buNone/>
                      </a:pPr>
                      <a:r>
                        <a:rPr b="1" lang="en" sz="800">
                          <a:latin typeface="Inter"/>
                          <a:ea typeface="Inter"/>
                          <a:cs typeface="Inter"/>
                          <a:sym typeface="Inter"/>
                        </a:rPr>
                        <a:t>Shopee</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hMerge="1"/>
                <a:tc hMerge="1"/>
                <a:tc hMerge="1"/>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Brand</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NMV</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Contri %</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Growth MTD-1</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Sensodyne</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2,593,592,763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44.25%</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-0.5%</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Polident</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1,432,194,183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24.43%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-13%</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Scott's</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1,943,032,598</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33.15%</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21%</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Centrum</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23,113,573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0.39%</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0%</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Total</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5,968,819,544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101.83%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bl>
          </a:graphicData>
        </a:graphic>
      </p:graphicFrame>
      <p:graphicFrame>
        <p:nvGraphicFramePr>
          <p:cNvPr id="229" name="Google Shape;229;p39"/>
          <p:cNvGraphicFramePr/>
          <p:nvPr/>
        </p:nvGraphicFramePr>
        <p:xfrm>
          <a:off x="4730406" y="967450"/>
          <a:ext cx="3000000" cy="3000000"/>
        </p:xfrm>
        <a:graphic>
          <a:graphicData uri="http://schemas.openxmlformats.org/drawingml/2006/table">
            <a:tbl>
              <a:tblPr>
                <a:noFill/>
                <a:tableStyleId>{05CF1300-53F3-430B-9C35-424554A46B0A}</a:tableStyleId>
              </a:tblPr>
              <a:tblGrid>
                <a:gridCol w="1061750"/>
                <a:gridCol w="998675"/>
                <a:gridCol w="977650"/>
                <a:gridCol w="1061750"/>
              </a:tblGrid>
              <a:tr h="200025">
                <a:tc gridSpan="4">
                  <a:txBody>
                    <a:bodyPr/>
                    <a:lstStyle/>
                    <a:p>
                      <a:pPr indent="0" lvl="0" marL="0" rtl="0" algn="ctr">
                        <a:lnSpc>
                          <a:spcPct val="115000"/>
                        </a:lnSpc>
                        <a:spcBef>
                          <a:spcPts val="0"/>
                        </a:spcBef>
                        <a:spcAft>
                          <a:spcPts val="0"/>
                        </a:spcAft>
                        <a:buNone/>
                      </a:pPr>
                      <a:r>
                        <a:rPr b="1" lang="en" sz="800">
                          <a:latin typeface="Inter"/>
                          <a:ea typeface="Inter"/>
                          <a:cs typeface="Inter"/>
                          <a:sym typeface="Inter"/>
                        </a:rPr>
                        <a:t>Lazada</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c hMerge="1"/>
                <a:tc hMerge="1"/>
                <a:tc hMerge="1"/>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Brand</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NMV</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Contri %</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Growth MTD-1</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Sensodyne</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68,777,872</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25.18%</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-30%</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Polident</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164,371,589</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60.17%</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24%</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Scott's</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34,937,783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12.79%</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-18%</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Centrum</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840,000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0.01%</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0%</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Total</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268,087,244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98.14%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bl>
          </a:graphicData>
        </a:graphic>
      </p:graphicFrame>
      <p:graphicFrame>
        <p:nvGraphicFramePr>
          <p:cNvPr id="230" name="Google Shape;230;p39"/>
          <p:cNvGraphicFramePr/>
          <p:nvPr/>
        </p:nvGraphicFramePr>
        <p:xfrm>
          <a:off x="174550" y="2508025"/>
          <a:ext cx="3000000" cy="3000000"/>
        </p:xfrm>
        <a:graphic>
          <a:graphicData uri="http://schemas.openxmlformats.org/drawingml/2006/table">
            <a:tbl>
              <a:tblPr>
                <a:noFill/>
                <a:tableStyleId>{05CF1300-53F3-430B-9C35-424554A46B0A}</a:tableStyleId>
              </a:tblPr>
              <a:tblGrid>
                <a:gridCol w="723900"/>
                <a:gridCol w="904875"/>
                <a:gridCol w="628650"/>
                <a:gridCol w="1066800"/>
                <a:gridCol w="790575"/>
                <a:gridCol w="914400"/>
                <a:gridCol w="628650"/>
              </a:tblGrid>
              <a:tr h="200025">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Shopee</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Ads</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Growth %</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Affiliate</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Growth %</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Live Streaming</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Growth %</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r>
              <a:tr h="200025">
                <a:tc>
                  <a:txBody>
                    <a:bodyPr/>
                    <a:lstStyle/>
                    <a:p>
                      <a:pPr indent="0" lvl="0" marL="0" rtl="0" algn="l">
                        <a:lnSpc>
                          <a:spcPct val="115000"/>
                        </a:lnSpc>
                        <a:spcBef>
                          <a:spcPts val="0"/>
                        </a:spcBef>
                        <a:spcAft>
                          <a:spcPts val="0"/>
                        </a:spcAft>
                        <a:buNone/>
                      </a:pPr>
                      <a:r>
                        <a:rPr lang="en" sz="800"/>
                        <a:t>Sensodyne</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1,087,858,428</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-3%</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en" sz="800"/>
                        <a:t>1,014,041,100</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5%</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en" sz="800"/>
                        <a:t>433,086,992</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0.3%</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200025">
                <a:tc>
                  <a:txBody>
                    <a:bodyPr/>
                    <a:lstStyle/>
                    <a:p>
                      <a:pPr indent="0" lvl="0" marL="0" rtl="0" algn="l">
                        <a:lnSpc>
                          <a:spcPct val="115000"/>
                        </a:lnSpc>
                        <a:spcBef>
                          <a:spcPts val="0"/>
                        </a:spcBef>
                        <a:spcAft>
                          <a:spcPts val="0"/>
                        </a:spcAft>
                        <a:buNone/>
                      </a:pPr>
                      <a:r>
                        <a:rPr lang="en" sz="800"/>
                        <a:t>Polident</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599,705,512</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-22%</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en" sz="800"/>
                        <a:t>602,803,463</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-7%</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en" sz="800"/>
                        <a:t>218,897,033</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-9%</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00025">
                <a:tc>
                  <a:txBody>
                    <a:bodyPr/>
                    <a:lstStyle/>
                    <a:p>
                      <a:pPr indent="0" lvl="0" marL="0" rtl="0" algn="l">
                        <a:lnSpc>
                          <a:spcPct val="115000"/>
                        </a:lnSpc>
                        <a:spcBef>
                          <a:spcPts val="0"/>
                        </a:spcBef>
                        <a:spcAft>
                          <a:spcPts val="0"/>
                        </a:spcAft>
                        <a:buNone/>
                      </a:pPr>
                      <a:r>
                        <a:rPr lang="en" sz="800"/>
                        <a:t>Scott's</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909,837,160</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en" sz="800"/>
                        <a:t>933,860,445</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32%</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en" sz="800"/>
                        <a:t>315,471,688</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-3%</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00025">
                <a:tc>
                  <a:txBody>
                    <a:bodyPr/>
                    <a:lstStyle/>
                    <a:p>
                      <a:pPr indent="0" lvl="0" marL="0" rtl="0" algn="l">
                        <a:lnSpc>
                          <a:spcPct val="115000"/>
                        </a:lnSpc>
                        <a:spcBef>
                          <a:spcPts val="0"/>
                        </a:spcBef>
                        <a:spcAft>
                          <a:spcPts val="0"/>
                        </a:spcAft>
                        <a:buNone/>
                      </a:pPr>
                      <a:r>
                        <a:rPr lang="en" sz="800"/>
                        <a:t>Centrum</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18,347,840</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0%</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en" sz="800"/>
                        <a:t>7,072,312</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0%</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en" sz="800"/>
                        <a:t>5,884,628</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0%</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bl>
          </a:graphicData>
        </a:graphic>
      </p:graphicFrame>
      <p:graphicFrame>
        <p:nvGraphicFramePr>
          <p:cNvPr id="231" name="Google Shape;231;p39"/>
          <p:cNvGraphicFramePr/>
          <p:nvPr/>
        </p:nvGraphicFramePr>
        <p:xfrm>
          <a:off x="6020275" y="2500150"/>
          <a:ext cx="3000000" cy="3000000"/>
        </p:xfrm>
        <a:graphic>
          <a:graphicData uri="http://schemas.openxmlformats.org/drawingml/2006/table">
            <a:tbl>
              <a:tblPr>
                <a:noFill/>
                <a:tableStyleId>{05CF1300-53F3-430B-9C35-424554A46B0A}</a:tableStyleId>
              </a:tblPr>
              <a:tblGrid>
                <a:gridCol w="752475"/>
                <a:gridCol w="704850"/>
                <a:gridCol w="695325"/>
                <a:gridCol w="657225"/>
              </a:tblGrid>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Polident</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July</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August</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Growth</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Single</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108,829,966</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97,255,190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-11%</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Twinpack</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86,904,274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57,376,567</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-34%</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Triplepack</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91,994,241</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94,947,000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3%</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High Bundles</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207,331,390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63,899,649</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-69%</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bl>
          </a:graphicData>
        </a:graphic>
      </p:graphicFrame>
      <p:sp>
        <p:nvSpPr>
          <p:cNvPr id="232" name="Google Shape;232;p39"/>
          <p:cNvSpPr/>
          <p:nvPr/>
        </p:nvSpPr>
        <p:spPr>
          <a:xfrm>
            <a:off x="8172925" y="2710775"/>
            <a:ext cx="657300" cy="797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39"/>
          <p:cNvSpPr/>
          <p:nvPr/>
        </p:nvSpPr>
        <p:spPr>
          <a:xfrm>
            <a:off x="174550" y="2908075"/>
            <a:ext cx="5658000" cy="1998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39"/>
          <p:cNvSpPr/>
          <p:nvPr/>
        </p:nvSpPr>
        <p:spPr>
          <a:xfrm>
            <a:off x="174550" y="1567650"/>
            <a:ext cx="4239000" cy="1998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0"/>
          <p:cNvSpPr txBox="1"/>
          <p:nvPr>
            <p:ph idx="12" type="sldNum"/>
          </p:nvPr>
        </p:nvSpPr>
        <p:spPr>
          <a:xfrm>
            <a:off x="8994150" y="4794565"/>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sp>
        <p:nvSpPr>
          <p:cNvPr id="240" name="Google Shape;240;p40"/>
          <p:cNvSpPr txBox="1"/>
          <p:nvPr>
            <p:ph type="ctrTitle"/>
          </p:nvPr>
        </p:nvSpPr>
        <p:spPr>
          <a:xfrm>
            <a:off x="132075" y="79813"/>
            <a:ext cx="8655600" cy="695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B2C Shopee &amp; Lazada TOP SKU</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B2C Top 10 SKU &amp; Bundles Performance</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rPr i="1" lang="en" sz="1200">
                <a:solidFill>
                  <a:srgbClr val="3880C1"/>
                </a:solidFill>
                <a:latin typeface="Inter"/>
                <a:ea typeface="Inter"/>
                <a:cs typeface="Inter"/>
                <a:sym typeface="Inter"/>
              </a:rPr>
              <a:t>Scott’s Original still having growth even though mid month OOS and Scott’s 200ml rise due to promotion by Mega Affiliate</a:t>
            </a:r>
            <a:endParaRPr i="1" sz="1200">
              <a:solidFill>
                <a:srgbClr val="3880C1"/>
              </a:solidFill>
              <a:latin typeface="Inter"/>
              <a:ea typeface="Inter"/>
              <a:cs typeface="Inter"/>
              <a:sym typeface="Inter"/>
            </a:endParaRPr>
          </a:p>
        </p:txBody>
      </p:sp>
      <p:pic>
        <p:nvPicPr>
          <p:cNvPr id="241" name="Google Shape;241;p40"/>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pic>
        <p:nvPicPr>
          <p:cNvPr id="242" name="Google Shape;242;p40"/>
          <p:cNvPicPr preferRelativeResize="0"/>
          <p:nvPr/>
        </p:nvPicPr>
        <p:blipFill rotWithShape="1">
          <a:blip r:embed="rId4">
            <a:alphaModFix/>
          </a:blip>
          <a:srcRect b="0" l="0" r="0" t="12564"/>
          <a:stretch/>
        </p:blipFill>
        <p:spPr>
          <a:xfrm>
            <a:off x="7406900" y="121550"/>
            <a:ext cx="634924" cy="451775"/>
          </a:xfrm>
          <a:prstGeom prst="rect">
            <a:avLst/>
          </a:prstGeom>
          <a:noFill/>
          <a:ln>
            <a:noFill/>
          </a:ln>
        </p:spPr>
      </p:pic>
      <p:sp>
        <p:nvSpPr>
          <p:cNvPr id="243" name="Google Shape;243;p40"/>
          <p:cNvSpPr/>
          <p:nvPr/>
        </p:nvSpPr>
        <p:spPr>
          <a:xfrm>
            <a:off x="6731875" y="1018300"/>
            <a:ext cx="2371800" cy="1905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lt1"/>
                </a:solidFill>
                <a:latin typeface="Inter"/>
                <a:ea typeface="Inter"/>
                <a:cs typeface="Inter"/>
                <a:sym typeface="Inter"/>
              </a:rPr>
              <a:t>Key Highlights</a:t>
            </a:r>
            <a:endParaRPr b="1" i="0" sz="1100" u="none" cap="none" strike="noStrike">
              <a:solidFill>
                <a:schemeClr val="lt1"/>
              </a:solidFill>
              <a:latin typeface="Inter"/>
              <a:ea typeface="Inter"/>
              <a:cs typeface="Inter"/>
              <a:sym typeface="Inter"/>
            </a:endParaRPr>
          </a:p>
        </p:txBody>
      </p:sp>
      <p:sp>
        <p:nvSpPr>
          <p:cNvPr id="244" name="Google Shape;244;p40"/>
          <p:cNvSpPr txBox="1"/>
          <p:nvPr/>
        </p:nvSpPr>
        <p:spPr>
          <a:xfrm>
            <a:off x="6731875" y="1208800"/>
            <a:ext cx="2287500" cy="3002400"/>
          </a:xfrm>
          <a:prstGeom prst="rect">
            <a:avLst/>
          </a:prstGeom>
          <a:noFill/>
          <a:ln>
            <a:noFill/>
          </a:ln>
        </p:spPr>
        <p:txBody>
          <a:bodyPr anchorCtr="0" anchor="t" bIns="91425" lIns="91425" spcFirstLastPara="1" rIns="91425" wrap="square" tIns="91425">
            <a:noAutofit/>
          </a:bodyPr>
          <a:lstStyle/>
          <a:p>
            <a:pPr indent="-285750" lvl="0" marL="457200" marR="0" rtl="0" algn="l">
              <a:lnSpc>
                <a:spcPct val="115000"/>
              </a:lnSpc>
              <a:spcBef>
                <a:spcPts val="1000"/>
              </a:spcBef>
              <a:spcAft>
                <a:spcPts val="0"/>
              </a:spcAft>
              <a:buClr>
                <a:schemeClr val="dk2"/>
              </a:buClr>
              <a:buSzPts val="900"/>
              <a:buFont typeface="Inter"/>
              <a:buChar char="●"/>
            </a:pPr>
            <a:r>
              <a:rPr lang="en" sz="900">
                <a:solidFill>
                  <a:schemeClr val="dk2"/>
                </a:solidFill>
                <a:latin typeface="Inter"/>
                <a:ea typeface="Inter"/>
                <a:cs typeface="Inter"/>
                <a:sym typeface="Inter"/>
              </a:rPr>
              <a:t>Scott's still dominates the Top 3, with Original growing </a:t>
            </a:r>
            <a:r>
              <a:rPr b="1" lang="en" sz="900">
                <a:solidFill>
                  <a:schemeClr val="dk2"/>
                </a:solidFill>
                <a:latin typeface="Inter"/>
                <a:ea typeface="Inter"/>
                <a:cs typeface="Inter"/>
                <a:sym typeface="Inter"/>
              </a:rPr>
              <a:t>14.81%</a:t>
            </a:r>
            <a:r>
              <a:rPr lang="en" sz="900">
                <a:solidFill>
                  <a:schemeClr val="dk2"/>
                </a:solidFill>
                <a:latin typeface="Inter"/>
                <a:ea typeface="Inter"/>
                <a:cs typeface="Inter"/>
                <a:sym typeface="Inter"/>
              </a:rPr>
              <a:t> this month despite mid month OOS. Scott's Jeruk 200Ml Twinpack also grew significantly by </a:t>
            </a:r>
            <a:r>
              <a:rPr b="1" lang="en" sz="900">
                <a:solidFill>
                  <a:schemeClr val="dk2"/>
                </a:solidFill>
                <a:latin typeface="Inter"/>
                <a:ea typeface="Inter"/>
                <a:cs typeface="Inter"/>
                <a:sym typeface="Inter"/>
              </a:rPr>
              <a:t>221%</a:t>
            </a:r>
            <a:r>
              <a:rPr lang="en" sz="900">
                <a:solidFill>
                  <a:schemeClr val="dk2"/>
                </a:solidFill>
                <a:latin typeface="Inter"/>
                <a:ea typeface="Inter"/>
                <a:cs typeface="Inter"/>
                <a:sym typeface="Inter"/>
              </a:rPr>
              <a:t>, driven by Mega Affiliate consistently promoting the 200Ml Twinpack (Tonicu)</a:t>
            </a:r>
            <a:endParaRPr sz="900">
              <a:solidFill>
                <a:schemeClr val="dk2"/>
              </a:solidFill>
              <a:latin typeface="Inter"/>
              <a:ea typeface="Inter"/>
              <a:cs typeface="Inter"/>
              <a:sym typeface="Inter"/>
            </a:endParaRPr>
          </a:p>
          <a:p>
            <a:pPr indent="-285750" lvl="0" marL="457200" marR="0" rtl="0" algn="l">
              <a:lnSpc>
                <a:spcPct val="115000"/>
              </a:lnSpc>
              <a:spcBef>
                <a:spcPts val="1000"/>
              </a:spcBef>
              <a:spcAft>
                <a:spcPts val="1000"/>
              </a:spcAft>
              <a:buClr>
                <a:schemeClr val="dk2"/>
              </a:buClr>
              <a:buSzPts val="900"/>
              <a:buFont typeface="Inter"/>
              <a:buChar char="●"/>
            </a:pPr>
            <a:r>
              <a:rPr lang="en" sz="900">
                <a:solidFill>
                  <a:schemeClr val="dk2"/>
                </a:solidFill>
                <a:latin typeface="Inter"/>
                <a:ea typeface="Inter"/>
                <a:cs typeface="Inter"/>
                <a:sym typeface="Inter"/>
              </a:rPr>
              <a:t>Overall, Lazada's Top 10 SKUs show a declining trend, with most SKUs down. The strongest contributor and top growth are from polident which on overall brand growth by </a:t>
            </a:r>
            <a:r>
              <a:rPr b="1" lang="en" sz="900">
                <a:solidFill>
                  <a:schemeClr val="dk2"/>
                </a:solidFill>
                <a:latin typeface="Inter"/>
                <a:ea typeface="Inter"/>
                <a:cs typeface="Inter"/>
                <a:sym typeface="Inter"/>
              </a:rPr>
              <a:t>60%</a:t>
            </a:r>
            <a:endParaRPr b="1" i="0" sz="900" u="none" cap="none" strike="noStrike">
              <a:solidFill>
                <a:schemeClr val="dk2"/>
              </a:solidFill>
              <a:latin typeface="Inter"/>
              <a:ea typeface="Inter"/>
              <a:cs typeface="Inter"/>
              <a:sym typeface="Inter"/>
            </a:endParaRPr>
          </a:p>
        </p:txBody>
      </p:sp>
      <p:graphicFrame>
        <p:nvGraphicFramePr>
          <p:cNvPr id="245" name="Google Shape;245;p40"/>
          <p:cNvGraphicFramePr/>
          <p:nvPr/>
        </p:nvGraphicFramePr>
        <p:xfrm>
          <a:off x="72075" y="874575"/>
          <a:ext cx="3000000" cy="3000000"/>
        </p:xfrm>
        <a:graphic>
          <a:graphicData uri="http://schemas.openxmlformats.org/drawingml/2006/table">
            <a:tbl>
              <a:tblPr>
                <a:noFill/>
                <a:tableStyleId>{05CF1300-53F3-430B-9C35-424554A46B0A}</a:tableStyleId>
              </a:tblPr>
              <a:tblGrid>
                <a:gridCol w="1961200"/>
                <a:gridCol w="672675"/>
                <a:gridCol w="511625"/>
              </a:tblGrid>
              <a:tr h="200025">
                <a:tc gridSpan="3">
                  <a:txBody>
                    <a:bodyPr/>
                    <a:lstStyle/>
                    <a:p>
                      <a:pPr indent="0" lvl="0" marL="0" rtl="0" algn="ctr">
                        <a:lnSpc>
                          <a:spcPct val="115000"/>
                        </a:lnSpc>
                        <a:spcBef>
                          <a:spcPts val="0"/>
                        </a:spcBef>
                        <a:spcAft>
                          <a:spcPts val="0"/>
                        </a:spcAft>
                        <a:buNone/>
                      </a:pPr>
                      <a:r>
                        <a:rPr b="1" lang="en" sz="800">
                          <a:latin typeface="Inter"/>
                          <a:ea typeface="Inter"/>
                          <a:cs typeface="Inter"/>
                          <a:sym typeface="Inter"/>
                        </a:rPr>
                        <a:t>Shopee</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F6B26B"/>
                    </a:solidFill>
                  </a:tcPr>
                </a:tc>
                <a:tc hMerge="1"/>
                <a:tc hMerge="1"/>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Sku Code</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NMV</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Growth</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F6B26B"/>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Scott's Jeruk 400Ml</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503,472,275</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8%</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7E1CD"/>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Scott's Jeruk 200Ml</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370,538,914</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-3%</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F4CCCC"/>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Scott's Ori 400Ml</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296,252,250</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15%</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7E1CD"/>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Scott's Jeruk 200Ml (Twinpack)</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243,229,321</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221%</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7E1CD"/>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Polident Freshmint 60g</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192,767,213</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-22%</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F4CCCC"/>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Sensodyne SRP Extra Fresh</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170,311,905</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67%</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7E1CD"/>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CGBS 80G (Triplepack)</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152,575,863</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-8%</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F4CCCC"/>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Polident Cleanser 36s (Triplepack)</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149,758,042</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34%</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7E1CD"/>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Sensodyne SRP Original (Triplepack)</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143,771,454</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-13%</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F4CCCC"/>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Scott's Jeruk 400Ml (Twinpack)</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131,789,210</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11%</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7E1CD"/>
                    </a:solidFill>
                  </a:tcPr>
                </a:tc>
              </a:tr>
            </a:tbl>
          </a:graphicData>
        </a:graphic>
      </p:graphicFrame>
      <p:graphicFrame>
        <p:nvGraphicFramePr>
          <p:cNvPr id="246" name="Google Shape;246;p40"/>
          <p:cNvGraphicFramePr/>
          <p:nvPr/>
        </p:nvGraphicFramePr>
        <p:xfrm>
          <a:off x="3393575" y="874575"/>
          <a:ext cx="3000000" cy="3000000"/>
        </p:xfrm>
        <a:graphic>
          <a:graphicData uri="http://schemas.openxmlformats.org/drawingml/2006/table">
            <a:tbl>
              <a:tblPr>
                <a:noFill/>
                <a:tableStyleId>{05CF1300-53F3-430B-9C35-424554A46B0A}</a:tableStyleId>
              </a:tblPr>
              <a:tblGrid>
                <a:gridCol w="1971675"/>
                <a:gridCol w="676275"/>
                <a:gridCol w="514350"/>
              </a:tblGrid>
              <a:tr h="200025">
                <a:tc gridSpan="3">
                  <a:txBody>
                    <a:bodyPr/>
                    <a:lstStyle/>
                    <a:p>
                      <a:pPr indent="0" lvl="0" marL="0" rtl="0" algn="ctr">
                        <a:lnSpc>
                          <a:spcPct val="115000"/>
                        </a:lnSpc>
                        <a:spcBef>
                          <a:spcPts val="0"/>
                        </a:spcBef>
                        <a:spcAft>
                          <a:spcPts val="0"/>
                        </a:spcAft>
                        <a:buNone/>
                      </a:pPr>
                      <a:r>
                        <a:rPr b="1" lang="en" sz="800">
                          <a:latin typeface="Inter"/>
                          <a:ea typeface="Inter"/>
                          <a:cs typeface="Inter"/>
                          <a:sym typeface="Inter"/>
                        </a:rPr>
                        <a:t>Lazada</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4A7D6"/>
                    </a:solidFill>
                  </a:tcPr>
                </a:tc>
                <a:tc hMerge="1"/>
                <a:tc hMerge="1"/>
              </a:tr>
              <a:tr h="2000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Sku Code</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NMV</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Growth</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4A7D6"/>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Polident Freshmint 60g (24)</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16,346,462</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81%</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7E1CD"/>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Scott's Jeruk 400Ml</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13,006,223</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-14%</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F4CCCC"/>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Polident Freshmint 60g</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12,023,132</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28%</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7E1CD"/>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Polident Freshmint 60g (Twinpack)</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9,116,827</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-52%</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F4CCCC"/>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Polident Freshmint 60g (6)</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7,675,843</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46%</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B7E1CD"/>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Scott's Ori 400Ml</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7,393,564</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-12%</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F4CCCC"/>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Sensodyne SRP Original (Triplepack)</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6,438,975</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-44%</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F4CCCC"/>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Polident Freshmint 20g (6)</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5,426,647</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-21%</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F4CCCC"/>
                    </a:solidFill>
                  </a:tcPr>
                </a:tc>
              </a:tr>
              <a:tr h="200025">
                <a:tc>
                  <a:txBody>
                    <a:bodyPr/>
                    <a:lstStyle/>
                    <a:p>
                      <a:pPr indent="0" lvl="0" marL="0" rtl="0" algn="ctr">
                        <a:lnSpc>
                          <a:spcPct val="115000"/>
                        </a:lnSpc>
                        <a:spcBef>
                          <a:spcPts val="0"/>
                        </a:spcBef>
                        <a:spcAft>
                          <a:spcPts val="0"/>
                        </a:spcAft>
                        <a:buNone/>
                      </a:pPr>
                      <a:r>
                        <a:rPr lang="en" sz="800">
                          <a:latin typeface="Inter"/>
                          <a:ea typeface="Inter"/>
                          <a:cs typeface="Inter"/>
                          <a:sym typeface="Inter"/>
                        </a:rPr>
                        <a:t>Sensodyne Freshmint 100g (Triplepack)</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4,640,909</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-18%</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F4CCCC"/>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Polident Freshmint 20g</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4,009,412</a:t>
                      </a:r>
                      <a:endParaRPr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-11%</a:t>
                      </a:r>
                      <a:endParaRPr b="1" sz="800">
                        <a:latin typeface="Inter"/>
                        <a:ea typeface="Inter"/>
                        <a:cs typeface="Inter"/>
                        <a:sym typeface="Inter"/>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F4CCCC"/>
                    </a:solidFill>
                  </a:tcPr>
                </a:tc>
              </a:tr>
            </a:tbl>
          </a:graphicData>
        </a:graphic>
      </p:graphicFrame>
      <p:graphicFrame>
        <p:nvGraphicFramePr>
          <p:cNvPr id="247" name="Google Shape;247;p40"/>
          <p:cNvGraphicFramePr/>
          <p:nvPr/>
        </p:nvGraphicFramePr>
        <p:xfrm>
          <a:off x="72063" y="3450725"/>
          <a:ext cx="3000000" cy="3000000"/>
        </p:xfrm>
        <a:graphic>
          <a:graphicData uri="http://schemas.openxmlformats.org/drawingml/2006/table">
            <a:tbl>
              <a:tblPr>
                <a:noFill/>
                <a:tableStyleId>{05CF1300-53F3-430B-9C35-424554A46B0A}</a:tableStyleId>
              </a:tblPr>
              <a:tblGrid>
                <a:gridCol w="790575"/>
                <a:gridCol w="790575"/>
                <a:gridCol w="790575"/>
                <a:gridCol w="790575"/>
              </a:tblGrid>
              <a:tr h="25352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Shopee</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July</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August</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Growth</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r>
              <a:tr h="253525">
                <a:tc>
                  <a:txBody>
                    <a:bodyPr/>
                    <a:lstStyle/>
                    <a:p>
                      <a:pPr indent="0" lvl="0" marL="0" rtl="0" algn="l">
                        <a:lnSpc>
                          <a:spcPct val="115000"/>
                        </a:lnSpc>
                        <a:spcBef>
                          <a:spcPts val="0"/>
                        </a:spcBef>
                        <a:spcAft>
                          <a:spcPts val="0"/>
                        </a:spcAft>
                        <a:buNone/>
                      </a:pPr>
                      <a:r>
                        <a:rPr lang="en" sz="800">
                          <a:latin typeface="Inter"/>
                          <a:ea typeface="Inter"/>
                          <a:cs typeface="Inter"/>
                          <a:sym typeface="Inter"/>
                        </a:rPr>
                        <a:t>Single</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2,678,123,826</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2,897,526,804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8%</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253525">
                <a:tc>
                  <a:txBody>
                    <a:bodyPr/>
                    <a:lstStyle/>
                    <a:p>
                      <a:pPr indent="0" lvl="0" marL="0" rtl="0" algn="l">
                        <a:lnSpc>
                          <a:spcPct val="115000"/>
                        </a:lnSpc>
                        <a:spcBef>
                          <a:spcPts val="0"/>
                        </a:spcBef>
                        <a:spcAft>
                          <a:spcPts val="0"/>
                        </a:spcAft>
                        <a:buNone/>
                      </a:pPr>
                      <a:r>
                        <a:rPr lang="en" sz="800">
                          <a:latin typeface="Inter"/>
                          <a:ea typeface="Inter"/>
                          <a:cs typeface="Inter"/>
                          <a:sym typeface="Inter"/>
                        </a:rPr>
                        <a:t>Twinpack</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970,449,044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1,116,984,291</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15%</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253525">
                <a:tc>
                  <a:txBody>
                    <a:bodyPr/>
                    <a:lstStyle/>
                    <a:p>
                      <a:pPr indent="0" lvl="0" marL="0" rtl="0" algn="l">
                        <a:lnSpc>
                          <a:spcPct val="115000"/>
                        </a:lnSpc>
                        <a:spcBef>
                          <a:spcPts val="0"/>
                        </a:spcBef>
                        <a:spcAft>
                          <a:spcPts val="0"/>
                        </a:spcAft>
                        <a:buNone/>
                      </a:pPr>
                      <a:r>
                        <a:rPr lang="en" sz="800">
                          <a:latin typeface="Inter"/>
                          <a:ea typeface="Inter"/>
                          <a:cs typeface="Inter"/>
                          <a:sym typeface="Inter"/>
                        </a:rPr>
                        <a:t>Triplepack</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1,466,674,314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1,439,781,546</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53525">
                <a:tc>
                  <a:txBody>
                    <a:bodyPr/>
                    <a:lstStyle/>
                    <a:p>
                      <a:pPr indent="0" lvl="0" marL="0" rtl="0" algn="l">
                        <a:lnSpc>
                          <a:spcPct val="115000"/>
                        </a:lnSpc>
                        <a:spcBef>
                          <a:spcPts val="0"/>
                        </a:spcBef>
                        <a:spcAft>
                          <a:spcPts val="0"/>
                        </a:spcAft>
                        <a:buNone/>
                      </a:pPr>
                      <a:r>
                        <a:rPr lang="en" sz="800">
                          <a:latin typeface="Inter"/>
                          <a:ea typeface="Inter"/>
                          <a:cs typeface="Inter"/>
                          <a:sym typeface="Inter"/>
                        </a:rPr>
                        <a:t>High Bundles</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746,468,326</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537,640,476</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-28%</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bl>
          </a:graphicData>
        </a:graphic>
      </p:graphicFrame>
      <p:graphicFrame>
        <p:nvGraphicFramePr>
          <p:cNvPr id="248" name="Google Shape;248;p40"/>
          <p:cNvGraphicFramePr/>
          <p:nvPr/>
        </p:nvGraphicFramePr>
        <p:xfrm>
          <a:off x="3393563" y="3450738"/>
          <a:ext cx="3000000" cy="3000000"/>
        </p:xfrm>
        <a:graphic>
          <a:graphicData uri="http://schemas.openxmlformats.org/drawingml/2006/table">
            <a:tbl>
              <a:tblPr>
                <a:noFill/>
                <a:tableStyleId>{05CF1300-53F3-430B-9C35-424554A46B0A}</a:tableStyleId>
              </a:tblPr>
              <a:tblGrid>
                <a:gridCol w="790575"/>
                <a:gridCol w="790575"/>
                <a:gridCol w="790575"/>
                <a:gridCol w="790575"/>
              </a:tblGrid>
              <a:tr h="253500">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Lazada</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July</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August</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Growth</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r>
              <a:tr h="253500">
                <a:tc>
                  <a:txBody>
                    <a:bodyPr/>
                    <a:lstStyle/>
                    <a:p>
                      <a:pPr indent="0" lvl="0" marL="0" rtl="0" algn="l">
                        <a:lnSpc>
                          <a:spcPct val="115000"/>
                        </a:lnSpc>
                        <a:spcBef>
                          <a:spcPts val="0"/>
                        </a:spcBef>
                        <a:spcAft>
                          <a:spcPts val="0"/>
                        </a:spcAft>
                        <a:buNone/>
                      </a:pPr>
                      <a:r>
                        <a:rPr lang="en" sz="800">
                          <a:latin typeface="Inter"/>
                          <a:ea typeface="Inter"/>
                          <a:cs typeface="Inter"/>
                          <a:sym typeface="Inter"/>
                        </a:rPr>
                        <a:t>Single</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65,851,434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66,085,015</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0.4%</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253500">
                <a:tc>
                  <a:txBody>
                    <a:bodyPr/>
                    <a:lstStyle/>
                    <a:p>
                      <a:pPr indent="0" lvl="0" marL="0" rtl="0" algn="l">
                        <a:lnSpc>
                          <a:spcPct val="115000"/>
                        </a:lnSpc>
                        <a:spcBef>
                          <a:spcPts val="0"/>
                        </a:spcBef>
                        <a:spcAft>
                          <a:spcPts val="0"/>
                        </a:spcAft>
                        <a:buNone/>
                      </a:pPr>
                      <a:r>
                        <a:rPr lang="en" sz="800">
                          <a:latin typeface="Inter"/>
                          <a:ea typeface="Inter"/>
                          <a:cs typeface="Inter"/>
                          <a:sym typeface="Inter"/>
                        </a:rPr>
                        <a:t>Twinpack</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53,081,382</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32,138,362</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-39%</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53500">
                <a:tc>
                  <a:txBody>
                    <a:bodyPr/>
                    <a:lstStyle/>
                    <a:p>
                      <a:pPr indent="0" lvl="0" marL="0" rtl="0" algn="l">
                        <a:lnSpc>
                          <a:spcPct val="115000"/>
                        </a:lnSpc>
                        <a:spcBef>
                          <a:spcPts val="0"/>
                        </a:spcBef>
                        <a:spcAft>
                          <a:spcPts val="0"/>
                        </a:spcAft>
                        <a:buNone/>
                      </a:pPr>
                      <a:r>
                        <a:rPr lang="en" sz="800">
                          <a:latin typeface="Inter"/>
                          <a:ea typeface="Inter"/>
                          <a:cs typeface="Inter"/>
                          <a:sym typeface="Inter"/>
                        </a:rPr>
                        <a:t>Triplepack</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85647727</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47,732,735</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-44%</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53500">
                <a:tc>
                  <a:txBody>
                    <a:bodyPr/>
                    <a:lstStyle/>
                    <a:p>
                      <a:pPr indent="0" lvl="0" marL="0" rtl="0" algn="l">
                        <a:lnSpc>
                          <a:spcPct val="115000"/>
                        </a:lnSpc>
                        <a:spcBef>
                          <a:spcPts val="0"/>
                        </a:spcBef>
                        <a:spcAft>
                          <a:spcPts val="0"/>
                        </a:spcAft>
                        <a:buNone/>
                      </a:pPr>
                      <a:r>
                        <a:rPr lang="en" sz="800">
                          <a:latin typeface="Inter"/>
                          <a:ea typeface="Inter"/>
                          <a:cs typeface="Inter"/>
                          <a:sym typeface="Inter"/>
                        </a:rPr>
                        <a:t>High Bundles</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58,713,377</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120,947,132</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106%</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bl>
          </a:graphicData>
        </a:graphic>
      </p:graphicFrame>
      <p:sp>
        <p:nvSpPr>
          <p:cNvPr id="249" name="Google Shape;249;p40"/>
          <p:cNvSpPr/>
          <p:nvPr/>
        </p:nvSpPr>
        <p:spPr>
          <a:xfrm>
            <a:off x="72075" y="1874700"/>
            <a:ext cx="3145500" cy="190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40"/>
          <p:cNvSpPr/>
          <p:nvPr/>
        </p:nvSpPr>
        <p:spPr>
          <a:xfrm>
            <a:off x="72075" y="4489650"/>
            <a:ext cx="3145500" cy="228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1"/>
          <p:cNvSpPr txBox="1"/>
          <p:nvPr>
            <p:ph idx="12" type="sldNum"/>
          </p:nvPr>
        </p:nvSpPr>
        <p:spPr>
          <a:xfrm>
            <a:off x="8994150" y="4794565"/>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sp>
        <p:nvSpPr>
          <p:cNvPr id="256" name="Google Shape;256;p41"/>
          <p:cNvSpPr txBox="1"/>
          <p:nvPr>
            <p:ph type="ctrTitle"/>
          </p:nvPr>
        </p:nvSpPr>
        <p:spPr>
          <a:xfrm>
            <a:off x="174550" y="131975"/>
            <a:ext cx="8655600" cy="695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B2C Shopee &amp; Lazada Performance</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Centrum August Performance</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rPr i="1" lang="en" sz="1200">
                <a:solidFill>
                  <a:srgbClr val="3880C1"/>
                </a:solidFill>
                <a:latin typeface="Inter"/>
                <a:ea typeface="Inter"/>
                <a:cs typeface="Inter"/>
                <a:sym typeface="Inter"/>
              </a:rPr>
              <a:t>Kick off from centrum showing a good growth on august by pushing lower funnel activation on Affiliates and Livestream</a:t>
            </a:r>
            <a:endParaRPr i="1" sz="1200">
              <a:solidFill>
                <a:srgbClr val="3880C1"/>
              </a:solidFill>
              <a:latin typeface="Inter"/>
              <a:ea typeface="Inter"/>
              <a:cs typeface="Inter"/>
              <a:sym typeface="Inter"/>
            </a:endParaRPr>
          </a:p>
        </p:txBody>
      </p:sp>
      <p:pic>
        <p:nvPicPr>
          <p:cNvPr id="257" name="Google Shape;257;p41"/>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pic>
        <p:nvPicPr>
          <p:cNvPr id="258" name="Google Shape;258;p41"/>
          <p:cNvPicPr preferRelativeResize="0"/>
          <p:nvPr/>
        </p:nvPicPr>
        <p:blipFill rotWithShape="1">
          <a:blip r:embed="rId4">
            <a:alphaModFix/>
          </a:blip>
          <a:srcRect b="0" l="0" r="0" t="12564"/>
          <a:stretch/>
        </p:blipFill>
        <p:spPr>
          <a:xfrm>
            <a:off x="7406900" y="121550"/>
            <a:ext cx="634924" cy="451775"/>
          </a:xfrm>
          <a:prstGeom prst="rect">
            <a:avLst/>
          </a:prstGeom>
          <a:noFill/>
          <a:ln>
            <a:noFill/>
          </a:ln>
        </p:spPr>
      </p:pic>
      <p:sp>
        <p:nvSpPr>
          <p:cNvPr id="259" name="Google Shape;259;p41"/>
          <p:cNvSpPr/>
          <p:nvPr/>
        </p:nvSpPr>
        <p:spPr>
          <a:xfrm>
            <a:off x="5075775" y="1114750"/>
            <a:ext cx="3754500" cy="2286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lt1"/>
                </a:solidFill>
                <a:latin typeface="Inter"/>
                <a:ea typeface="Inter"/>
                <a:cs typeface="Inter"/>
                <a:sym typeface="Inter"/>
              </a:rPr>
              <a:t>Key Highlights</a:t>
            </a:r>
            <a:endParaRPr b="1" i="0" sz="1100" u="none" cap="none" strike="noStrike">
              <a:solidFill>
                <a:schemeClr val="lt1"/>
              </a:solidFill>
              <a:latin typeface="Inter"/>
              <a:ea typeface="Inter"/>
              <a:cs typeface="Inter"/>
              <a:sym typeface="Inter"/>
            </a:endParaRPr>
          </a:p>
        </p:txBody>
      </p:sp>
      <p:sp>
        <p:nvSpPr>
          <p:cNvPr id="260" name="Google Shape;260;p41"/>
          <p:cNvSpPr txBox="1"/>
          <p:nvPr/>
        </p:nvSpPr>
        <p:spPr>
          <a:xfrm>
            <a:off x="5054475" y="1453475"/>
            <a:ext cx="3797100" cy="29091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1000"/>
              </a:spcBef>
              <a:spcAft>
                <a:spcPts val="0"/>
              </a:spcAft>
              <a:buClr>
                <a:schemeClr val="dk2"/>
              </a:buClr>
              <a:buSzPts val="1000"/>
              <a:buFont typeface="Inter"/>
              <a:buChar char="●"/>
            </a:pPr>
            <a:r>
              <a:rPr lang="en" sz="1000">
                <a:solidFill>
                  <a:schemeClr val="dk2"/>
                </a:solidFill>
                <a:latin typeface="Inter"/>
                <a:ea typeface="Inter"/>
                <a:cs typeface="Inter"/>
                <a:sym typeface="Inter"/>
              </a:rPr>
              <a:t>Centrum grew healthily in August, boosted by ads and channel’s activation, achieving </a:t>
            </a:r>
            <a:r>
              <a:rPr b="1" lang="en" sz="1000">
                <a:solidFill>
                  <a:schemeClr val="dk2"/>
                </a:solidFill>
                <a:latin typeface="Inter"/>
                <a:ea typeface="Inter"/>
                <a:cs typeface="Inter"/>
                <a:sym typeface="Inter"/>
              </a:rPr>
              <a:t>24 Mio</a:t>
            </a:r>
            <a:r>
              <a:rPr lang="en" sz="1000">
                <a:solidFill>
                  <a:schemeClr val="dk2"/>
                </a:solidFill>
                <a:latin typeface="Inter"/>
                <a:ea typeface="Inter"/>
                <a:cs typeface="Inter"/>
                <a:sym typeface="Inter"/>
              </a:rPr>
              <a:t> in its first month. A strong start driven by Single’s, which will be pushed further with GWP &amp; bundles going forward.</a:t>
            </a:r>
            <a:endParaRPr sz="1000">
              <a:solidFill>
                <a:schemeClr val="dk2"/>
              </a:solidFill>
              <a:latin typeface="Inter"/>
              <a:ea typeface="Inter"/>
              <a:cs typeface="Inter"/>
              <a:sym typeface="Inter"/>
            </a:endParaRPr>
          </a:p>
          <a:p>
            <a:pPr indent="-292100" lvl="0" marL="457200" rtl="0" algn="l">
              <a:lnSpc>
                <a:spcPct val="115000"/>
              </a:lnSpc>
              <a:spcBef>
                <a:spcPts val="1000"/>
              </a:spcBef>
              <a:spcAft>
                <a:spcPts val="0"/>
              </a:spcAft>
              <a:buClr>
                <a:schemeClr val="dk2"/>
              </a:buClr>
              <a:buSzPts val="1000"/>
              <a:buFont typeface="Inter"/>
              <a:buChar char="●"/>
            </a:pPr>
            <a:r>
              <a:rPr lang="en" sz="1000">
                <a:solidFill>
                  <a:schemeClr val="dk2"/>
                </a:solidFill>
                <a:latin typeface="Inter"/>
                <a:ea typeface="Inter"/>
                <a:cs typeface="Inter"/>
                <a:sym typeface="Inter"/>
              </a:rPr>
              <a:t>By contribution, Ads remains the top channel driving conversion, while Affiliate contributes around </a:t>
            </a:r>
            <a:r>
              <a:rPr b="1" lang="en" sz="1000">
                <a:solidFill>
                  <a:schemeClr val="dk2"/>
                </a:solidFill>
                <a:latin typeface="Inter"/>
                <a:ea typeface="Inter"/>
                <a:cs typeface="Inter"/>
                <a:sym typeface="Inter"/>
              </a:rPr>
              <a:t>50%</a:t>
            </a:r>
            <a:r>
              <a:rPr lang="en" sz="1000">
                <a:solidFill>
                  <a:schemeClr val="dk2"/>
                </a:solidFill>
                <a:latin typeface="Inter"/>
                <a:ea typeface="Inter"/>
                <a:cs typeface="Inter"/>
                <a:sym typeface="Inter"/>
              </a:rPr>
              <a:t> to NMV, boosted by affiliates videos and livestreams with big KOLs.</a:t>
            </a:r>
            <a:endParaRPr sz="1000">
              <a:solidFill>
                <a:schemeClr val="dk2"/>
              </a:solidFill>
              <a:latin typeface="Inter"/>
              <a:ea typeface="Inter"/>
              <a:cs typeface="Inter"/>
              <a:sym typeface="Inter"/>
            </a:endParaRPr>
          </a:p>
          <a:p>
            <a:pPr indent="-292100" lvl="0" marL="457200" rtl="0" algn="l">
              <a:lnSpc>
                <a:spcPct val="115000"/>
              </a:lnSpc>
              <a:spcBef>
                <a:spcPts val="1000"/>
              </a:spcBef>
              <a:spcAft>
                <a:spcPts val="0"/>
              </a:spcAft>
              <a:buClr>
                <a:schemeClr val="dk2"/>
              </a:buClr>
              <a:buSzPts val="1000"/>
              <a:buFont typeface="Inter"/>
              <a:buChar char="●"/>
            </a:pPr>
            <a:r>
              <a:rPr lang="en" sz="1000">
                <a:solidFill>
                  <a:schemeClr val="dk2"/>
                </a:solidFill>
                <a:latin typeface="Inter"/>
                <a:ea typeface="Inter"/>
                <a:cs typeface="Inter"/>
                <a:sym typeface="Inter"/>
              </a:rPr>
              <a:t>Live Streaming still tagging at </a:t>
            </a:r>
            <a:r>
              <a:rPr b="1" lang="en" sz="1000">
                <a:solidFill>
                  <a:schemeClr val="dk2"/>
                </a:solidFill>
                <a:latin typeface="Inter"/>
                <a:ea typeface="Inter"/>
                <a:cs typeface="Inter"/>
                <a:sym typeface="Inter"/>
              </a:rPr>
              <a:t>32%</a:t>
            </a:r>
            <a:r>
              <a:rPr lang="en" sz="1000">
                <a:solidFill>
                  <a:schemeClr val="dk2"/>
                </a:solidFill>
                <a:latin typeface="Inter"/>
                <a:ea typeface="Inter"/>
                <a:cs typeface="Inter"/>
                <a:sym typeface="Inter"/>
              </a:rPr>
              <a:t> contribution, though we're pushing promotions further with vouchers and GWP bundles featured on LS </a:t>
            </a:r>
            <a:endParaRPr sz="1000">
              <a:solidFill>
                <a:schemeClr val="dk2"/>
              </a:solidFill>
              <a:latin typeface="Inter"/>
              <a:ea typeface="Inter"/>
              <a:cs typeface="Inter"/>
              <a:sym typeface="Inter"/>
            </a:endParaRPr>
          </a:p>
          <a:p>
            <a:pPr indent="-292100" lvl="0" marL="457200" rtl="0" algn="l">
              <a:lnSpc>
                <a:spcPct val="115000"/>
              </a:lnSpc>
              <a:spcBef>
                <a:spcPts val="1000"/>
              </a:spcBef>
              <a:spcAft>
                <a:spcPts val="1000"/>
              </a:spcAft>
              <a:buClr>
                <a:schemeClr val="dk2"/>
              </a:buClr>
              <a:buSzPts val="1000"/>
              <a:buFont typeface="Inter"/>
              <a:buChar char="●"/>
            </a:pPr>
            <a:r>
              <a:rPr lang="en" sz="1000">
                <a:solidFill>
                  <a:schemeClr val="dk2"/>
                </a:solidFill>
                <a:latin typeface="Inter"/>
                <a:ea typeface="Inter"/>
                <a:cs typeface="Inter"/>
                <a:sym typeface="Inter"/>
              </a:rPr>
              <a:t>We'll focus on overall channel activation to gather more GMV for Centrum,and more awareness push from Affiliates and more activation such as Review and Win to drive more GMV	</a:t>
            </a:r>
            <a:endParaRPr sz="1000">
              <a:solidFill>
                <a:schemeClr val="dk2"/>
              </a:solidFill>
              <a:latin typeface="Inter"/>
              <a:ea typeface="Inter"/>
              <a:cs typeface="Inter"/>
              <a:sym typeface="Inter"/>
            </a:endParaRPr>
          </a:p>
        </p:txBody>
      </p:sp>
      <p:graphicFrame>
        <p:nvGraphicFramePr>
          <p:cNvPr id="261" name="Google Shape;261;p41"/>
          <p:cNvGraphicFramePr/>
          <p:nvPr/>
        </p:nvGraphicFramePr>
        <p:xfrm>
          <a:off x="174550" y="1004400"/>
          <a:ext cx="3000000" cy="3000000"/>
        </p:xfrm>
        <a:graphic>
          <a:graphicData uri="http://schemas.openxmlformats.org/drawingml/2006/table">
            <a:tbl>
              <a:tblPr>
                <a:noFill/>
                <a:tableStyleId>{05CF1300-53F3-430B-9C35-424554A46B0A}</a:tableStyleId>
              </a:tblPr>
              <a:tblGrid>
                <a:gridCol w="1120150"/>
                <a:gridCol w="638875"/>
                <a:gridCol w="700125"/>
                <a:gridCol w="516350"/>
                <a:gridCol w="603875"/>
                <a:gridCol w="542575"/>
                <a:gridCol w="542575"/>
              </a:tblGrid>
              <a:tr h="196975">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Metrics</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6D9EEB"/>
                    </a:solidFill>
                  </a:tcPr>
                </a:tc>
                <a:tc gridSpan="2">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Shopee</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hMerge="1"/>
                <a:tc gridSpan="2">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Lazada</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c hMerge="1"/>
                <a:tc gridSpan="2">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Tiktok</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c hMerge="1"/>
              </a:tr>
              <a:tr h="196975">
                <a:tc>
                  <a:txBody>
                    <a:bodyPr/>
                    <a:lstStyle/>
                    <a:p>
                      <a:pPr indent="0" lvl="0" marL="0" rtl="0" algn="ctr">
                        <a:lnSpc>
                          <a:spcPct val="115000"/>
                        </a:lnSpc>
                        <a:spcBef>
                          <a:spcPts val="0"/>
                        </a:spcBef>
                        <a:spcAft>
                          <a:spcPts val="0"/>
                        </a:spcAft>
                        <a:buNone/>
                      </a:pPr>
                      <a:r>
                        <a:rPr lang="en" sz="800">
                          <a:latin typeface="Inter"/>
                          <a:ea typeface="Inter"/>
                          <a:cs typeface="Inter"/>
                          <a:sym typeface="Inter"/>
                        </a:rPr>
                        <a:t>Product Name</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Qty</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NMV</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QTY</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NMV</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QTY</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NMV</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196975">
                <a:tc>
                  <a:txBody>
                    <a:bodyPr/>
                    <a:lstStyle/>
                    <a:p>
                      <a:pPr indent="0" lvl="0" marL="0" rtl="0" algn="ctr">
                        <a:lnSpc>
                          <a:spcPct val="115000"/>
                        </a:lnSpc>
                        <a:spcBef>
                          <a:spcPts val="0"/>
                        </a:spcBef>
                        <a:spcAft>
                          <a:spcPts val="0"/>
                        </a:spcAft>
                        <a:buNone/>
                      </a:pPr>
                      <a:r>
                        <a:rPr lang="en" sz="800">
                          <a:latin typeface="Inter"/>
                          <a:ea typeface="Inter"/>
                          <a:cs typeface="Inter"/>
                          <a:sym typeface="Inter"/>
                        </a:rPr>
                        <a:t>Centrum 30s</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127</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15,095,442</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7</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840,000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alpha val="0"/>
                        </a:srgbClr>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112,000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alpha val="0"/>
                        </a:srgbClr>
                      </a:solidFill>
                      <a:prstDash val="solid"/>
                      <a:round/>
                      <a:headEnd len="sm" w="sm" type="none"/>
                      <a:tailEnd len="sm" w="sm" type="none"/>
                    </a:lnB>
                  </a:tcPr>
                </a:tc>
              </a:tr>
              <a:tr h="351750">
                <a:tc>
                  <a:txBody>
                    <a:bodyPr/>
                    <a:lstStyle/>
                    <a:p>
                      <a:pPr indent="0" lvl="0" marL="0" rtl="0" algn="ctr">
                        <a:lnSpc>
                          <a:spcPct val="115000"/>
                        </a:lnSpc>
                        <a:spcBef>
                          <a:spcPts val="0"/>
                        </a:spcBef>
                        <a:spcAft>
                          <a:spcPts val="0"/>
                        </a:spcAft>
                        <a:buNone/>
                      </a:pPr>
                      <a:r>
                        <a:rPr lang="en" sz="800">
                          <a:latin typeface="Inter"/>
                          <a:ea typeface="Inter"/>
                          <a:cs typeface="Inter"/>
                          <a:sym typeface="Inter"/>
                        </a:rPr>
                        <a:t>Centrum 30s Twinpack</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15</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3,551,814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solidFill>
                      <a:srgbClr val="000000"/>
                    </a:solidFill>
                  </a:tcPr>
                </a:tc>
              </a:tr>
              <a:tr h="351750">
                <a:tc>
                  <a:txBody>
                    <a:bodyPr/>
                    <a:lstStyle/>
                    <a:p>
                      <a:pPr indent="0" lvl="0" marL="0" rtl="0" algn="ctr">
                        <a:lnSpc>
                          <a:spcPct val="115000"/>
                        </a:lnSpc>
                        <a:spcBef>
                          <a:spcPts val="0"/>
                        </a:spcBef>
                        <a:spcAft>
                          <a:spcPts val="0"/>
                        </a:spcAft>
                        <a:buNone/>
                      </a:pPr>
                      <a:r>
                        <a:rPr lang="en" sz="800">
                          <a:latin typeface="Inter"/>
                          <a:ea typeface="Inter"/>
                          <a:cs typeface="Inter"/>
                          <a:sym typeface="Inter"/>
                        </a:rPr>
                        <a:t>Centrum 30s Triplepack</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4,583,640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solidFill>
                      <a:srgbClr val="000000"/>
                    </a:solidFill>
                  </a:tcPr>
                </a:tc>
              </a:tr>
              <a:tr h="196975">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Total</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155</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23,230,896</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7</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840,000</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112,000</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graphicFrame>
        <p:nvGraphicFramePr>
          <p:cNvPr id="262" name="Google Shape;262;p41"/>
          <p:cNvGraphicFramePr/>
          <p:nvPr/>
        </p:nvGraphicFramePr>
        <p:xfrm>
          <a:off x="174550" y="2665275"/>
          <a:ext cx="3000000" cy="3000000"/>
        </p:xfrm>
        <a:graphic>
          <a:graphicData uri="http://schemas.openxmlformats.org/drawingml/2006/table">
            <a:tbl>
              <a:tblPr>
                <a:noFill/>
                <a:tableStyleId>{05CF1300-53F3-430B-9C35-424554A46B0A}</a:tableStyleId>
              </a:tblPr>
              <a:tblGrid>
                <a:gridCol w="1442175"/>
                <a:gridCol w="822500"/>
                <a:gridCol w="901350"/>
                <a:gridCol w="721075"/>
                <a:gridCol w="777425"/>
              </a:tblGrid>
              <a:tr h="307800">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Centrum Tracker</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6D9EEB"/>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YTD</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6D9EEB"/>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Order</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6D9EEB"/>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Qty Sold</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6D9EEB"/>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6D9EEB"/>
                    </a:solidFill>
                  </a:tcPr>
                </a:tc>
              </a:tr>
              <a:tr h="386950">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Overall GMV</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26,068,065</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161</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174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86950">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Overall NMV</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23,230,896</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143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155</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7800">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Ads</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24,774,506</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195</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205</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95%</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tcPr>
                </a:tc>
              </a:tr>
              <a:tr h="307800">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Live Streaming</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8,425,334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65</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68</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32%</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tcPr>
                </a:tc>
              </a:tr>
              <a:tr h="307800">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Affiliate</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12,404,790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113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119</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E599"/>
                    </a:solidFill>
                  </a:tcPr>
                </a:tc>
              </a:tr>
            </a:tbl>
          </a:graphicData>
        </a:graphic>
      </p:graphicFrame>
      <p:sp>
        <p:nvSpPr>
          <p:cNvPr id="263" name="Google Shape;263;p41"/>
          <p:cNvSpPr/>
          <p:nvPr/>
        </p:nvSpPr>
        <p:spPr>
          <a:xfrm>
            <a:off x="4061650" y="3746975"/>
            <a:ext cx="777300" cy="923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2"/>
          <p:cNvSpPr txBox="1"/>
          <p:nvPr/>
        </p:nvSpPr>
        <p:spPr>
          <a:xfrm>
            <a:off x="248700" y="3701200"/>
            <a:ext cx="8655600" cy="765300"/>
          </a:xfrm>
          <a:prstGeom prst="rect">
            <a:avLst/>
          </a:prstGeom>
          <a:noFill/>
          <a:ln>
            <a:noFill/>
          </a:ln>
        </p:spPr>
        <p:txBody>
          <a:bodyPr anchorCtr="0" anchor="t" bIns="91425" lIns="91425" spcFirstLastPara="1" rIns="91425" wrap="square" tIns="91425">
            <a:noAutofit/>
          </a:bodyPr>
          <a:lstStyle/>
          <a:p>
            <a:pPr indent="0" lvl="0" marL="457200" marR="0" rtl="0" algn="l">
              <a:lnSpc>
                <a:spcPct val="115000"/>
              </a:lnSpc>
              <a:spcBef>
                <a:spcPts val="1000"/>
              </a:spcBef>
              <a:spcAft>
                <a:spcPts val="1000"/>
              </a:spcAft>
              <a:buClr>
                <a:srgbClr val="000000"/>
              </a:buClr>
              <a:buSzPts val="1000"/>
              <a:buFont typeface="Arial"/>
              <a:buNone/>
            </a:pPr>
            <a:r>
              <a:t/>
            </a:r>
            <a:endParaRPr sz="1000">
              <a:solidFill>
                <a:schemeClr val="dk2"/>
              </a:solidFill>
              <a:latin typeface="Inter"/>
              <a:ea typeface="Inter"/>
              <a:cs typeface="Inter"/>
              <a:sym typeface="Inter"/>
            </a:endParaRPr>
          </a:p>
        </p:txBody>
      </p:sp>
      <p:sp>
        <p:nvSpPr>
          <p:cNvPr id="269" name="Google Shape;269;p42"/>
          <p:cNvSpPr txBox="1"/>
          <p:nvPr>
            <p:ph idx="12" type="sldNum"/>
          </p:nvPr>
        </p:nvSpPr>
        <p:spPr>
          <a:xfrm>
            <a:off x="8994150" y="4794565"/>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pic>
        <p:nvPicPr>
          <p:cNvPr id="270" name="Google Shape;270;p42"/>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pic>
        <p:nvPicPr>
          <p:cNvPr id="271" name="Google Shape;271;p42"/>
          <p:cNvPicPr preferRelativeResize="0"/>
          <p:nvPr/>
        </p:nvPicPr>
        <p:blipFill rotWithShape="1">
          <a:blip r:embed="rId4">
            <a:alphaModFix/>
          </a:blip>
          <a:srcRect b="0" l="0" r="0" t="12564"/>
          <a:stretch/>
        </p:blipFill>
        <p:spPr>
          <a:xfrm>
            <a:off x="7406900" y="121550"/>
            <a:ext cx="634924" cy="451775"/>
          </a:xfrm>
          <a:prstGeom prst="rect">
            <a:avLst/>
          </a:prstGeom>
          <a:noFill/>
          <a:ln>
            <a:noFill/>
          </a:ln>
        </p:spPr>
      </p:pic>
      <p:sp>
        <p:nvSpPr>
          <p:cNvPr id="272" name="Google Shape;272;p42"/>
          <p:cNvSpPr txBox="1"/>
          <p:nvPr/>
        </p:nvSpPr>
        <p:spPr>
          <a:xfrm>
            <a:off x="209950" y="3474574"/>
            <a:ext cx="8584800" cy="10728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1000"/>
              </a:spcBef>
              <a:spcAft>
                <a:spcPts val="0"/>
              </a:spcAft>
              <a:buClr>
                <a:srgbClr val="595959"/>
              </a:buClr>
              <a:buSzPts val="1000"/>
              <a:buFont typeface="Inter"/>
              <a:buChar char="●"/>
            </a:pPr>
            <a:r>
              <a:rPr lang="en" sz="1000">
                <a:solidFill>
                  <a:srgbClr val="595959"/>
                </a:solidFill>
                <a:latin typeface="Inter"/>
                <a:ea typeface="Inter"/>
                <a:cs typeface="Inter"/>
                <a:sym typeface="Inter"/>
              </a:rPr>
              <a:t>Compared to February, which had the highest performance YTD with greater availability, August despite being live for only 2 weeks, NMV exceed February's performance by </a:t>
            </a:r>
            <a:r>
              <a:rPr b="1" lang="en" sz="1000">
                <a:solidFill>
                  <a:srgbClr val="595959"/>
                </a:solidFill>
                <a:latin typeface="Inter"/>
                <a:ea typeface="Inter"/>
                <a:cs typeface="Inter"/>
                <a:sym typeface="Inter"/>
              </a:rPr>
              <a:t>23%</a:t>
            </a:r>
            <a:r>
              <a:rPr lang="en" sz="1000">
                <a:solidFill>
                  <a:srgbClr val="595959"/>
                </a:solidFill>
                <a:latin typeface="Inter"/>
                <a:ea typeface="Inter"/>
                <a:cs typeface="Inter"/>
                <a:sym typeface="Inter"/>
              </a:rPr>
              <a:t>. This indicates that once availability are resolved and ads pushed, we have even more potential to hit higher numbers to hit the forecast.</a:t>
            </a:r>
            <a:endParaRPr sz="1000">
              <a:solidFill>
                <a:srgbClr val="595959"/>
              </a:solidFill>
              <a:latin typeface="Inter"/>
              <a:ea typeface="Inter"/>
              <a:cs typeface="Inter"/>
              <a:sym typeface="Inter"/>
            </a:endParaRPr>
          </a:p>
          <a:p>
            <a:pPr indent="-292100" lvl="0" marL="457200" rtl="0" algn="l">
              <a:lnSpc>
                <a:spcPct val="115000"/>
              </a:lnSpc>
              <a:spcBef>
                <a:spcPts val="1000"/>
              </a:spcBef>
              <a:spcAft>
                <a:spcPts val="0"/>
              </a:spcAft>
              <a:buClr>
                <a:srgbClr val="595959"/>
              </a:buClr>
              <a:buSzPts val="1000"/>
              <a:buFont typeface="Inter"/>
              <a:buChar char="●"/>
            </a:pPr>
            <a:r>
              <a:rPr lang="en" sz="1000">
                <a:solidFill>
                  <a:srgbClr val="595959"/>
                </a:solidFill>
                <a:latin typeface="Inter"/>
                <a:ea typeface="Inter"/>
                <a:cs typeface="Inter"/>
                <a:sym typeface="Inter"/>
              </a:rPr>
              <a:t>Other metrics also grew positively, CVR increased by </a:t>
            </a:r>
            <a:r>
              <a:rPr b="1" lang="en" sz="1000">
                <a:solidFill>
                  <a:srgbClr val="595959"/>
                </a:solidFill>
                <a:latin typeface="Inter"/>
                <a:ea typeface="Inter"/>
                <a:cs typeface="Inter"/>
                <a:sym typeface="Inter"/>
              </a:rPr>
              <a:t>3pp</a:t>
            </a:r>
            <a:r>
              <a:rPr lang="en" sz="1000">
                <a:solidFill>
                  <a:srgbClr val="595959"/>
                </a:solidFill>
                <a:latin typeface="Inter"/>
                <a:ea typeface="Inter"/>
                <a:cs typeface="Inter"/>
                <a:sym typeface="Inter"/>
              </a:rPr>
              <a:t>, PV increased by </a:t>
            </a:r>
            <a:r>
              <a:rPr b="1" lang="en" sz="1000">
                <a:solidFill>
                  <a:srgbClr val="595959"/>
                </a:solidFill>
                <a:latin typeface="Inter"/>
                <a:ea typeface="Inter"/>
                <a:cs typeface="Inter"/>
                <a:sym typeface="Inter"/>
              </a:rPr>
              <a:t>15%</a:t>
            </a:r>
            <a:r>
              <a:rPr lang="en" sz="1000">
                <a:solidFill>
                  <a:srgbClr val="595959"/>
                </a:solidFill>
                <a:latin typeface="Inter"/>
                <a:ea typeface="Inter"/>
                <a:cs typeface="Inter"/>
                <a:sym typeface="Inter"/>
              </a:rPr>
              <a:t>, and ABS is starting to hit </a:t>
            </a:r>
            <a:r>
              <a:rPr b="1" lang="en" sz="1000">
                <a:solidFill>
                  <a:srgbClr val="595959"/>
                </a:solidFill>
                <a:latin typeface="Inter"/>
                <a:ea typeface="Inter"/>
                <a:cs typeface="Inter"/>
                <a:sym typeface="Inter"/>
              </a:rPr>
              <a:t>45K. </a:t>
            </a:r>
            <a:endParaRPr sz="1000">
              <a:solidFill>
                <a:srgbClr val="595959"/>
              </a:solidFill>
              <a:latin typeface="Inter"/>
              <a:ea typeface="Inter"/>
              <a:cs typeface="Inter"/>
              <a:sym typeface="Inter"/>
            </a:endParaRPr>
          </a:p>
          <a:p>
            <a:pPr indent="-292100" lvl="0" marL="457200" rtl="0" algn="l">
              <a:lnSpc>
                <a:spcPct val="115000"/>
              </a:lnSpc>
              <a:spcBef>
                <a:spcPts val="1000"/>
              </a:spcBef>
              <a:spcAft>
                <a:spcPts val="1000"/>
              </a:spcAft>
              <a:buClr>
                <a:srgbClr val="595959"/>
              </a:buClr>
              <a:buSzPts val="1000"/>
              <a:buFont typeface="Inter"/>
              <a:buChar char="●"/>
            </a:pPr>
            <a:r>
              <a:rPr lang="en" sz="1000">
                <a:solidFill>
                  <a:srgbClr val="595959"/>
                </a:solidFill>
                <a:latin typeface="Inter"/>
                <a:ea typeface="Inter"/>
                <a:cs typeface="Inter"/>
                <a:sym typeface="Inter"/>
              </a:rPr>
              <a:t>Our</a:t>
            </a:r>
            <a:r>
              <a:rPr lang="en" sz="1000">
                <a:solidFill>
                  <a:srgbClr val="595959"/>
                </a:solidFill>
                <a:latin typeface="Inter"/>
                <a:ea typeface="Inter"/>
                <a:cs typeface="Inter"/>
                <a:sym typeface="Inter"/>
              </a:rPr>
              <a:t> Main focus on September will be pushing more on PV by Ads sides to increase the PV while improving the ATP to be much better compared to H1. </a:t>
            </a:r>
            <a:endParaRPr sz="1000">
              <a:solidFill>
                <a:srgbClr val="595959"/>
              </a:solidFill>
              <a:latin typeface="Inter"/>
              <a:ea typeface="Inter"/>
              <a:cs typeface="Inter"/>
              <a:sym typeface="Inter"/>
            </a:endParaRPr>
          </a:p>
        </p:txBody>
      </p:sp>
      <p:sp>
        <p:nvSpPr>
          <p:cNvPr id="273" name="Google Shape;273;p42"/>
          <p:cNvSpPr txBox="1"/>
          <p:nvPr/>
        </p:nvSpPr>
        <p:spPr>
          <a:xfrm>
            <a:off x="248700" y="222263"/>
            <a:ext cx="8655600" cy="6951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B2C OTC Performance</a:t>
            </a:r>
            <a:endParaRPr b="1" sz="2310">
              <a:solidFill>
                <a:srgbClr val="3880C1"/>
              </a:solidFill>
              <a:latin typeface="Inter"/>
              <a:ea typeface="Inter"/>
              <a:cs typeface="Inter"/>
              <a:sym typeface="Inter"/>
            </a:endParaRPr>
          </a:p>
          <a:p>
            <a:pPr indent="0" lvl="0" marL="0" rtl="0" algn="l">
              <a:lnSpc>
                <a:spcPct val="115000"/>
              </a:lnSpc>
              <a:spcBef>
                <a:spcPts val="0"/>
              </a:spcBef>
              <a:spcAft>
                <a:spcPts val="0"/>
              </a:spcAft>
              <a:buNone/>
            </a:pPr>
            <a:r>
              <a:rPr b="1" lang="en" sz="2000">
                <a:solidFill>
                  <a:srgbClr val="3880C1"/>
                </a:solidFill>
                <a:latin typeface="Inter"/>
                <a:ea typeface="Inter"/>
                <a:cs typeface="Inter"/>
                <a:sym typeface="Inter"/>
              </a:rPr>
              <a:t>OTC August Performance</a:t>
            </a:r>
            <a:endParaRPr b="1" sz="2000">
              <a:solidFill>
                <a:srgbClr val="3880C1"/>
              </a:solidFill>
              <a:latin typeface="Inter"/>
              <a:ea typeface="Inter"/>
              <a:cs typeface="Inter"/>
              <a:sym typeface="Inter"/>
            </a:endParaRPr>
          </a:p>
          <a:p>
            <a:pPr indent="0" lvl="0" marL="0" rtl="0" algn="l">
              <a:lnSpc>
                <a:spcPct val="115000"/>
              </a:lnSpc>
              <a:spcBef>
                <a:spcPts val="0"/>
              </a:spcBef>
              <a:spcAft>
                <a:spcPts val="0"/>
              </a:spcAft>
              <a:buNone/>
            </a:pPr>
            <a:r>
              <a:rPr i="1" lang="en" sz="1200">
                <a:solidFill>
                  <a:srgbClr val="3880C1"/>
                </a:solidFill>
                <a:latin typeface="Inter"/>
                <a:ea typeface="Inter"/>
                <a:cs typeface="Inter"/>
                <a:sym typeface="Inter"/>
              </a:rPr>
              <a:t>Store Opened back at 14 August and starting Growing strong due as platform are on good trend and on Ads sides pushed strong</a:t>
            </a:r>
            <a:endParaRPr i="1" sz="1200">
              <a:solidFill>
                <a:srgbClr val="3880C1"/>
              </a:solidFill>
              <a:latin typeface="Inter"/>
              <a:ea typeface="Inter"/>
              <a:cs typeface="Inter"/>
              <a:sym typeface="Inter"/>
            </a:endParaRPr>
          </a:p>
        </p:txBody>
      </p:sp>
      <p:pic>
        <p:nvPicPr>
          <p:cNvPr id="274" name="Google Shape;274;p42"/>
          <p:cNvPicPr preferRelativeResize="0"/>
          <p:nvPr/>
        </p:nvPicPr>
        <p:blipFill rotWithShape="1">
          <a:blip r:embed="rId4">
            <a:alphaModFix/>
          </a:blip>
          <a:srcRect b="0" l="0" r="0" t="12564"/>
          <a:stretch/>
        </p:blipFill>
        <p:spPr>
          <a:xfrm>
            <a:off x="7406900" y="121550"/>
            <a:ext cx="634924" cy="451775"/>
          </a:xfrm>
          <a:prstGeom prst="rect">
            <a:avLst/>
          </a:prstGeom>
          <a:noFill/>
          <a:ln>
            <a:noFill/>
          </a:ln>
        </p:spPr>
      </p:pic>
      <p:sp>
        <p:nvSpPr>
          <p:cNvPr id="275" name="Google Shape;275;p42"/>
          <p:cNvSpPr/>
          <p:nvPr/>
        </p:nvSpPr>
        <p:spPr>
          <a:xfrm>
            <a:off x="294625" y="3245971"/>
            <a:ext cx="8550600" cy="2286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rgbClr val="FFFFFF"/>
                </a:solidFill>
                <a:latin typeface="Inter"/>
                <a:ea typeface="Inter"/>
                <a:cs typeface="Inter"/>
                <a:sym typeface="Inter"/>
              </a:rPr>
              <a:t>Key Highlights</a:t>
            </a:r>
            <a:endParaRPr b="1" sz="1100">
              <a:solidFill>
                <a:srgbClr val="FFFFFF"/>
              </a:solidFill>
              <a:latin typeface="Inter"/>
              <a:ea typeface="Inter"/>
              <a:cs typeface="Inter"/>
              <a:sym typeface="Inter"/>
            </a:endParaRPr>
          </a:p>
        </p:txBody>
      </p:sp>
      <p:sp>
        <p:nvSpPr>
          <p:cNvPr id="276" name="Google Shape;276;p42"/>
          <p:cNvSpPr txBox="1"/>
          <p:nvPr/>
        </p:nvSpPr>
        <p:spPr>
          <a:xfrm>
            <a:off x="277525" y="3124850"/>
            <a:ext cx="3692400" cy="22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rgbClr val="595959"/>
              </a:solidFill>
              <a:latin typeface="Inter"/>
              <a:ea typeface="Inter"/>
              <a:cs typeface="Inter"/>
              <a:sym typeface="Inter"/>
            </a:endParaRPr>
          </a:p>
        </p:txBody>
      </p:sp>
      <p:graphicFrame>
        <p:nvGraphicFramePr>
          <p:cNvPr id="277" name="Google Shape;277;p42"/>
          <p:cNvGraphicFramePr/>
          <p:nvPr/>
        </p:nvGraphicFramePr>
        <p:xfrm>
          <a:off x="248700" y="917375"/>
          <a:ext cx="3000000" cy="3000000"/>
        </p:xfrm>
        <a:graphic>
          <a:graphicData uri="http://schemas.openxmlformats.org/drawingml/2006/table">
            <a:tbl>
              <a:tblPr>
                <a:noFill/>
                <a:tableStyleId>{05CF1300-53F3-430B-9C35-424554A46B0A}</a:tableStyleId>
              </a:tblPr>
              <a:tblGrid>
                <a:gridCol w="1049100"/>
                <a:gridCol w="1049100"/>
                <a:gridCol w="1049100"/>
                <a:gridCol w="1049100"/>
              </a:tblGrid>
              <a:tr h="305600">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Metrics</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Feb</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Aug</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Growth</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r>
              <a:tr h="305600">
                <a:tc>
                  <a:txBody>
                    <a:bodyPr/>
                    <a:lstStyle/>
                    <a:p>
                      <a:pPr indent="0" lvl="0" marL="0" rtl="0" algn="ctr">
                        <a:lnSpc>
                          <a:spcPct val="115000"/>
                        </a:lnSpc>
                        <a:spcBef>
                          <a:spcPts val="0"/>
                        </a:spcBef>
                        <a:spcAft>
                          <a:spcPts val="0"/>
                        </a:spcAft>
                        <a:buNone/>
                      </a:pPr>
                      <a:r>
                        <a:rPr lang="en" sz="800">
                          <a:latin typeface="Inter"/>
                          <a:ea typeface="Inter"/>
                          <a:cs typeface="Inter"/>
                          <a:sym typeface="Inter"/>
                        </a:rPr>
                        <a:t>Revenue</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32,927,669</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40,346,984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23%</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305600">
                <a:tc>
                  <a:txBody>
                    <a:bodyPr/>
                    <a:lstStyle/>
                    <a:p>
                      <a:pPr indent="0" lvl="0" marL="0" rtl="0" algn="ctr">
                        <a:lnSpc>
                          <a:spcPct val="115000"/>
                        </a:lnSpc>
                        <a:spcBef>
                          <a:spcPts val="0"/>
                        </a:spcBef>
                        <a:spcAft>
                          <a:spcPts val="0"/>
                        </a:spcAft>
                        <a:buNone/>
                      </a:pPr>
                      <a:r>
                        <a:rPr lang="en" sz="800">
                          <a:latin typeface="Inter"/>
                          <a:ea typeface="Inter"/>
                          <a:cs typeface="Inter"/>
                          <a:sym typeface="Inter"/>
                        </a:rPr>
                        <a:t>Order</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749</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893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19%</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305600">
                <a:tc>
                  <a:txBody>
                    <a:bodyPr/>
                    <a:lstStyle/>
                    <a:p>
                      <a:pPr indent="0" lvl="0" marL="0" rtl="0" algn="ctr">
                        <a:lnSpc>
                          <a:spcPct val="115000"/>
                        </a:lnSpc>
                        <a:spcBef>
                          <a:spcPts val="0"/>
                        </a:spcBef>
                        <a:spcAft>
                          <a:spcPts val="0"/>
                        </a:spcAft>
                        <a:buNone/>
                      </a:pPr>
                      <a:r>
                        <a:rPr lang="en" sz="800">
                          <a:latin typeface="Inter"/>
                          <a:ea typeface="Inter"/>
                          <a:cs typeface="Inter"/>
                          <a:sym typeface="Inter"/>
                        </a:rPr>
                        <a:t>CVR</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5.41%</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5.58%</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3%</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305600">
                <a:tc>
                  <a:txBody>
                    <a:bodyPr/>
                    <a:lstStyle/>
                    <a:p>
                      <a:pPr indent="0" lvl="0" marL="0" rtl="0" algn="ctr">
                        <a:lnSpc>
                          <a:spcPct val="115000"/>
                        </a:lnSpc>
                        <a:spcBef>
                          <a:spcPts val="0"/>
                        </a:spcBef>
                        <a:spcAft>
                          <a:spcPts val="0"/>
                        </a:spcAft>
                        <a:buNone/>
                      </a:pPr>
                      <a:r>
                        <a:rPr lang="en" sz="800">
                          <a:latin typeface="Inter"/>
                          <a:ea typeface="Inter"/>
                          <a:cs typeface="Inter"/>
                          <a:sym typeface="Inter"/>
                        </a:rPr>
                        <a:t>PV</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13,832</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16,008</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16%</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305600">
                <a:tc>
                  <a:txBody>
                    <a:bodyPr/>
                    <a:lstStyle/>
                    <a:p>
                      <a:pPr indent="0" lvl="0" marL="0" rtl="0" algn="ctr">
                        <a:lnSpc>
                          <a:spcPct val="115000"/>
                        </a:lnSpc>
                        <a:spcBef>
                          <a:spcPts val="0"/>
                        </a:spcBef>
                        <a:spcAft>
                          <a:spcPts val="0"/>
                        </a:spcAft>
                        <a:buNone/>
                      </a:pPr>
                      <a:r>
                        <a:rPr lang="en" sz="800">
                          <a:latin typeface="Inter"/>
                          <a:ea typeface="Inter"/>
                          <a:cs typeface="Inter"/>
                          <a:sym typeface="Inter"/>
                        </a:rPr>
                        <a:t>ABS/AOV</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43,962</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45,181</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3%</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366675">
                <a:tc>
                  <a:txBody>
                    <a:bodyPr/>
                    <a:lstStyle/>
                    <a:p>
                      <a:pPr indent="0" lvl="0" marL="0" rtl="0" algn="ctr">
                        <a:lnSpc>
                          <a:spcPct val="115000"/>
                        </a:lnSpc>
                        <a:spcBef>
                          <a:spcPts val="0"/>
                        </a:spcBef>
                        <a:spcAft>
                          <a:spcPts val="0"/>
                        </a:spcAft>
                        <a:buNone/>
                      </a:pPr>
                      <a:r>
                        <a:rPr lang="en" sz="800"/>
                        <a:t>Target</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170,000,000</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159,309,000</a:t>
                      </a:r>
                      <a:endParaRPr sz="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00000"/>
                    </a:solidFill>
                  </a:tcPr>
                </a:tc>
              </a:tr>
            </a:tbl>
          </a:graphicData>
        </a:graphic>
      </p:graphicFrame>
      <p:graphicFrame>
        <p:nvGraphicFramePr>
          <p:cNvPr id="278" name="Google Shape;278;p42"/>
          <p:cNvGraphicFramePr/>
          <p:nvPr/>
        </p:nvGraphicFramePr>
        <p:xfrm>
          <a:off x="4538400" y="923813"/>
          <a:ext cx="3000000" cy="3000000"/>
        </p:xfrm>
        <a:graphic>
          <a:graphicData uri="http://schemas.openxmlformats.org/drawingml/2006/table">
            <a:tbl>
              <a:tblPr>
                <a:noFill/>
                <a:tableStyleId>{05CF1300-53F3-430B-9C35-424554A46B0A}</a:tableStyleId>
              </a:tblPr>
              <a:tblGrid>
                <a:gridCol w="2671525"/>
                <a:gridCol w="964450"/>
                <a:gridCol w="819775"/>
              </a:tblGrid>
              <a:tr h="200025">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Nama Products</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NMV</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vs Feb</a:t>
                      </a:r>
                      <a:endParaRPr b="1" sz="8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Panadol Extra [Kemasan Box]</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11,648,026</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51%</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Panadol Extra 10 Kaplet - isi 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7,467,408</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161%</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Panadol Extra 10 Kaplet</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6,557,916</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-16%</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Panadol Extra 10 Kaplet - isi 2</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3,350,760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-2%</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Panadol Reguler 10 Kaplet</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2,041,364</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-10%</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Panadol Anak Chewable Rasa Cherry 10 Kaplet</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1,713,060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17%</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Voltaren 20g</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1,519,248</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38%</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Panadol Reguler 10 Kaplet - isi 3</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1,324,128</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0%</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Panadol Anak Chewable Rasa Cherry 10 Kaplet - Isi 2</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1,103,972</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-9%</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200025">
                <a:tc>
                  <a:txBody>
                    <a:bodyPr/>
                    <a:lstStyle/>
                    <a:p>
                      <a:pPr indent="0" lvl="0" marL="0" rtl="0" algn="l">
                        <a:lnSpc>
                          <a:spcPct val="115000"/>
                        </a:lnSpc>
                        <a:spcBef>
                          <a:spcPts val="0"/>
                        </a:spcBef>
                        <a:spcAft>
                          <a:spcPts val="0"/>
                        </a:spcAft>
                        <a:buNone/>
                      </a:pPr>
                      <a:r>
                        <a:rPr lang="en" sz="800">
                          <a:latin typeface="Inter"/>
                          <a:ea typeface="Inter"/>
                          <a:cs typeface="Inter"/>
                          <a:sym typeface="Inter"/>
                        </a:rPr>
                        <a:t>Panadol Hijau 10 Kaplet</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latin typeface="Inter"/>
                          <a:ea typeface="Inter"/>
                          <a:cs typeface="Inter"/>
                          <a:sym typeface="Inter"/>
                        </a:rPr>
                        <a:t>847,880</a:t>
                      </a:r>
                      <a:endParaRPr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latin typeface="Inter"/>
                          <a:ea typeface="Inter"/>
                          <a:cs typeface="Inter"/>
                          <a:sym typeface="Inter"/>
                        </a:rPr>
                        <a:t>30%</a:t>
                      </a:r>
                      <a:endParaRPr b="1" sz="8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bl>
          </a:graphicData>
        </a:graphic>
      </p:graphicFrame>
      <p:sp>
        <p:nvSpPr>
          <p:cNvPr id="279" name="Google Shape;279;p42"/>
          <p:cNvSpPr/>
          <p:nvPr/>
        </p:nvSpPr>
        <p:spPr>
          <a:xfrm>
            <a:off x="3396000" y="1222975"/>
            <a:ext cx="1049100" cy="611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3"/>
          <p:cNvSpPr/>
          <p:nvPr/>
        </p:nvSpPr>
        <p:spPr>
          <a:xfrm>
            <a:off x="-6513854" y="1503934"/>
            <a:ext cx="270600" cy="299400"/>
          </a:xfrm>
          <a:prstGeom prst="rect">
            <a:avLst/>
          </a:prstGeom>
          <a:noFill/>
          <a:ln>
            <a:noFill/>
          </a:ln>
        </p:spPr>
        <p:txBody>
          <a:bodyPr anchorCtr="0" anchor="t" bIns="34275" lIns="68575" spcFirstLastPara="1" rIns="68575" wrap="square" tIns="34275">
            <a:noAutofit/>
          </a:bodyPr>
          <a:lstStyle/>
          <a:p>
            <a:pPr indent="0" lvl="0" marL="0" marR="0" rtl="0" algn="ctr">
              <a:lnSpc>
                <a:spcPct val="148571"/>
              </a:lnSpc>
              <a:spcBef>
                <a:spcPts val="0"/>
              </a:spcBef>
              <a:spcAft>
                <a:spcPts val="0"/>
              </a:spcAft>
              <a:buClr>
                <a:srgbClr val="000000"/>
              </a:buClr>
              <a:buSzPts val="1100"/>
              <a:buFont typeface="Arial"/>
              <a:buNone/>
            </a:pPr>
            <a:r>
              <a:rPr b="0" i="0" lang="en" sz="2000" u="none" cap="none" strike="noStrike">
                <a:solidFill>
                  <a:srgbClr val="FFFFFF"/>
                </a:solidFill>
                <a:latin typeface="Arial"/>
                <a:ea typeface="Arial"/>
                <a:cs typeface="Arial"/>
                <a:sym typeface="Arial"/>
              </a:rPr>
              <a:t>×</a:t>
            </a:r>
            <a:endParaRPr b="0" i="0" sz="2000" u="none" cap="none" strike="noStrike">
              <a:solidFill>
                <a:srgbClr val="FFFFFF"/>
              </a:solidFill>
              <a:latin typeface="Arial"/>
              <a:ea typeface="Arial"/>
              <a:cs typeface="Arial"/>
              <a:sym typeface="Arial"/>
            </a:endParaRPr>
          </a:p>
        </p:txBody>
      </p:sp>
      <p:pic>
        <p:nvPicPr>
          <p:cNvPr id="286" name="Google Shape;286;p43"/>
          <p:cNvPicPr preferRelativeResize="0"/>
          <p:nvPr/>
        </p:nvPicPr>
        <p:blipFill rotWithShape="1">
          <a:blip r:embed="rId3">
            <a:alphaModFix/>
          </a:blip>
          <a:srcRect b="0" l="0" r="0" t="0"/>
          <a:stretch/>
        </p:blipFill>
        <p:spPr>
          <a:xfrm>
            <a:off x="-6228335" y="1542176"/>
            <a:ext cx="1137599" cy="299310"/>
          </a:xfrm>
          <a:prstGeom prst="rect">
            <a:avLst/>
          </a:prstGeom>
          <a:noFill/>
          <a:ln>
            <a:noFill/>
          </a:ln>
        </p:spPr>
      </p:pic>
      <p:pic>
        <p:nvPicPr>
          <p:cNvPr id="287" name="Google Shape;287;p43"/>
          <p:cNvPicPr preferRelativeResize="0"/>
          <p:nvPr/>
        </p:nvPicPr>
        <p:blipFill rotWithShape="1">
          <a:blip r:embed="rId4">
            <a:alphaModFix/>
          </a:blip>
          <a:srcRect b="0" l="0" r="0" t="0"/>
          <a:stretch/>
        </p:blipFill>
        <p:spPr>
          <a:xfrm>
            <a:off x="-7488888" y="1447341"/>
            <a:ext cx="1137597" cy="490650"/>
          </a:xfrm>
          <a:prstGeom prst="rect">
            <a:avLst/>
          </a:prstGeom>
          <a:noFill/>
          <a:ln>
            <a:noFill/>
          </a:ln>
        </p:spPr>
      </p:pic>
      <p:grpSp>
        <p:nvGrpSpPr>
          <p:cNvPr id="288" name="Google Shape;288;p43"/>
          <p:cNvGrpSpPr/>
          <p:nvPr/>
        </p:nvGrpSpPr>
        <p:grpSpPr>
          <a:xfrm>
            <a:off x="0" y="1776516"/>
            <a:ext cx="9144000" cy="1388690"/>
            <a:chOff x="8230" y="1814144"/>
            <a:chExt cx="9144000" cy="1388690"/>
          </a:xfrm>
        </p:grpSpPr>
        <p:pic>
          <p:nvPicPr>
            <p:cNvPr descr="preencoded.png" id="289" name="Google Shape;289;p43"/>
            <p:cNvPicPr preferRelativeResize="0"/>
            <p:nvPr/>
          </p:nvPicPr>
          <p:blipFill rotWithShape="1">
            <a:blip r:embed="rId5">
              <a:alphaModFix/>
            </a:blip>
            <a:srcRect b="0" l="0" r="0" t="0"/>
            <a:stretch/>
          </p:blipFill>
          <p:spPr>
            <a:xfrm>
              <a:off x="3159127" y="1814144"/>
              <a:ext cx="2896175" cy="773078"/>
            </a:xfrm>
            <a:prstGeom prst="rect">
              <a:avLst/>
            </a:prstGeom>
            <a:noFill/>
            <a:ln>
              <a:noFill/>
            </a:ln>
          </p:spPr>
        </p:pic>
        <p:sp>
          <p:nvSpPr>
            <p:cNvPr id="290" name="Google Shape;290;p43"/>
            <p:cNvSpPr/>
            <p:nvPr/>
          </p:nvSpPr>
          <p:spPr>
            <a:xfrm>
              <a:off x="8230" y="2758234"/>
              <a:ext cx="9144000" cy="444600"/>
            </a:xfrm>
            <a:prstGeom prst="rect">
              <a:avLst/>
            </a:prstGeom>
            <a:noFill/>
            <a:ln>
              <a:noFill/>
            </a:ln>
          </p:spPr>
          <p:txBody>
            <a:bodyPr anchorCtr="0" anchor="t" bIns="0" lIns="0" spcFirstLastPara="1" rIns="0" wrap="square" tIns="0">
              <a:noAutofit/>
            </a:bodyPr>
            <a:lstStyle/>
            <a:p>
              <a:pPr indent="0" lvl="0" marL="0" marR="0" rtl="0" algn="ctr">
                <a:lnSpc>
                  <a:spcPct val="120833"/>
                </a:lnSpc>
                <a:spcBef>
                  <a:spcPts val="0"/>
                </a:spcBef>
                <a:spcAft>
                  <a:spcPts val="0"/>
                </a:spcAft>
                <a:buClr>
                  <a:srgbClr val="000000"/>
                </a:buClr>
                <a:buSzPts val="1400"/>
                <a:buFont typeface="Arial"/>
                <a:buNone/>
              </a:pPr>
              <a:r>
                <a:rPr b="1" i="0" lang="en" sz="1400" u="none" cap="none" strike="noStrike">
                  <a:solidFill>
                    <a:srgbClr val="FFFFFF"/>
                  </a:solidFill>
                  <a:latin typeface="Inter"/>
                  <a:ea typeface="Inter"/>
                  <a:cs typeface="Inter"/>
                  <a:sym typeface="Inter"/>
                </a:rPr>
                <a:t>AnyMind Credential Deck</a:t>
              </a:r>
              <a:endParaRPr b="0" i="0" sz="1400" u="none" cap="none" strike="noStrike">
                <a:solidFill>
                  <a:srgbClr val="000000"/>
                </a:solidFill>
                <a:latin typeface="Calibri"/>
                <a:ea typeface="Calibri"/>
                <a:cs typeface="Calibri"/>
                <a:sym typeface="Calibri"/>
              </a:endParaRPr>
            </a:p>
          </p:txBody>
        </p:sp>
      </p:grpSp>
      <p:sp>
        <p:nvSpPr>
          <p:cNvPr id="291" name="Google Shape;291;p43"/>
          <p:cNvSpPr txBox="1"/>
          <p:nvPr/>
        </p:nvSpPr>
        <p:spPr>
          <a:xfrm>
            <a:off x="182878" y="4936977"/>
            <a:ext cx="1578300" cy="91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FFFFFF"/>
                </a:solidFill>
                <a:latin typeface="Arial"/>
                <a:ea typeface="Arial"/>
                <a:cs typeface="Arial"/>
                <a:sym typeface="Arial"/>
              </a:rPr>
              <a:t>© AnyMind Group. All Rights Reserved.</a:t>
            </a:r>
            <a:endParaRPr b="0" i="0" sz="700" u="none" cap="none" strike="noStrike">
              <a:solidFill>
                <a:srgbClr val="FFFFFF"/>
              </a:solidFill>
              <a:latin typeface="Arial"/>
              <a:ea typeface="Arial"/>
              <a:cs typeface="Arial"/>
              <a:sym typeface="Arial"/>
            </a:endParaRPr>
          </a:p>
        </p:txBody>
      </p:sp>
      <p:sp>
        <p:nvSpPr>
          <p:cNvPr id="292" name="Google Shape;292;p43"/>
          <p:cNvSpPr txBox="1"/>
          <p:nvPr/>
        </p:nvSpPr>
        <p:spPr>
          <a:xfrm>
            <a:off x="8676350" y="4891227"/>
            <a:ext cx="342900" cy="1830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FFFFFF"/>
                </a:solidFill>
                <a:latin typeface="Inter SemiBold"/>
                <a:ea typeface="Inter SemiBold"/>
                <a:cs typeface="Inter SemiBold"/>
                <a:sym typeface="Inter SemiBold"/>
              </a:rPr>
              <a:t>‹#›</a:t>
            </a:fld>
            <a:endParaRPr b="0" i="0" sz="800" u="none" cap="none" strike="noStrike">
              <a:solidFill>
                <a:srgbClr val="FFFFFF"/>
              </a:solidFill>
              <a:latin typeface="Inter SemiBold"/>
              <a:ea typeface="Inter SemiBold"/>
              <a:cs typeface="Inter SemiBold"/>
              <a:sym typeface="Inter SemiBold"/>
            </a:endParaRPr>
          </a:p>
        </p:txBody>
      </p:sp>
      <p:sp>
        <p:nvSpPr>
          <p:cNvPr id="293" name="Google Shape;293;p43"/>
          <p:cNvSpPr/>
          <p:nvPr/>
        </p:nvSpPr>
        <p:spPr>
          <a:xfrm>
            <a:off x="7983850" y="4891227"/>
            <a:ext cx="743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Inter"/>
                <a:ea typeface="Inter"/>
                <a:cs typeface="Inter"/>
                <a:sym typeface="Inter"/>
              </a:rPr>
              <a:t>CONFIDENTIAL</a:t>
            </a:r>
            <a:endParaRPr b="0" i="0" sz="700" u="none" cap="none" strike="noStrike">
              <a:solidFill>
                <a:srgbClr val="FFFFFF"/>
              </a:solidFill>
              <a:latin typeface="Calibri"/>
              <a:ea typeface="Calibri"/>
              <a:cs typeface="Calibri"/>
              <a:sym typeface="Calibri"/>
            </a:endParaRPr>
          </a:p>
        </p:txBody>
      </p:sp>
      <p:pic>
        <p:nvPicPr>
          <p:cNvPr id="294" name="Google Shape;294;p43"/>
          <p:cNvPicPr preferRelativeResize="0"/>
          <p:nvPr/>
        </p:nvPicPr>
        <p:blipFill rotWithShape="1">
          <a:blip r:embed="rId6">
            <a:alphaModFix/>
          </a:blip>
          <a:srcRect b="0" l="1040" r="-1040" t="0"/>
          <a:stretch/>
        </p:blipFill>
        <p:spPr>
          <a:xfrm>
            <a:off x="-7100" y="-73975"/>
            <a:ext cx="9310126" cy="5217474"/>
          </a:xfrm>
          <a:prstGeom prst="rect">
            <a:avLst/>
          </a:prstGeom>
          <a:noFill/>
          <a:ln>
            <a:noFill/>
          </a:ln>
        </p:spPr>
      </p:pic>
      <p:sp>
        <p:nvSpPr>
          <p:cNvPr id="295" name="Google Shape;295;p43"/>
          <p:cNvSpPr/>
          <p:nvPr/>
        </p:nvSpPr>
        <p:spPr>
          <a:xfrm>
            <a:off x="1205875" y="4800550"/>
            <a:ext cx="1994400" cy="183000"/>
          </a:xfrm>
          <a:prstGeom prst="rect">
            <a:avLst/>
          </a:prstGeom>
          <a:noFill/>
          <a:ln>
            <a:noFill/>
          </a:ln>
        </p:spPr>
        <p:txBody>
          <a:bodyPr anchorCtr="0" anchor="ctr" bIns="0" lIns="0" spcFirstLastPara="1" rIns="0" wrap="square" tIns="0">
            <a:noAutofit/>
          </a:bodyPr>
          <a:lstStyle/>
          <a:p>
            <a:pPr indent="0" lvl="0" marL="0" marR="0" rtl="0" algn="l">
              <a:lnSpc>
                <a:spcPct val="118181"/>
              </a:lnSpc>
              <a:spcBef>
                <a:spcPts val="0"/>
              </a:spcBef>
              <a:spcAft>
                <a:spcPts val="0"/>
              </a:spcAft>
              <a:buClr>
                <a:srgbClr val="000000"/>
              </a:buClr>
              <a:buSzPts val="700"/>
              <a:buFont typeface="Arial"/>
              <a:buNone/>
            </a:pPr>
            <a:r>
              <a:rPr b="0" i="0" lang="en" sz="700" u="none" cap="none" strike="noStrike">
                <a:solidFill>
                  <a:srgbClr val="FFFFFF"/>
                </a:solidFill>
                <a:latin typeface="Inter"/>
                <a:ea typeface="Inter"/>
                <a:cs typeface="Inter"/>
                <a:sym typeface="Inter"/>
              </a:rPr>
              <a:t>© AnyMind Group. All Rights Reserved.</a:t>
            </a:r>
            <a:endParaRPr b="0" i="0" sz="700" u="none" cap="none" strike="noStrike">
              <a:solidFill>
                <a:srgbClr val="FFFFFF"/>
              </a:solidFill>
              <a:latin typeface="Calibri"/>
              <a:ea typeface="Calibri"/>
              <a:cs typeface="Calibri"/>
              <a:sym typeface="Calibri"/>
            </a:endParaRPr>
          </a:p>
        </p:txBody>
      </p:sp>
      <p:pic>
        <p:nvPicPr>
          <p:cNvPr descr="preencoded.png" id="296" name="Google Shape;296;p43"/>
          <p:cNvPicPr preferRelativeResize="0"/>
          <p:nvPr/>
        </p:nvPicPr>
        <p:blipFill rotWithShape="1">
          <a:blip r:embed="rId7">
            <a:alphaModFix/>
          </a:blip>
          <a:srcRect b="0" l="0" r="0" t="0"/>
          <a:stretch/>
        </p:blipFill>
        <p:spPr>
          <a:xfrm>
            <a:off x="222885" y="4777740"/>
            <a:ext cx="880110" cy="228600"/>
          </a:xfrm>
          <a:prstGeom prst="rect">
            <a:avLst/>
          </a:prstGeom>
          <a:noFill/>
          <a:ln>
            <a:noFill/>
          </a:ln>
        </p:spPr>
      </p:pic>
      <p:sp>
        <p:nvSpPr>
          <p:cNvPr id="297" name="Google Shape;297;p43"/>
          <p:cNvSpPr/>
          <p:nvPr/>
        </p:nvSpPr>
        <p:spPr>
          <a:xfrm>
            <a:off x="7983850" y="4800540"/>
            <a:ext cx="743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Inter"/>
                <a:ea typeface="Inter"/>
                <a:cs typeface="Inter"/>
                <a:sym typeface="Inter"/>
              </a:rPr>
              <a:t>CONFIDENTIAL</a:t>
            </a:r>
            <a:endParaRPr b="0" i="0" sz="700" u="none" cap="none" strike="noStrike">
              <a:solidFill>
                <a:srgbClr val="000000"/>
              </a:solidFill>
              <a:latin typeface="Calibri"/>
              <a:ea typeface="Calibri"/>
              <a:cs typeface="Calibri"/>
              <a:sym typeface="Calibri"/>
            </a:endParaRPr>
          </a:p>
        </p:txBody>
      </p:sp>
      <p:sp>
        <p:nvSpPr>
          <p:cNvPr id="298" name="Google Shape;298;p43"/>
          <p:cNvSpPr txBox="1"/>
          <p:nvPr/>
        </p:nvSpPr>
        <p:spPr>
          <a:xfrm>
            <a:off x="8676350" y="4800550"/>
            <a:ext cx="342900" cy="1830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FFFFFF"/>
                </a:solidFill>
                <a:latin typeface="Inter SemiBold"/>
                <a:ea typeface="Inter SemiBold"/>
                <a:cs typeface="Inter SemiBold"/>
                <a:sym typeface="Inter SemiBold"/>
              </a:rPr>
              <a:t>‹#›</a:t>
            </a:fld>
            <a:endParaRPr b="0" i="0" sz="800" u="none" cap="none" strike="noStrike">
              <a:solidFill>
                <a:srgbClr val="FFFFFF"/>
              </a:solidFill>
              <a:latin typeface="Inter SemiBold"/>
              <a:ea typeface="Inter SemiBold"/>
              <a:cs typeface="Inter SemiBold"/>
              <a:sym typeface="Inter SemiBold"/>
            </a:endParaRPr>
          </a:p>
        </p:txBody>
      </p:sp>
      <p:sp>
        <p:nvSpPr>
          <p:cNvPr id="299" name="Google Shape;299;p43"/>
          <p:cNvSpPr/>
          <p:nvPr/>
        </p:nvSpPr>
        <p:spPr>
          <a:xfrm>
            <a:off x="2275200" y="1377363"/>
            <a:ext cx="4593600" cy="218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323850" lvl="0" marL="457200" marR="0" rtl="0" algn="l">
              <a:lnSpc>
                <a:spcPct val="150000"/>
              </a:lnSpc>
              <a:spcBef>
                <a:spcPts val="0"/>
              </a:spcBef>
              <a:spcAft>
                <a:spcPts val="0"/>
              </a:spcAft>
              <a:buClr>
                <a:srgbClr val="CCCCCC"/>
              </a:buClr>
              <a:buSzPts val="1500"/>
              <a:buFont typeface="Inter"/>
              <a:buAutoNum type="arabicPeriod"/>
            </a:pPr>
            <a:r>
              <a:rPr b="1" i="0" lang="en" sz="1500" u="none" cap="none" strike="noStrike">
                <a:solidFill>
                  <a:srgbClr val="CCCCCC"/>
                </a:solidFill>
                <a:latin typeface="Inter"/>
                <a:ea typeface="Inter"/>
                <a:cs typeface="Inter"/>
                <a:sym typeface="Inter"/>
              </a:rPr>
              <a:t>Sell In &amp; B2C Performance</a:t>
            </a:r>
            <a:endParaRPr b="1" i="0" sz="1500" u="none" cap="none" strike="noStrike">
              <a:solidFill>
                <a:srgbClr val="CCCCCC"/>
              </a:solidFill>
              <a:latin typeface="Inter"/>
              <a:ea typeface="Inter"/>
              <a:cs typeface="Inter"/>
              <a:sym typeface="Inter"/>
            </a:endParaRPr>
          </a:p>
          <a:p>
            <a:pPr indent="-323850" lvl="0" marL="457200" marR="0" rtl="0" algn="l">
              <a:lnSpc>
                <a:spcPct val="150000"/>
              </a:lnSpc>
              <a:spcBef>
                <a:spcPts val="0"/>
              </a:spcBef>
              <a:spcAft>
                <a:spcPts val="0"/>
              </a:spcAft>
              <a:buClr>
                <a:srgbClr val="3880C1"/>
              </a:buClr>
              <a:buSzPts val="1500"/>
              <a:buFont typeface="Inter"/>
              <a:buAutoNum type="arabicPeriod"/>
            </a:pPr>
            <a:r>
              <a:rPr b="1" i="0" lang="en" sz="1500" u="none" cap="none" strike="noStrike">
                <a:solidFill>
                  <a:srgbClr val="3880C1"/>
                </a:solidFill>
                <a:latin typeface="Inter"/>
                <a:ea typeface="Inter"/>
                <a:cs typeface="Inter"/>
                <a:sym typeface="Inter"/>
              </a:rPr>
              <a:t>B2C Marketing Activations</a:t>
            </a:r>
            <a:endParaRPr b="1" i="0" sz="1500" u="none" cap="none" strike="noStrike">
              <a:solidFill>
                <a:srgbClr val="3880C1"/>
              </a:solidFill>
              <a:latin typeface="Inter"/>
              <a:ea typeface="Inter"/>
              <a:cs typeface="Inter"/>
              <a:sym typeface="Inter"/>
            </a:endParaRPr>
          </a:p>
          <a:p>
            <a:pPr indent="-323850" lvl="0" marL="457200" marR="0" rtl="0" algn="l">
              <a:lnSpc>
                <a:spcPct val="150000"/>
              </a:lnSpc>
              <a:spcBef>
                <a:spcPts val="0"/>
              </a:spcBef>
              <a:spcAft>
                <a:spcPts val="0"/>
              </a:spcAft>
              <a:buClr>
                <a:srgbClr val="CCCCCC"/>
              </a:buClr>
              <a:buSzPts val="1500"/>
              <a:buFont typeface="Inter"/>
              <a:buAutoNum type="arabicPeriod"/>
            </a:pPr>
            <a:r>
              <a:rPr b="1" i="0" lang="en" sz="1500" u="none" cap="none" strike="noStrike">
                <a:solidFill>
                  <a:srgbClr val="CCCCCC"/>
                </a:solidFill>
                <a:latin typeface="Inter"/>
                <a:ea typeface="Inter"/>
                <a:cs typeface="Inter"/>
                <a:sym typeface="Inter"/>
              </a:rPr>
              <a:t>B2B Performance</a:t>
            </a:r>
            <a:endParaRPr b="1" i="0" sz="1500" u="none" cap="none" strike="noStrike">
              <a:solidFill>
                <a:srgbClr val="CCCCCC"/>
              </a:solidFill>
              <a:latin typeface="Inter"/>
              <a:ea typeface="Inter"/>
              <a:cs typeface="Inter"/>
              <a:sym typeface="Inter"/>
            </a:endParaRPr>
          </a:p>
          <a:p>
            <a:pPr indent="-323850" lvl="0" marL="457200" marR="0" rtl="0" algn="l">
              <a:lnSpc>
                <a:spcPct val="150000"/>
              </a:lnSpc>
              <a:spcBef>
                <a:spcPts val="0"/>
              </a:spcBef>
              <a:spcAft>
                <a:spcPts val="0"/>
              </a:spcAft>
              <a:buClr>
                <a:srgbClr val="CCCCCC"/>
              </a:buClr>
              <a:buSzPts val="1500"/>
              <a:buFont typeface="Inter"/>
              <a:buAutoNum type="arabicPeriod"/>
            </a:pPr>
            <a:r>
              <a:rPr b="1" i="0" lang="en" sz="1500" u="none" cap="none" strike="noStrike">
                <a:solidFill>
                  <a:srgbClr val="CCCCCC"/>
                </a:solidFill>
                <a:latin typeface="Inter"/>
                <a:ea typeface="Inter"/>
                <a:cs typeface="Inter"/>
                <a:sym typeface="Inter"/>
              </a:rPr>
              <a:t>Key Learnings and Initiatives for </a:t>
            </a:r>
            <a:r>
              <a:rPr b="1" lang="en" sz="1500">
                <a:solidFill>
                  <a:srgbClr val="CCCCCC"/>
                </a:solidFill>
                <a:latin typeface="Inter"/>
                <a:ea typeface="Inter"/>
                <a:cs typeface="Inter"/>
                <a:sym typeface="Inter"/>
              </a:rPr>
              <a:t>August</a:t>
            </a:r>
            <a:endParaRPr b="1" i="0" sz="1500" u="none" cap="none" strike="noStrike">
              <a:solidFill>
                <a:srgbClr val="CCCCCC"/>
              </a:solidFill>
              <a:latin typeface="Inter"/>
              <a:ea typeface="Inter"/>
              <a:cs typeface="Inter"/>
              <a:sym typeface="Inter"/>
            </a:endParaRPr>
          </a:p>
        </p:txBody>
      </p:sp>
      <p:sp>
        <p:nvSpPr>
          <p:cNvPr id="300" name="Google Shape;300;p43"/>
          <p:cNvSpPr txBox="1"/>
          <p:nvPr/>
        </p:nvSpPr>
        <p:spPr>
          <a:xfrm>
            <a:off x="348875" y="301725"/>
            <a:ext cx="1806900" cy="531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4500"/>
              <a:buFont typeface="Arial"/>
              <a:buNone/>
            </a:pPr>
            <a:r>
              <a:rPr b="1" i="0" lang="en" sz="3000" u="none" cap="none" strike="noStrike">
                <a:solidFill>
                  <a:schemeClr val="lt1"/>
                </a:solidFill>
                <a:latin typeface="Inter"/>
                <a:ea typeface="Inter"/>
                <a:cs typeface="Inter"/>
                <a:sym typeface="Inter"/>
              </a:rPr>
              <a:t>Agenda</a:t>
            </a:r>
            <a:endParaRPr b="1" i="0" sz="3000" u="none" cap="none" strike="noStrike">
              <a:solidFill>
                <a:schemeClr val="lt1"/>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4"/>
          <p:cNvSpPr txBox="1"/>
          <p:nvPr/>
        </p:nvSpPr>
        <p:spPr>
          <a:xfrm>
            <a:off x="5490600" y="1477525"/>
            <a:ext cx="3528900" cy="2815500"/>
          </a:xfrm>
          <a:prstGeom prst="rect">
            <a:avLst/>
          </a:prstGeom>
          <a:noFill/>
          <a:ln>
            <a:noFill/>
          </a:ln>
        </p:spPr>
        <p:txBody>
          <a:bodyPr anchorCtr="0" anchor="t" bIns="91425" lIns="91425" spcFirstLastPara="1" rIns="91425" wrap="square" tIns="91425">
            <a:noAutofit/>
          </a:bodyPr>
          <a:lstStyle/>
          <a:p>
            <a:pPr indent="-285750" lvl="0" marL="457200" marR="0" rtl="0" algn="l">
              <a:lnSpc>
                <a:spcPct val="115000"/>
              </a:lnSpc>
              <a:spcBef>
                <a:spcPts val="1000"/>
              </a:spcBef>
              <a:spcAft>
                <a:spcPts val="0"/>
              </a:spcAft>
              <a:buClr>
                <a:schemeClr val="dk2"/>
              </a:buClr>
              <a:buSzPts val="900"/>
              <a:buFont typeface="Inter"/>
              <a:buChar char="●"/>
            </a:pPr>
            <a:r>
              <a:rPr lang="en" sz="900">
                <a:solidFill>
                  <a:schemeClr val="dk2"/>
                </a:solidFill>
                <a:latin typeface="Inter"/>
                <a:ea typeface="Inter"/>
                <a:cs typeface="Inter"/>
                <a:sym typeface="Inter"/>
              </a:rPr>
              <a:t>Ads Contribution remains quite </a:t>
            </a:r>
            <a:r>
              <a:rPr lang="en" sz="900">
                <a:solidFill>
                  <a:schemeClr val="dk2"/>
                </a:solidFill>
                <a:latin typeface="Inter"/>
                <a:ea typeface="Inter"/>
                <a:cs typeface="Inter"/>
                <a:sym typeface="Inter"/>
              </a:rPr>
              <a:t>healthy</a:t>
            </a:r>
            <a:r>
              <a:rPr lang="en" sz="900">
                <a:solidFill>
                  <a:schemeClr val="dk2"/>
                </a:solidFill>
                <a:latin typeface="Inter"/>
                <a:ea typeface="Inter"/>
                <a:cs typeface="Inter"/>
                <a:sym typeface="Inter"/>
              </a:rPr>
              <a:t> steady in </a:t>
            </a:r>
            <a:r>
              <a:rPr b="1" lang="en" sz="900">
                <a:solidFill>
                  <a:schemeClr val="dk2"/>
                </a:solidFill>
                <a:latin typeface="Inter"/>
                <a:ea typeface="Inter"/>
                <a:cs typeface="Inter"/>
                <a:sym typeface="Inter"/>
              </a:rPr>
              <a:t>67%</a:t>
            </a:r>
            <a:r>
              <a:rPr lang="en" sz="900">
                <a:solidFill>
                  <a:schemeClr val="dk2"/>
                </a:solidFill>
                <a:latin typeface="Inter"/>
                <a:ea typeface="Inter"/>
                <a:cs typeface="Inter"/>
                <a:sym typeface="Inter"/>
              </a:rPr>
              <a:t> and by GMV growth by </a:t>
            </a:r>
            <a:r>
              <a:rPr b="1" lang="en" sz="900">
                <a:solidFill>
                  <a:schemeClr val="dk2"/>
                </a:solidFill>
                <a:latin typeface="Inter"/>
                <a:ea typeface="Inter"/>
                <a:cs typeface="Inter"/>
                <a:sym typeface="Inter"/>
              </a:rPr>
              <a:t>5% </a:t>
            </a:r>
            <a:r>
              <a:rPr lang="en" sz="900">
                <a:solidFill>
                  <a:schemeClr val="dk2"/>
                </a:solidFill>
                <a:latin typeface="Inter"/>
                <a:ea typeface="Inter"/>
                <a:cs typeface="Inter"/>
                <a:sym typeface="Inter"/>
              </a:rPr>
              <a:t>which also increased our PV this month</a:t>
            </a:r>
            <a:endParaRPr sz="900">
              <a:solidFill>
                <a:schemeClr val="dk2"/>
              </a:solidFill>
              <a:latin typeface="Inter"/>
              <a:ea typeface="Inter"/>
              <a:cs typeface="Inter"/>
              <a:sym typeface="Inter"/>
            </a:endParaRPr>
          </a:p>
          <a:p>
            <a:pPr indent="-285750" lvl="0" marL="457200" marR="0" rtl="0" algn="l">
              <a:lnSpc>
                <a:spcPct val="115000"/>
              </a:lnSpc>
              <a:spcBef>
                <a:spcPts val="1000"/>
              </a:spcBef>
              <a:spcAft>
                <a:spcPts val="0"/>
              </a:spcAft>
              <a:buClr>
                <a:schemeClr val="dk2"/>
              </a:buClr>
              <a:buSzPts val="900"/>
              <a:buFont typeface="Inter"/>
              <a:buChar char="●"/>
            </a:pPr>
            <a:r>
              <a:rPr lang="en" sz="900">
                <a:solidFill>
                  <a:schemeClr val="dk2"/>
                </a:solidFill>
                <a:latin typeface="Inter"/>
                <a:ea typeface="Inter"/>
                <a:cs typeface="Inter"/>
                <a:sym typeface="Inter"/>
              </a:rPr>
              <a:t>Affiliate growing </a:t>
            </a:r>
            <a:r>
              <a:rPr lang="en" sz="900">
                <a:solidFill>
                  <a:schemeClr val="dk2"/>
                </a:solidFill>
                <a:latin typeface="Inter"/>
                <a:ea typeface="Inter"/>
                <a:cs typeface="Inter"/>
                <a:sym typeface="Inter"/>
              </a:rPr>
              <a:t>healthy by </a:t>
            </a:r>
            <a:r>
              <a:rPr b="1" lang="en" sz="900">
                <a:solidFill>
                  <a:schemeClr val="dk2"/>
                </a:solidFill>
                <a:latin typeface="Inter"/>
                <a:ea typeface="Inter"/>
                <a:cs typeface="Inter"/>
                <a:sym typeface="Inter"/>
              </a:rPr>
              <a:t>10% </a:t>
            </a:r>
            <a:r>
              <a:rPr lang="en" sz="900">
                <a:solidFill>
                  <a:schemeClr val="dk2"/>
                </a:solidFill>
                <a:latin typeface="Inter"/>
                <a:ea typeface="Inter"/>
                <a:cs typeface="Inter"/>
                <a:sym typeface="Inter"/>
              </a:rPr>
              <a:t>MoM, by contribution also growing stronger to </a:t>
            </a:r>
            <a:r>
              <a:rPr b="1" lang="en" sz="900">
                <a:solidFill>
                  <a:schemeClr val="dk2"/>
                </a:solidFill>
                <a:latin typeface="Inter"/>
                <a:ea typeface="Inter"/>
                <a:cs typeface="Inter"/>
                <a:sym typeface="Inter"/>
              </a:rPr>
              <a:t>43% </a:t>
            </a:r>
            <a:r>
              <a:rPr lang="en" sz="900">
                <a:solidFill>
                  <a:schemeClr val="dk2"/>
                </a:solidFill>
                <a:latin typeface="Inter"/>
                <a:ea typeface="Inter"/>
                <a:cs typeface="Inter"/>
                <a:sym typeface="Inter"/>
              </a:rPr>
              <a:t>from 38% on July meaning a more strong potential that we cloud shift more on affiliate</a:t>
            </a:r>
            <a:endParaRPr sz="900">
              <a:solidFill>
                <a:schemeClr val="dk2"/>
              </a:solidFill>
              <a:latin typeface="Inter"/>
              <a:ea typeface="Inter"/>
              <a:cs typeface="Inter"/>
              <a:sym typeface="Inter"/>
            </a:endParaRPr>
          </a:p>
          <a:p>
            <a:pPr indent="-285750" lvl="0" marL="457200" marR="0" rtl="0" algn="l">
              <a:lnSpc>
                <a:spcPct val="115000"/>
              </a:lnSpc>
              <a:spcBef>
                <a:spcPts val="1000"/>
              </a:spcBef>
              <a:spcAft>
                <a:spcPts val="0"/>
              </a:spcAft>
              <a:buClr>
                <a:schemeClr val="dk2"/>
              </a:buClr>
              <a:buSzPts val="900"/>
              <a:buFont typeface="Inter"/>
              <a:buChar char="●"/>
            </a:pPr>
            <a:r>
              <a:rPr lang="en" sz="900">
                <a:solidFill>
                  <a:schemeClr val="dk2"/>
                </a:solidFill>
                <a:latin typeface="Inter"/>
                <a:ea typeface="Inter"/>
                <a:cs typeface="Inter"/>
                <a:sym typeface="Inter"/>
              </a:rPr>
              <a:t>Live Streaming by growth slightly decreased by </a:t>
            </a:r>
            <a:r>
              <a:rPr b="1" lang="en" sz="900">
                <a:solidFill>
                  <a:schemeClr val="dk2"/>
                </a:solidFill>
                <a:latin typeface="Inter"/>
                <a:ea typeface="Inter"/>
                <a:cs typeface="Inter"/>
                <a:sym typeface="Inter"/>
              </a:rPr>
              <a:t>-3%</a:t>
            </a:r>
            <a:r>
              <a:rPr lang="en" sz="900">
                <a:solidFill>
                  <a:schemeClr val="dk2"/>
                </a:solidFill>
                <a:latin typeface="Inter"/>
                <a:ea typeface="Inter"/>
                <a:cs typeface="Inter"/>
                <a:sym typeface="Inter"/>
              </a:rPr>
              <a:t> but the Contribution increased slowly and still be our focus to grow the Livestreaming especially since centrum in this month will have more activation on Ls</a:t>
            </a:r>
            <a:r>
              <a:rPr lang="en" sz="900">
                <a:solidFill>
                  <a:schemeClr val="dk2"/>
                </a:solidFill>
                <a:latin typeface="Inter"/>
                <a:ea typeface="Inter"/>
                <a:cs typeface="Inter"/>
                <a:sym typeface="Inter"/>
              </a:rPr>
              <a:t> </a:t>
            </a:r>
            <a:endParaRPr sz="900">
              <a:solidFill>
                <a:schemeClr val="dk2"/>
              </a:solidFill>
              <a:latin typeface="Inter"/>
              <a:ea typeface="Inter"/>
              <a:cs typeface="Inter"/>
              <a:sym typeface="Inter"/>
            </a:endParaRPr>
          </a:p>
          <a:p>
            <a:pPr indent="-285750" lvl="0" marL="457200" marR="0" rtl="0" algn="l">
              <a:lnSpc>
                <a:spcPct val="115000"/>
              </a:lnSpc>
              <a:spcBef>
                <a:spcPts val="1000"/>
              </a:spcBef>
              <a:spcAft>
                <a:spcPts val="0"/>
              </a:spcAft>
              <a:buClr>
                <a:schemeClr val="dk2"/>
              </a:buClr>
              <a:buSzPts val="900"/>
              <a:buFont typeface="Inter"/>
              <a:buChar char="●"/>
            </a:pPr>
            <a:r>
              <a:rPr lang="en" sz="900">
                <a:solidFill>
                  <a:schemeClr val="dk2"/>
                </a:solidFill>
                <a:latin typeface="Inter"/>
                <a:ea typeface="Inter"/>
                <a:cs typeface="Inter"/>
                <a:sym typeface="Inter"/>
              </a:rPr>
              <a:t>Lazada most activation growing healthy by more than </a:t>
            </a:r>
            <a:r>
              <a:rPr b="1" lang="en" sz="900">
                <a:solidFill>
                  <a:schemeClr val="dk2"/>
                </a:solidFill>
                <a:latin typeface="Inter"/>
                <a:ea typeface="Inter"/>
                <a:cs typeface="Inter"/>
                <a:sym typeface="Inter"/>
              </a:rPr>
              <a:t>10%</a:t>
            </a:r>
            <a:r>
              <a:rPr lang="en" sz="900">
                <a:solidFill>
                  <a:schemeClr val="dk2"/>
                </a:solidFill>
                <a:latin typeface="Inter"/>
                <a:ea typeface="Inter"/>
                <a:cs typeface="Inter"/>
                <a:sym typeface="Inter"/>
              </a:rPr>
              <a:t> growth each activation and on overall GMV also increased by</a:t>
            </a:r>
            <a:r>
              <a:rPr b="1" lang="en" sz="900">
                <a:solidFill>
                  <a:schemeClr val="dk2"/>
                </a:solidFill>
                <a:latin typeface="Inter"/>
                <a:ea typeface="Inter"/>
                <a:cs typeface="Inter"/>
                <a:sym typeface="Inter"/>
              </a:rPr>
              <a:t> 30%</a:t>
            </a:r>
            <a:r>
              <a:rPr lang="en" sz="900">
                <a:solidFill>
                  <a:schemeClr val="dk2"/>
                </a:solidFill>
                <a:latin typeface="Inter"/>
                <a:ea typeface="Inter"/>
                <a:cs typeface="Inter"/>
                <a:sym typeface="Inter"/>
              </a:rPr>
              <a:t> this month eve though by platform support lower this month</a:t>
            </a:r>
            <a:endParaRPr sz="900">
              <a:solidFill>
                <a:schemeClr val="dk2"/>
              </a:solidFill>
              <a:latin typeface="Inter"/>
              <a:ea typeface="Inter"/>
              <a:cs typeface="Inter"/>
              <a:sym typeface="Inter"/>
            </a:endParaRPr>
          </a:p>
        </p:txBody>
      </p:sp>
      <p:sp>
        <p:nvSpPr>
          <p:cNvPr id="306" name="Google Shape;306;p44"/>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sp>
        <p:nvSpPr>
          <p:cNvPr id="307" name="Google Shape;307;p44"/>
          <p:cNvSpPr txBox="1"/>
          <p:nvPr>
            <p:ph type="ctrTitle"/>
          </p:nvPr>
        </p:nvSpPr>
        <p:spPr>
          <a:xfrm>
            <a:off x="44575" y="121550"/>
            <a:ext cx="9144000" cy="695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B2C Marketing Activations</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Activations Contributions</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rPr i="1" lang="en" sz="1200">
                <a:solidFill>
                  <a:srgbClr val="3880C1"/>
                </a:solidFill>
                <a:latin typeface="Inter"/>
                <a:ea typeface="Inter"/>
                <a:cs typeface="Inter"/>
                <a:sym typeface="Inter"/>
              </a:rPr>
              <a:t>Ads </a:t>
            </a:r>
            <a:r>
              <a:rPr i="1" lang="en" sz="1200">
                <a:solidFill>
                  <a:srgbClr val="3880C1"/>
                </a:solidFill>
                <a:latin typeface="Inter"/>
                <a:ea typeface="Inter"/>
                <a:cs typeface="Inter"/>
                <a:sym typeface="Inter"/>
              </a:rPr>
              <a:t>contribution</a:t>
            </a:r>
            <a:r>
              <a:rPr i="1" lang="en" sz="1200">
                <a:solidFill>
                  <a:srgbClr val="3880C1"/>
                </a:solidFill>
                <a:latin typeface="Inter"/>
                <a:ea typeface="Inter"/>
                <a:cs typeface="Inter"/>
                <a:sym typeface="Inter"/>
              </a:rPr>
              <a:t> rise by </a:t>
            </a:r>
            <a:r>
              <a:rPr b="1" i="1" lang="en" sz="1200">
                <a:solidFill>
                  <a:srgbClr val="3880C1"/>
                </a:solidFill>
                <a:latin typeface="Inter"/>
                <a:ea typeface="Inter"/>
                <a:cs typeface="Inter"/>
                <a:sym typeface="Inter"/>
              </a:rPr>
              <a:t>3%</a:t>
            </a:r>
            <a:r>
              <a:rPr i="1" lang="en" sz="1200">
                <a:solidFill>
                  <a:srgbClr val="3880C1"/>
                </a:solidFill>
                <a:latin typeface="Inter"/>
                <a:ea typeface="Inter"/>
                <a:cs typeface="Inter"/>
                <a:sym typeface="Inter"/>
              </a:rPr>
              <a:t> and having good growth by </a:t>
            </a:r>
            <a:r>
              <a:rPr b="1" i="1" lang="en" sz="1200">
                <a:solidFill>
                  <a:srgbClr val="3880C1"/>
                </a:solidFill>
                <a:latin typeface="Inter"/>
                <a:ea typeface="Inter"/>
                <a:cs typeface="Inter"/>
                <a:sym typeface="Inter"/>
              </a:rPr>
              <a:t>5% </a:t>
            </a:r>
            <a:r>
              <a:rPr i="1" lang="en" sz="1200">
                <a:solidFill>
                  <a:srgbClr val="3880C1"/>
                </a:solidFill>
                <a:latin typeface="Inter"/>
                <a:ea typeface="Inter"/>
                <a:cs typeface="Inter"/>
                <a:sym typeface="Inter"/>
              </a:rPr>
              <a:t>meanwhile Affiliate contribution increased by </a:t>
            </a:r>
            <a:r>
              <a:rPr b="1" i="1" lang="en" sz="1200">
                <a:solidFill>
                  <a:srgbClr val="3880C1"/>
                </a:solidFill>
                <a:latin typeface="Inter"/>
                <a:ea typeface="Inter"/>
                <a:cs typeface="Inter"/>
                <a:sym typeface="Inter"/>
              </a:rPr>
              <a:t>5pp</a:t>
            </a:r>
            <a:endParaRPr i="1" sz="1200">
              <a:solidFill>
                <a:srgbClr val="3880C1"/>
              </a:solidFill>
              <a:latin typeface="Inter"/>
              <a:ea typeface="Inter"/>
              <a:cs typeface="Inter"/>
              <a:sym typeface="Inter"/>
            </a:endParaRPr>
          </a:p>
        </p:txBody>
      </p:sp>
      <p:pic>
        <p:nvPicPr>
          <p:cNvPr id="308" name="Google Shape;308;p44"/>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pic>
        <p:nvPicPr>
          <p:cNvPr id="309" name="Google Shape;309;p44"/>
          <p:cNvPicPr preferRelativeResize="0"/>
          <p:nvPr/>
        </p:nvPicPr>
        <p:blipFill rotWithShape="1">
          <a:blip r:embed="rId4">
            <a:alphaModFix/>
          </a:blip>
          <a:srcRect b="0" l="0" r="0" t="12564"/>
          <a:stretch/>
        </p:blipFill>
        <p:spPr>
          <a:xfrm>
            <a:off x="7406900" y="121550"/>
            <a:ext cx="634924" cy="451775"/>
          </a:xfrm>
          <a:prstGeom prst="rect">
            <a:avLst/>
          </a:prstGeom>
          <a:noFill/>
          <a:ln>
            <a:noFill/>
          </a:ln>
        </p:spPr>
      </p:pic>
      <p:sp>
        <p:nvSpPr>
          <p:cNvPr id="310" name="Google Shape;310;p44"/>
          <p:cNvSpPr/>
          <p:nvPr/>
        </p:nvSpPr>
        <p:spPr>
          <a:xfrm>
            <a:off x="5490600" y="1047000"/>
            <a:ext cx="3469200" cy="2964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lt1"/>
                </a:solidFill>
                <a:latin typeface="Inter"/>
                <a:ea typeface="Inter"/>
                <a:cs typeface="Inter"/>
                <a:sym typeface="Inter"/>
              </a:rPr>
              <a:t>Key Highlights</a:t>
            </a:r>
            <a:endParaRPr b="1" i="0" sz="1100" u="none" cap="none" strike="noStrike">
              <a:solidFill>
                <a:schemeClr val="lt1"/>
              </a:solidFill>
              <a:latin typeface="Inter"/>
              <a:ea typeface="Inter"/>
              <a:cs typeface="Inter"/>
              <a:sym typeface="Inter"/>
            </a:endParaRPr>
          </a:p>
        </p:txBody>
      </p:sp>
      <p:graphicFrame>
        <p:nvGraphicFramePr>
          <p:cNvPr id="311" name="Google Shape;311;p44"/>
          <p:cNvGraphicFramePr/>
          <p:nvPr/>
        </p:nvGraphicFramePr>
        <p:xfrm>
          <a:off x="112950" y="991300"/>
          <a:ext cx="3000000" cy="3000000"/>
        </p:xfrm>
        <a:graphic>
          <a:graphicData uri="http://schemas.openxmlformats.org/drawingml/2006/table">
            <a:tbl>
              <a:tblPr>
                <a:noFill/>
                <a:tableStyleId>{05CF1300-53F3-430B-9C35-424554A46B0A}</a:tableStyleId>
              </a:tblPr>
              <a:tblGrid>
                <a:gridCol w="1027900"/>
                <a:gridCol w="1027900"/>
                <a:gridCol w="1027900"/>
                <a:gridCol w="1027900"/>
                <a:gridCol w="1027900"/>
              </a:tblGrid>
              <a:tr h="520600">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Shopee</a:t>
                      </a:r>
                      <a:endParaRPr b="1"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MTD</a:t>
                      </a:r>
                      <a:endParaRPr b="1"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Contribution</a:t>
                      </a:r>
                      <a:endParaRPr b="1"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M-1</a:t>
                      </a:r>
                      <a:endParaRPr b="1"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Growth MoM</a:t>
                      </a:r>
                      <a:endParaRPr b="1"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r>
              <a:tr h="520600">
                <a:tc>
                  <a:txBody>
                    <a:bodyPr/>
                    <a:lstStyle/>
                    <a:p>
                      <a:pPr indent="0" lvl="0" marL="0" rtl="0" algn="ctr">
                        <a:lnSpc>
                          <a:spcPct val="115000"/>
                        </a:lnSpc>
                        <a:spcBef>
                          <a:spcPts val="0"/>
                        </a:spcBef>
                        <a:spcAft>
                          <a:spcPts val="0"/>
                        </a:spcAft>
                        <a:buNone/>
                      </a:pPr>
                      <a:r>
                        <a:rPr lang="en" sz="1000">
                          <a:latin typeface="Inter"/>
                          <a:ea typeface="Inter"/>
                          <a:cs typeface="Inter"/>
                          <a:sym typeface="Inter"/>
                        </a:rPr>
                        <a:t>Ads</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4,610,517,815</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66%</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4,357,105,118</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6%</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520600">
                <a:tc>
                  <a:txBody>
                    <a:bodyPr/>
                    <a:lstStyle/>
                    <a:p>
                      <a:pPr indent="0" lvl="0" marL="0" rtl="0" algn="ctr">
                        <a:lnSpc>
                          <a:spcPct val="115000"/>
                        </a:lnSpc>
                        <a:spcBef>
                          <a:spcPts val="0"/>
                        </a:spcBef>
                        <a:spcAft>
                          <a:spcPts val="0"/>
                        </a:spcAft>
                        <a:buNone/>
                      </a:pPr>
                      <a:r>
                        <a:rPr lang="en" sz="1000">
                          <a:latin typeface="Inter"/>
                          <a:ea typeface="Inter"/>
                          <a:cs typeface="Inter"/>
                          <a:sym typeface="Inter"/>
                        </a:rPr>
                        <a:t>Affiliate</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2,563,892,017</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43%</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2,329,935,570</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10%</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520600">
                <a:tc>
                  <a:txBody>
                    <a:bodyPr/>
                    <a:lstStyle/>
                    <a:p>
                      <a:pPr indent="0" lvl="0" marL="0" rtl="0" algn="ctr">
                        <a:lnSpc>
                          <a:spcPct val="115000"/>
                        </a:lnSpc>
                        <a:spcBef>
                          <a:spcPts val="0"/>
                        </a:spcBef>
                        <a:spcAft>
                          <a:spcPts val="0"/>
                        </a:spcAft>
                        <a:buNone/>
                      </a:pPr>
                      <a:r>
                        <a:rPr lang="en" sz="1000">
                          <a:latin typeface="Inter"/>
                          <a:ea typeface="Inter"/>
                          <a:cs typeface="Inter"/>
                          <a:sym typeface="Inter"/>
                        </a:rPr>
                        <a:t>Livestream</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964,922,860</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14%</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996,745,215</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-3%</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r>
              <a:tr h="520600">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Lazada</a:t>
                      </a:r>
                      <a:endParaRPr b="1"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MTD</a:t>
                      </a:r>
                      <a:endParaRPr b="1"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Contribution</a:t>
                      </a:r>
                      <a:endParaRPr b="1"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M-1</a:t>
                      </a:r>
                      <a:endParaRPr b="1"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Growth MoM</a:t>
                      </a:r>
                      <a:endParaRPr b="1"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4A7D6"/>
                    </a:solidFill>
                  </a:tcPr>
                </a:tc>
              </a:tr>
              <a:tr h="520600">
                <a:tc>
                  <a:txBody>
                    <a:bodyPr/>
                    <a:lstStyle/>
                    <a:p>
                      <a:pPr indent="0" lvl="0" marL="0" rtl="0" algn="ctr">
                        <a:lnSpc>
                          <a:spcPct val="115000"/>
                        </a:lnSpc>
                        <a:spcBef>
                          <a:spcPts val="0"/>
                        </a:spcBef>
                        <a:spcAft>
                          <a:spcPts val="0"/>
                        </a:spcAft>
                        <a:buNone/>
                      </a:pPr>
                      <a:r>
                        <a:rPr lang="en" sz="1000">
                          <a:latin typeface="Inter"/>
                          <a:ea typeface="Inter"/>
                          <a:cs typeface="Inter"/>
                          <a:sym typeface="Inter"/>
                        </a:rPr>
                        <a:t>Ads</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273,401,050</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78%</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227,440,000</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20%</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520600">
                <a:tc>
                  <a:txBody>
                    <a:bodyPr/>
                    <a:lstStyle/>
                    <a:p>
                      <a:pPr indent="0" lvl="0" marL="0" rtl="0" algn="ctr">
                        <a:lnSpc>
                          <a:spcPct val="115000"/>
                        </a:lnSpc>
                        <a:spcBef>
                          <a:spcPts val="0"/>
                        </a:spcBef>
                        <a:spcAft>
                          <a:spcPts val="0"/>
                        </a:spcAft>
                        <a:buNone/>
                      </a:pPr>
                      <a:r>
                        <a:rPr lang="en" sz="1000">
                          <a:latin typeface="Inter"/>
                          <a:ea typeface="Inter"/>
                          <a:cs typeface="Inter"/>
                          <a:sym typeface="Inter"/>
                        </a:rPr>
                        <a:t>Affiliate</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124,251,296</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35%</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112,230,875</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11%</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5"/>
          <p:cNvSpPr txBox="1"/>
          <p:nvPr/>
        </p:nvSpPr>
        <p:spPr>
          <a:xfrm>
            <a:off x="5832775" y="1354725"/>
            <a:ext cx="3186600" cy="3282000"/>
          </a:xfrm>
          <a:prstGeom prst="rect">
            <a:avLst/>
          </a:prstGeom>
          <a:noFill/>
          <a:ln>
            <a:noFill/>
          </a:ln>
        </p:spPr>
        <p:txBody>
          <a:bodyPr anchorCtr="0" anchor="t" bIns="91425" lIns="91425" spcFirstLastPara="1" rIns="91425" wrap="square" tIns="91425">
            <a:noAutofit/>
          </a:bodyPr>
          <a:lstStyle/>
          <a:p>
            <a:pPr indent="-292100" lvl="0" marL="457200" marR="0" rtl="0" algn="l">
              <a:lnSpc>
                <a:spcPct val="115000"/>
              </a:lnSpc>
              <a:spcBef>
                <a:spcPts val="1000"/>
              </a:spcBef>
              <a:spcAft>
                <a:spcPts val="0"/>
              </a:spcAft>
              <a:buClr>
                <a:schemeClr val="dk2"/>
              </a:buClr>
              <a:buSzPts val="1000"/>
              <a:buFont typeface="Inter"/>
              <a:buChar char="●"/>
            </a:pPr>
            <a:r>
              <a:rPr lang="en" sz="1000">
                <a:solidFill>
                  <a:schemeClr val="dk2"/>
                </a:solidFill>
                <a:latin typeface="Inter"/>
                <a:ea typeface="Inter"/>
                <a:cs typeface="Inter"/>
                <a:sym typeface="Inter"/>
              </a:rPr>
              <a:t>Ads Contribution </a:t>
            </a:r>
            <a:r>
              <a:rPr lang="en" sz="1000">
                <a:solidFill>
                  <a:schemeClr val="dk2"/>
                </a:solidFill>
                <a:latin typeface="Inter"/>
                <a:ea typeface="Inter"/>
                <a:cs typeface="Inter"/>
                <a:sym typeface="Inter"/>
              </a:rPr>
              <a:t>increase</a:t>
            </a:r>
            <a:r>
              <a:rPr lang="en" sz="1000">
                <a:solidFill>
                  <a:schemeClr val="dk2"/>
                </a:solidFill>
                <a:latin typeface="Inter"/>
                <a:ea typeface="Inter"/>
                <a:cs typeface="Inter"/>
                <a:sym typeface="Inter"/>
              </a:rPr>
              <a:t> to </a:t>
            </a:r>
            <a:r>
              <a:rPr b="1" lang="en" sz="1000">
                <a:solidFill>
                  <a:schemeClr val="dk2"/>
                </a:solidFill>
                <a:latin typeface="Inter"/>
                <a:ea typeface="Inter"/>
                <a:cs typeface="Inter"/>
                <a:sym typeface="Inter"/>
              </a:rPr>
              <a:t>66% </a:t>
            </a:r>
            <a:r>
              <a:rPr lang="en" sz="1000">
                <a:solidFill>
                  <a:schemeClr val="dk2"/>
                </a:solidFill>
                <a:latin typeface="Inter"/>
                <a:ea typeface="Inter"/>
                <a:cs typeface="Inter"/>
                <a:sym typeface="Inter"/>
              </a:rPr>
              <a:t>with July at </a:t>
            </a:r>
            <a:r>
              <a:rPr b="1" lang="en" sz="1000">
                <a:solidFill>
                  <a:schemeClr val="dk2"/>
                </a:solidFill>
                <a:latin typeface="Inter"/>
                <a:ea typeface="Inter"/>
                <a:cs typeface="Inter"/>
                <a:sym typeface="Inter"/>
              </a:rPr>
              <a:t>63% </a:t>
            </a:r>
            <a:r>
              <a:rPr lang="en" sz="1000">
                <a:solidFill>
                  <a:schemeClr val="dk2"/>
                </a:solidFill>
                <a:latin typeface="Inter"/>
                <a:ea typeface="Inter"/>
                <a:cs typeface="Inter"/>
                <a:sym typeface="Inter"/>
              </a:rPr>
              <a:t>still remains healthy with the Growth on GMV </a:t>
            </a:r>
            <a:endParaRPr sz="1000">
              <a:solidFill>
                <a:schemeClr val="dk2"/>
              </a:solidFill>
              <a:latin typeface="Inter"/>
              <a:ea typeface="Inter"/>
              <a:cs typeface="Inter"/>
              <a:sym typeface="Inter"/>
            </a:endParaRPr>
          </a:p>
          <a:p>
            <a:pPr indent="-292100" lvl="0" marL="457200" marR="0" rtl="0" algn="l">
              <a:lnSpc>
                <a:spcPct val="115000"/>
              </a:lnSpc>
              <a:spcBef>
                <a:spcPts val="1000"/>
              </a:spcBef>
              <a:spcAft>
                <a:spcPts val="0"/>
              </a:spcAft>
              <a:buClr>
                <a:schemeClr val="dk2"/>
              </a:buClr>
              <a:buSzPts val="1000"/>
              <a:buFont typeface="Inter"/>
              <a:buChar char="●"/>
            </a:pPr>
            <a:r>
              <a:rPr lang="en" sz="1000">
                <a:solidFill>
                  <a:schemeClr val="dk2"/>
                </a:solidFill>
                <a:latin typeface="Inter"/>
                <a:ea typeface="Inter"/>
                <a:cs typeface="Inter"/>
                <a:sym typeface="Inter"/>
              </a:rPr>
              <a:t>ROAS end on august at </a:t>
            </a:r>
            <a:r>
              <a:rPr b="1" lang="en" sz="1000">
                <a:solidFill>
                  <a:schemeClr val="dk2"/>
                </a:solidFill>
                <a:latin typeface="Inter"/>
                <a:ea typeface="Inter"/>
                <a:cs typeface="Inter"/>
                <a:sym typeface="Inter"/>
              </a:rPr>
              <a:t>8.6 </a:t>
            </a:r>
            <a:r>
              <a:rPr lang="en" sz="1000">
                <a:solidFill>
                  <a:schemeClr val="dk2"/>
                </a:solidFill>
                <a:latin typeface="Inter"/>
                <a:ea typeface="Inter"/>
                <a:cs typeface="Inter"/>
                <a:sym typeface="Inter"/>
              </a:rPr>
              <a:t>with a huge growth by </a:t>
            </a:r>
            <a:r>
              <a:rPr b="1" lang="en" sz="1000">
                <a:solidFill>
                  <a:schemeClr val="dk2"/>
                </a:solidFill>
                <a:latin typeface="Inter"/>
                <a:ea typeface="Inter"/>
                <a:cs typeface="Inter"/>
                <a:sym typeface="Inter"/>
              </a:rPr>
              <a:t>16% </a:t>
            </a:r>
            <a:r>
              <a:rPr lang="en" sz="1000">
                <a:solidFill>
                  <a:schemeClr val="dk2"/>
                </a:solidFill>
                <a:latin typeface="Inter"/>
                <a:ea typeface="Inter"/>
                <a:cs typeface="Inter"/>
                <a:sym typeface="Inter"/>
              </a:rPr>
              <a:t>meaning the efficiency on the ads sides work well. But still hoping tos till optimize the peakdays period so we could uplift even more on those days/</a:t>
            </a:r>
            <a:endParaRPr sz="1000">
              <a:solidFill>
                <a:schemeClr val="dk2"/>
              </a:solidFill>
              <a:latin typeface="Inter"/>
              <a:ea typeface="Inter"/>
              <a:cs typeface="Inter"/>
              <a:sym typeface="Inter"/>
            </a:endParaRPr>
          </a:p>
          <a:p>
            <a:pPr indent="-292100" lvl="0" marL="457200" marR="0" rtl="0" algn="l">
              <a:lnSpc>
                <a:spcPct val="115000"/>
              </a:lnSpc>
              <a:spcBef>
                <a:spcPts val="1000"/>
              </a:spcBef>
              <a:spcAft>
                <a:spcPts val="0"/>
              </a:spcAft>
              <a:buClr>
                <a:schemeClr val="dk2"/>
              </a:buClr>
              <a:buSzPts val="1000"/>
              <a:buFont typeface="Inter"/>
              <a:buChar char="●"/>
            </a:pPr>
            <a:r>
              <a:rPr lang="en" sz="1000">
                <a:solidFill>
                  <a:schemeClr val="dk2"/>
                </a:solidFill>
                <a:latin typeface="Inter"/>
                <a:ea typeface="Inter"/>
                <a:cs typeface="Inter"/>
                <a:sym typeface="Inter"/>
              </a:rPr>
              <a:t>Overall Month by period remains healthy on the ROAS sides, but hoping on the maximixe optimization on the peakdays since the roas exceed our threshold aswell to gain even more GMV on those period. </a:t>
            </a:r>
            <a:endParaRPr sz="1000">
              <a:solidFill>
                <a:schemeClr val="dk2"/>
              </a:solidFill>
              <a:latin typeface="Inter"/>
              <a:ea typeface="Inter"/>
              <a:cs typeface="Inter"/>
              <a:sym typeface="Inter"/>
            </a:endParaRPr>
          </a:p>
        </p:txBody>
      </p:sp>
      <p:sp>
        <p:nvSpPr>
          <p:cNvPr id="317" name="Google Shape;317;p45"/>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sp>
        <p:nvSpPr>
          <p:cNvPr id="318" name="Google Shape;318;p45"/>
          <p:cNvSpPr txBox="1"/>
          <p:nvPr>
            <p:ph type="ctrTitle"/>
          </p:nvPr>
        </p:nvSpPr>
        <p:spPr>
          <a:xfrm>
            <a:off x="174550" y="131975"/>
            <a:ext cx="8655600" cy="695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B2C Marketing Activations</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Shopee Ads Performance August</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rPr i="1" lang="en" sz="1200">
                <a:solidFill>
                  <a:srgbClr val="3880C1"/>
                </a:solidFill>
                <a:latin typeface="Inter"/>
                <a:ea typeface="Inter"/>
                <a:cs typeface="Inter"/>
                <a:sym typeface="Inter"/>
              </a:rPr>
              <a:t>Contribution to store increase with the huge growth by ROAS aswell by </a:t>
            </a:r>
            <a:r>
              <a:rPr b="1" i="1" lang="en" sz="1200">
                <a:solidFill>
                  <a:srgbClr val="3880C1"/>
                </a:solidFill>
                <a:latin typeface="Inter"/>
                <a:ea typeface="Inter"/>
                <a:cs typeface="Inter"/>
                <a:sym typeface="Inter"/>
              </a:rPr>
              <a:t>16pp</a:t>
            </a:r>
            <a:r>
              <a:rPr i="1" lang="en" sz="1200">
                <a:solidFill>
                  <a:srgbClr val="3880C1"/>
                </a:solidFill>
                <a:latin typeface="Inter"/>
                <a:ea typeface="Inter"/>
                <a:cs typeface="Inter"/>
                <a:sym typeface="Inter"/>
              </a:rPr>
              <a:t> with increase of the GMV by </a:t>
            </a:r>
            <a:r>
              <a:rPr b="1" i="1" lang="en" sz="1200">
                <a:solidFill>
                  <a:srgbClr val="3880C1"/>
                </a:solidFill>
                <a:latin typeface="Inter"/>
                <a:ea typeface="Inter"/>
                <a:cs typeface="Inter"/>
                <a:sym typeface="Inter"/>
              </a:rPr>
              <a:t>5%</a:t>
            </a:r>
            <a:endParaRPr b="1" i="1" sz="1200">
              <a:solidFill>
                <a:srgbClr val="3880C1"/>
              </a:solidFill>
              <a:latin typeface="Inter"/>
              <a:ea typeface="Inter"/>
              <a:cs typeface="Inter"/>
              <a:sym typeface="Inter"/>
            </a:endParaRPr>
          </a:p>
        </p:txBody>
      </p:sp>
      <p:pic>
        <p:nvPicPr>
          <p:cNvPr id="319" name="Google Shape;319;p45"/>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pic>
        <p:nvPicPr>
          <p:cNvPr id="320" name="Google Shape;320;p45"/>
          <p:cNvPicPr preferRelativeResize="0"/>
          <p:nvPr/>
        </p:nvPicPr>
        <p:blipFill rotWithShape="1">
          <a:blip r:embed="rId4">
            <a:alphaModFix/>
          </a:blip>
          <a:srcRect b="0" l="0" r="0" t="12564"/>
          <a:stretch/>
        </p:blipFill>
        <p:spPr>
          <a:xfrm>
            <a:off x="7406900" y="121550"/>
            <a:ext cx="634924" cy="451775"/>
          </a:xfrm>
          <a:prstGeom prst="rect">
            <a:avLst/>
          </a:prstGeom>
          <a:noFill/>
          <a:ln>
            <a:noFill/>
          </a:ln>
        </p:spPr>
      </p:pic>
      <p:sp>
        <p:nvSpPr>
          <p:cNvPr id="321" name="Google Shape;321;p45"/>
          <p:cNvSpPr/>
          <p:nvPr/>
        </p:nvSpPr>
        <p:spPr>
          <a:xfrm>
            <a:off x="5832775" y="1014613"/>
            <a:ext cx="3186600" cy="2286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lt1"/>
                </a:solidFill>
                <a:latin typeface="Inter"/>
                <a:ea typeface="Inter"/>
                <a:cs typeface="Inter"/>
                <a:sym typeface="Inter"/>
              </a:rPr>
              <a:t>Key Highlights</a:t>
            </a:r>
            <a:endParaRPr b="1" i="0" sz="1100" u="none" cap="none" strike="noStrike">
              <a:solidFill>
                <a:schemeClr val="lt1"/>
              </a:solidFill>
              <a:latin typeface="Inter"/>
              <a:ea typeface="Inter"/>
              <a:cs typeface="Inter"/>
              <a:sym typeface="Inter"/>
            </a:endParaRPr>
          </a:p>
        </p:txBody>
      </p:sp>
      <p:graphicFrame>
        <p:nvGraphicFramePr>
          <p:cNvPr id="322" name="Google Shape;322;p45"/>
          <p:cNvGraphicFramePr/>
          <p:nvPr/>
        </p:nvGraphicFramePr>
        <p:xfrm>
          <a:off x="186050" y="1011638"/>
          <a:ext cx="3000000" cy="3000000"/>
        </p:xfrm>
        <a:graphic>
          <a:graphicData uri="http://schemas.openxmlformats.org/drawingml/2006/table">
            <a:tbl>
              <a:tblPr>
                <a:noFill/>
                <a:tableStyleId>{05CF1300-53F3-430B-9C35-424554A46B0A}</a:tableStyleId>
              </a:tblPr>
              <a:tblGrid>
                <a:gridCol w="962025"/>
                <a:gridCol w="1343025"/>
                <a:gridCol w="923925"/>
                <a:gridCol w="1038225"/>
                <a:gridCol w="1028700"/>
              </a:tblGrid>
              <a:tr h="241100">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Shopee</a:t>
                      </a:r>
                      <a:endParaRPr b="1"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Ads Revenue</a:t>
                      </a:r>
                      <a:endParaRPr b="1"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Ads Spend</a:t>
                      </a:r>
                      <a:endParaRPr b="1"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ROAS</a:t>
                      </a:r>
                      <a:endParaRPr b="1"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Cont % to Shop</a:t>
                      </a:r>
                      <a:endParaRPr b="1"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r>
              <a:tr h="241100">
                <a:tc>
                  <a:txBody>
                    <a:bodyPr/>
                    <a:lstStyle/>
                    <a:p>
                      <a:pPr indent="0" lvl="0" marL="0" rtl="0" algn="ctr">
                        <a:lnSpc>
                          <a:spcPct val="115000"/>
                        </a:lnSpc>
                        <a:spcBef>
                          <a:spcPts val="0"/>
                        </a:spcBef>
                        <a:spcAft>
                          <a:spcPts val="0"/>
                        </a:spcAft>
                        <a:buNone/>
                      </a:pPr>
                      <a:r>
                        <a:rPr lang="en" sz="1000">
                          <a:latin typeface="Inter"/>
                          <a:ea typeface="Inter"/>
                          <a:cs typeface="Inter"/>
                          <a:sym typeface="Inter"/>
                        </a:rPr>
                        <a:t>MTD</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4,610,517,815</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533,377,700</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8.64</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68%</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1100">
                <a:tc>
                  <a:txBody>
                    <a:bodyPr/>
                    <a:lstStyle/>
                    <a:p>
                      <a:pPr indent="0" lvl="0" marL="0" rtl="0" algn="ctr">
                        <a:lnSpc>
                          <a:spcPct val="115000"/>
                        </a:lnSpc>
                        <a:spcBef>
                          <a:spcPts val="0"/>
                        </a:spcBef>
                        <a:spcAft>
                          <a:spcPts val="0"/>
                        </a:spcAft>
                        <a:buNone/>
                      </a:pPr>
                      <a:r>
                        <a:rPr lang="en" sz="1000">
                          <a:latin typeface="Inter"/>
                          <a:ea typeface="Inter"/>
                          <a:cs typeface="Inter"/>
                          <a:sym typeface="Inter"/>
                        </a:rPr>
                        <a:t>MTD M-1</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4,357,105,118</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588,566,114</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7.40</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63%</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1100">
                <a:tc>
                  <a:txBody>
                    <a:bodyPr/>
                    <a:lstStyle/>
                    <a:p>
                      <a:pPr indent="0" lvl="0" marL="0" rtl="0" algn="ctr">
                        <a:lnSpc>
                          <a:spcPct val="115000"/>
                        </a:lnSpc>
                        <a:spcBef>
                          <a:spcPts val="0"/>
                        </a:spcBef>
                        <a:spcAft>
                          <a:spcPts val="0"/>
                        </a:spcAft>
                        <a:buNone/>
                      </a:pPr>
                      <a:r>
                        <a:rPr lang="en" sz="1000">
                          <a:latin typeface="Inter"/>
                          <a:ea typeface="Inter"/>
                          <a:cs typeface="Inter"/>
                          <a:sym typeface="Inter"/>
                        </a:rPr>
                        <a:t>Growth</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6%</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-9%</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17%</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7%</a:t>
                      </a:r>
                      <a:endParaRPr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bl>
          </a:graphicData>
        </a:graphic>
      </p:graphicFrame>
      <p:graphicFrame>
        <p:nvGraphicFramePr>
          <p:cNvPr id="323" name="Google Shape;323;p45"/>
          <p:cNvGraphicFramePr/>
          <p:nvPr/>
        </p:nvGraphicFramePr>
        <p:xfrm>
          <a:off x="174550" y="2091575"/>
          <a:ext cx="3000000" cy="3000000"/>
        </p:xfrm>
        <a:graphic>
          <a:graphicData uri="http://schemas.openxmlformats.org/drawingml/2006/table">
            <a:tbl>
              <a:tblPr>
                <a:noFill/>
                <a:tableStyleId>{05CF1300-53F3-430B-9C35-424554A46B0A}</a:tableStyleId>
              </a:tblPr>
              <a:tblGrid>
                <a:gridCol w="1802225"/>
                <a:gridCol w="1419625"/>
                <a:gridCol w="976625"/>
                <a:gridCol w="1097450"/>
              </a:tblGrid>
              <a:tr h="364725">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Period</a:t>
                      </a:r>
                      <a:endParaRPr b="1"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GMV</a:t>
                      </a:r>
                      <a:endParaRPr b="1"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Expense</a:t>
                      </a:r>
                      <a:endParaRPr b="1"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ROI</a:t>
                      </a:r>
                      <a:endParaRPr b="1" sz="1000">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6B26B"/>
                    </a:solidFill>
                  </a:tcPr>
                </a:tc>
              </a:tr>
              <a:tr h="364725">
                <a:tc>
                  <a:txBody>
                    <a:bodyPr/>
                    <a:lstStyle/>
                    <a:p>
                      <a:pPr indent="0" lvl="0" marL="0" rtl="0" algn="ctr">
                        <a:lnSpc>
                          <a:spcPct val="115000"/>
                        </a:lnSpc>
                        <a:spcBef>
                          <a:spcPts val="0"/>
                        </a:spcBef>
                        <a:spcAft>
                          <a:spcPts val="0"/>
                        </a:spcAft>
                        <a:buNone/>
                      </a:pPr>
                      <a:r>
                        <a:rPr lang="en" sz="1000">
                          <a:latin typeface="Inter"/>
                          <a:ea typeface="Inter"/>
                          <a:cs typeface="Inter"/>
                          <a:sym typeface="Inter"/>
                        </a:rPr>
                        <a:t>Pre Heat (1-7)</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1,317,908,940</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190,621,124</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6.91</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364725">
                <a:tc>
                  <a:txBody>
                    <a:bodyPr/>
                    <a:lstStyle/>
                    <a:p>
                      <a:pPr indent="0" lvl="0" marL="0" rtl="0" algn="ctr">
                        <a:lnSpc>
                          <a:spcPct val="115000"/>
                        </a:lnSpc>
                        <a:spcBef>
                          <a:spcPts val="0"/>
                        </a:spcBef>
                        <a:spcAft>
                          <a:spcPts val="0"/>
                        </a:spcAft>
                        <a:buNone/>
                      </a:pPr>
                      <a:r>
                        <a:rPr lang="en" sz="1000">
                          <a:latin typeface="Inter"/>
                          <a:ea typeface="Inter"/>
                          <a:cs typeface="Inter"/>
                          <a:sym typeface="Inter"/>
                        </a:rPr>
                        <a:t>Peakdays (8.0)</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893,182,016</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99,959,684</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8.94</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364725">
                <a:tc>
                  <a:txBody>
                    <a:bodyPr/>
                    <a:lstStyle/>
                    <a:p>
                      <a:pPr indent="0" lvl="0" marL="0" rtl="0" algn="ctr">
                        <a:lnSpc>
                          <a:spcPct val="115000"/>
                        </a:lnSpc>
                        <a:spcBef>
                          <a:spcPts val="0"/>
                        </a:spcBef>
                        <a:spcAft>
                          <a:spcPts val="0"/>
                        </a:spcAft>
                        <a:buNone/>
                      </a:pPr>
                      <a:r>
                        <a:rPr lang="en" sz="1000">
                          <a:latin typeface="Inter"/>
                          <a:ea typeface="Inter"/>
                          <a:cs typeface="Inter"/>
                          <a:sym typeface="Inter"/>
                        </a:rPr>
                        <a:t>BAU (9-24)</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1,175,624,859</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101,654,892</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11.56</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364725">
                <a:tc>
                  <a:txBody>
                    <a:bodyPr/>
                    <a:lstStyle/>
                    <a:p>
                      <a:pPr indent="0" lvl="0" marL="0" rtl="0" algn="ctr">
                        <a:lnSpc>
                          <a:spcPct val="115000"/>
                        </a:lnSpc>
                        <a:spcBef>
                          <a:spcPts val="0"/>
                        </a:spcBef>
                        <a:spcAft>
                          <a:spcPts val="0"/>
                        </a:spcAft>
                        <a:buNone/>
                      </a:pPr>
                      <a:r>
                        <a:rPr lang="en" sz="1000">
                          <a:latin typeface="Inter"/>
                          <a:ea typeface="Inter"/>
                          <a:cs typeface="Inter"/>
                          <a:sym typeface="Inter"/>
                        </a:rPr>
                        <a:t>Payday (25)</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477,700,000</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56,770,000</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8.41</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364725">
                <a:tc>
                  <a:txBody>
                    <a:bodyPr/>
                    <a:lstStyle/>
                    <a:p>
                      <a:pPr indent="0" lvl="0" marL="0" rtl="0" algn="ctr">
                        <a:lnSpc>
                          <a:spcPct val="115000"/>
                        </a:lnSpc>
                        <a:spcBef>
                          <a:spcPts val="0"/>
                        </a:spcBef>
                        <a:spcAft>
                          <a:spcPts val="0"/>
                        </a:spcAft>
                        <a:buNone/>
                      </a:pPr>
                      <a:r>
                        <a:rPr lang="en" sz="1000">
                          <a:latin typeface="Inter"/>
                          <a:ea typeface="Inter"/>
                          <a:cs typeface="Inter"/>
                          <a:sym typeface="Inter"/>
                        </a:rPr>
                        <a:t>Post Payday (26-31)</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746,102,000</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84,372,000</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8.84</a:t>
                      </a:r>
                      <a:endParaRPr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364725">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Total</a:t>
                      </a:r>
                      <a:endParaRPr b="1"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4,610,517,815</a:t>
                      </a:r>
                      <a:endParaRPr b="1"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533,377,700</a:t>
                      </a:r>
                      <a:endParaRPr b="1"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latin typeface="Inter"/>
                          <a:ea typeface="Inter"/>
                          <a:cs typeface="Inter"/>
                          <a:sym typeface="Inter"/>
                        </a:rPr>
                        <a:t>8.64</a:t>
                      </a:r>
                      <a:endParaRPr b="1" sz="10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descr="preencoded.png" id="328" name="Google Shape;328;p46"/>
          <p:cNvPicPr preferRelativeResize="0"/>
          <p:nvPr/>
        </p:nvPicPr>
        <p:blipFill rotWithShape="1">
          <a:blip r:embed="rId3">
            <a:alphaModFix/>
          </a:blip>
          <a:srcRect b="0" l="0" r="0" t="0"/>
          <a:stretch/>
        </p:blipFill>
        <p:spPr>
          <a:xfrm>
            <a:off x="8096250" y="186690"/>
            <a:ext cx="868680" cy="228600"/>
          </a:xfrm>
          <a:prstGeom prst="rect">
            <a:avLst/>
          </a:prstGeom>
          <a:noFill/>
          <a:ln>
            <a:noFill/>
          </a:ln>
        </p:spPr>
      </p:pic>
      <p:sp>
        <p:nvSpPr>
          <p:cNvPr id="329" name="Google Shape;329;p46"/>
          <p:cNvSpPr/>
          <p:nvPr/>
        </p:nvSpPr>
        <p:spPr>
          <a:xfrm>
            <a:off x="228600" y="4777740"/>
            <a:ext cx="1994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6E7C89"/>
                </a:solidFill>
                <a:latin typeface="Inter"/>
                <a:ea typeface="Inter"/>
                <a:cs typeface="Inter"/>
                <a:sym typeface="Inter"/>
              </a:rPr>
              <a:t>© AnyMind Group. All Rights Reserved.</a:t>
            </a:r>
            <a:endParaRPr b="0" i="0" sz="600" u="none" cap="none" strike="noStrike">
              <a:solidFill>
                <a:srgbClr val="6E7C89"/>
              </a:solidFill>
              <a:latin typeface="Calibri"/>
              <a:ea typeface="Calibri"/>
              <a:cs typeface="Calibri"/>
              <a:sym typeface="Calibri"/>
            </a:endParaRPr>
          </a:p>
        </p:txBody>
      </p:sp>
      <p:sp>
        <p:nvSpPr>
          <p:cNvPr id="330" name="Google Shape;330;p46"/>
          <p:cNvSpPr/>
          <p:nvPr/>
        </p:nvSpPr>
        <p:spPr>
          <a:xfrm>
            <a:off x="7983700" y="4800540"/>
            <a:ext cx="743100" cy="183000"/>
          </a:xfrm>
          <a:prstGeom prst="roundRect">
            <a:avLst>
              <a:gd fmla="val 16667" name="adj"/>
            </a:avLst>
          </a:prstGeom>
          <a:solidFill>
            <a:srgbClr val="6E7C8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46"/>
          <p:cNvSpPr/>
          <p:nvPr/>
        </p:nvSpPr>
        <p:spPr>
          <a:xfrm>
            <a:off x="7983850" y="4800540"/>
            <a:ext cx="743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Inter"/>
                <a:ea typeface="Inter"/>
                <a:cs typeface="Inter"/>
                <a:sym typeface="Inter"/>
              </a:rPr>
              <a:t>CONFIDENTIAL</a:t>
            </a:r>
            <a:endParaRPr b="0" i="0" sz="700" u="none" cap="none" strike="noStrike">
              <a:solidFill>
                <a:schemeClr val="dk1"/>
              </a:solidFill>
              <a:latin typeface="Calibri"/>
              <a:ea typeface="Calibri"/>
              <a:cs typeface="Calibri"/>
              <a:sym typeface="Calibri"/>
            </a:endParaRPr>
          </a:p>
        </p:txBody>
      </p:sp>
      <p:sp>
        <p:nvSpPr>
          <p:cNvPr id="332" name="Google Shape;332;p46"/>
          <p:cNvSpPr txBox="1"/>
          <p:nvPr>
            <p:ph type="ctrTitle"/>
          </p:nvPr>
        </p:nvSpPr>
        <p:spPr>
          <a:xfrm>
            <a:off x="174550" y="131975"/>
            <a:ext cx="8655600" cy="695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B2C Marketing Activations</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ts val="4798"/>
              <a:buFont typeface="Calibri"/>
              <a:buNone/>
            </a:pPr>
            <a:r>
              <a:rPr b="1" lang="en">
                <a:solidFill>
                  <a:srgbClr val="3880C1"/>
                </a:solidFill>
                <a:latin typeface="Inter"/>
                <a:ea typeface="Inter"/>
                <a:cs typeface="Inter"/>
                <a:sym typeface="Inter"/>
              </a:rPr>
              <a:t>Livestream Performance</a:t>
            </a:r>
            <a:endParaRPr i="1" sz="1200">
              <a:solidFill>
                <a:srgbClr val="3880C1"/>
              </a:solidFill>
              <a:latin typeface="Inter"/>
              <a:ea typeface="Inter"/>
              <a:cs typeface="Inter"/>
              <a:sym typeface="Inter"/>
            </a:endParaRPr>
          </a:p>
        </p:txBody>
      </p:sp>
      <p:sp>
        <p:nvSpPr>
          <p:cNvPr id="333" name="Google Shape;333;p46"/>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pic>
        <p:nvPicPr>
          <p:cNvPr id="334" name="Google Shape;334;p46"/>
          <p:cNvPicPr preferRelativeResize="0"/>
          <p:nvPr/>
        </p:nvPicPr>
        <p:blipFill rotWithShape="1">
          <a:blip r:embed="rId4">
            <a:alphaModFix/>
          </a:blip>
          <a:srcRect b="0" l="0" r="0" t="0"/>
          <a:stretch/>
        </p:blipFill>
        <p:spPr>
          <a:xfrm rot="10800000">
            <a:off x="-4151" y="0"/>
            <a:ext cx="9148151" cy="79825"/>
          </a:xfrm>
          <a:prstGeom prst="rect">
            <a:avLst/>
          </a:prstGeom>
          <a:noFill/>
          <a:ln>
            <a:noFill/>
          </a:ln>
        </p:spPr>
      </p:pic>
      <p:pic>
        <p:nvPicPr>
          <p:cNvPr id="335" name="Google Shape;335;p46"/>
          <p:cNvPicPr preferRelativeResize="0"/>
          <p:nvPr/>
        </p:nvPicPr>
        <p:blipFill rotWithShape="1">
          <a:blip r:embed="rId5">
            <a:alphaModFix/>
          </a:blip>
          <a:srcRect b="0" l="0" r="0" t="12564"/>
          <a:stretch/>
        </p:blipFill>
        <p:spPr>
          <a:xfrm>
            <a:off x="7406900" y="121550"/>
            <a:ext cx="634924" cy="451775"/>
          </a:xfrm>
          <a:prstGeom prst="rect">
            <a:avLst/>
          </a:prstGeom>
          <a:noFill/>
          <a:ln>
            <a:noFill/>
          </a:ln>
        </p:spPr>
      </p:pic>
      <p:sp>
        <p:nvSpPr>
          <p:cNvPr id="336" name="Google Shape;336;p46"/>
          <p:cNvSpPr/>
          <p:nvPr/>
        </p:nvSpPr>
        <p:spPr>
          <a:xfrm>
            <a:off x="296700" y="1967589"/>
            <a:ext cx="8550600" cy="2286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lt1"/>
                </a:solidFill>
                <a:latin typeface="Inter"/>
                <a:ea typeface="Inter"/>
                <a:cs typeface="Inter"/>
                <a:sym typeface="Inter"/>
              </a:rPr>
              <a:t>Key Highlights</a:t>
            </a:r>
            <a:endParaRPr b="1" i="0" sz="1100" u="none" cap="none" strike="noStrike">
              <a:solidFill>
                <a:schemeClr val="lt1"/>
              </a:solidFill>
              <a:latin typeface="Inter"/>
              <a:ea typeface="Inter"/>
              <a:cs typeface="Inter"/>
              <a:sym typeface="Inter"/>
            </a:endParaRPr>
          </a:p>
        </p:txBody>
      </p:sp>
      <p:graphicFrame>
        <p:nvGraphicFramePr>
          <p:cNvPr id="337" name="Google Shape;337;p46"/>
          <p:cNvGraphicFramePr/>
          <p:nvPr/>
        </p:nvGraphicFramePr>
        <p:xfrm>
          <a:off x="39288" y="739559"/>
          <a:ext cx="3000000" cy="3000000"/>
        </p:xfrm>
        <a:graphic>
          <a:graphicData uri="http://schemas.openxmlformats.org/drawingml/2006/table">
            <a:tbl>
              <a:tblPr>
                <a:noFill/>
                <a:tableStyleId>{C7B0113B-ABCC-46DA-BDED-68E34227E8D4}</a:tableStyleId>
              </a:tblPr>
              <a:tblGrid>
                <a:gridCol w="754225"/>
                <a:gridCol w="754225"/>
                <a:gridCol w="754225"/>
                <a:gridCol w="754225"/>
                <a:gridCol w="754225"/>
                <a:gridCol w="754225"/>
                <a:gridCol w="754225"/>
                <a:gridCol w="754225"/>
                <a:gridCol w="754225"/>
                <a:gridCol w="754225"/>
                <a:gridCol w="754225"/>
                <a:gridCol w="754225"/>
              </a:tblGrid>
              <a:tr h="184550">
                <a:tc gridSpan="12">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Inter"/>
                          <a:ea typeface="Inter"/>
                          <a:cs typeface="Inter"/>
                          <a:sym typeface="Inter"/>
                        </a:rPr>
                        <a:t>Shopee</a:t>
                      </a:r>
                      <a:endParaRPr b="1" sz="900" u="none" cap="none" strike="noStrike">
                        <a:latin typeface="Inter"/>
                        <a:ea typeface="Inter"/>
                        <a:cs typeface="Inter"/>
                        <a:sym typeface="Inter"/>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9900"/>
                    </a:solidFill>
                  </a:tcPr>
                </a:tc>
                <a:tc hMerge="1"/>
                <a:tc hMerge="1"/>
                <a:tc hMerge="1"/>
                <a:tc hMerge="1"/>
                <a:tc hMerge="1"/>
                <a:tc hMerge="1"/>
                <a:tc hMerge="1"/>
                <a:tc hMerge="1"/>
                <a:tc hMerge="1"/>
                <a:tc hMerge="1"/>
                <a:tc hMerge="1"/>
              </a:tr>
              <a:tr h="333925">
                <a:tc>
                  <a:txBody>
                    <a:bodyPr/>
                    <a:lstStyle/>
                    <a:p>
                      <a:pPr indent="0" lvl="0" marL="0" marR="0" rtl="0" algn="ctr">
                        <a:lnSpc>
                          <a:spcPct val="115000"/>
                        </a:lnSpc>
                        <a:spcBef>
                          <a:spcPts val="0"/>
                        </a:spcBef>
                        <a:spcAft>
                          <a:spcPts val="0"/>
                        </a:spcAft>
                        <a:buClr>
                          <a:srgbClr val="000000"/>
                        </a:buClr>
                        <a:buSzPts val="800"/>
                        <a:buFont typeface="Arial"/>
                        <a:buNone/>
                      </a:pPr>
                      <a:r>
                        <a:rPr b="1" lang="en" sz="800" u="none" cap="none" strike="noStrike">
                          <a:solidFill>
                            <a:srgbClr val="FFFFFF"/>
                          </a:solidFill>
                          <a:latin typeface="Inter"/>
                          <a:ea typeface="Inter"/>
                          <a:cs typeface="Inter"/>
                          <a:sym typeface="Inter"/>
                        </a:rPr>
                        <a:t>Month</a:t>
                      </a:r>
                      <a:endParaRPr b="1" sz="800" u="none" cap="none" strike="noStrike">
                        <a:solidFill>
                          <a:srgbClr val="FFFFFF"/>
                        </a:solidFill>
                        <a:latin typeface="Inter"/>
                        <a:ea typeface="Inter"/>
                        <a:cs typeface="Inter"/>
                        <a:sym typeface="Inter"/>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A86E8"/>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n" sz="800" u="none" cap="none" strike="noStrike">
                          <a:solidFill>
                            <a:srgbClr val="FFFFFF"/>
                          </a:solidFill>
                          <a:latin typeface="Inter"/>
                          <a:ea typeface="Inter"/>
                          <a:cs typeface="Inter"/>
                          <a:sym typeface="Inter"/>
                        </a:rPr>
                        <a:t>Duration</a:t>
                      </a:r>
                      <a:endParaRPr b="1" sz="800" u="none" cap="none" strike="noStrike">
                        <a:solidFill>
                          <a:srgbClr val="FFFFFF"/>
                        </a:solidFill>
                        <a:latin typeface="Inter"/>
                        <a:ea typeface="Inter"/>
                        <a:cs typeface="Inter"/>
                        <a:sym typeface="Inter"/>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A86E8"/>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n" sz="800" u="none" cap="none" strike="noStrike">
                          <a:solidFill>
                            <a:srgbClr val="FFFFFF"/>
                          </a:solidFill>
                          <a:latin typeface="Inter"/>
                          <a:ea typeface="Inter"/>
                          <a:cs typeface="Inter"/>
                          <a:sym typeface="Inter"/>
                        </a:rPr>
                        <a:t>GMV</a:t>
                      </a:r>
                      <a:endParaRPr b="1" sz="800" u="none" cap="none" strike="noStrike">
                        <a:solidFill>
                          <a:srgbClr val="FFFFFF"/>
                        </a:solidFill>
                        <a:latin typeface="Inter"/>
                        <a:ea typeface="Inter"/>
                        <a:cs typeface="Inter"/>
                        <a:sym typeface="Inter"/>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A86E8"/>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n" sz="800" u="none" cap="none" strike="noStrike">
                          <a:solidFill>
                            <a:srgbClr val="FFFFFF"/>
                          </a:solidFill>
                          <a:latin typeface="Inter"/>
                          <a:ea typeface="Inter"/>
                          <a:cs typeface="Inter"/>
                          <a:sym typeface="Inter"/>
                        </a:rPr>
                        <a:t>GMV/h</a:t>
                      </a:r>
                      <a:endParaRPr b="1" sz="800" u="none" cap="none" strike="noStrike">
                        <a:solidFill>
                          <a:srgbClr val="FFFFFF"/>
                        </a:solidFill>
                        <a:latin typeface="Inter"/>
                        <a:ea typeface="Inter"/>
                        <a:cs typeface="Inter"/>
                        <a:sym typeface="Inter"/>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A86E8"/>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n" sz="800" u="none" cap="none" strike="noStrike">
                          <a:solidFill>
                            <a:srgbClr val="FFFFFF"/>
                          </a:solidFill>
                          <a:latin typeface="Inter"/>
                          <a:ea typeface="Inter"/>
                          <a:cs typeface="Inter"/>
                          <a:sym typeface="Inter"/>
                        </a:rPr>
                        <a:t>Orders</a:t>
                      </a:r>
                      <a:endParaRPr b="1" sz="800" u="none" cap="none" strike="noStrike">
                        <a:solidFill>
                          <a:srgbClr val="FFFFFF"/>
                        </a:solidFill>
                        <a:latin typeface="Inter"/>
                        <a:ea typeface="Inter"/>
                        <a:cs typeface="Inter"/>
                        <a:sym typeface="Inter"/>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A86E8"/>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n" sz="800" u="none" cap="none" strike="noStrike">
                          <a:solidFill>
                            <a:srgbClr val="FFFFFF"/>
                          </a:solidFill>
                          <a:latin typeface="Inter"/>
                          <a:ea typeface="Inter"/>
                          <a:cs typeface="Inter"/>
                          <a:sym typeface="Inter"/>
                        </a:rPr>
                        <a:t>UV</a:t>
                      </a:r>
                      <a:endParaRPr b="1" sz="800" u="none" cap="none" strike="noStrike">
                        <a:solidFill>
                          <a:srgbClr val="FFFFFF"/>
                        </a:solidFill>
                        <a:latin typeface="Inter"/>
                        <a:ea typeface="Inter"/>
                        <a:cs typeface="Inter"/>
                        <a:sym typeface="Inter"/>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A86E8"/>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n" sz="800" u="none" cap="none" strike="noStrike">
                          <a:solidFill>
                            <a:srgbClr val="FFFFFF"/>
                          </a:solidFill>
                          <a:latin typeface="Inter"/>
                          <a:ea typeface="Inter"/>
                          <a:cs typeface="Inter"/>
                          <a:sym typeface="Inter"/>
                        </a:rPr>
                        <a:t>UV/h</a:t>
                      </a:r>
                      <a:endParaRPr b="1" sz="800" u="none" cap="none" strike="noStrike">
                        <a:solidFill>
                          <a:srgbClr val="FFFFFF"/>
                        </a:solidFill>
                        <a:latin typeface="Inter"/>
                        <a:ea typeface="Inter"/>
                        <a:cs typeface="Inter"/>
                        <a:sym typeface="Inter"/>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A86E8"/>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n" sz="800" u="none" cap="none" strike="noStrike">
                          <a:solidFill>
                            <a:srgbClr val="FFFFFF"/>
                          </a:solidFill>
                          <a:latin typeface="Inter"/>
                          <a:ea typeface="Inter"/>
                          <a:cs typeface="Inter"/>
                          <a:sym typeface="Inter"/>
                        </a:rPr>
                        <a:t>ABS</a:t>
                      </a:r>
                      <a:endParaRPr b="1" sz="800" u="none" cap="none" strike="noStrike">
                        <a:solidFill>
                          <a:srgbClr val="FFFFFF"/>
                        </a:solidFill>
                        <a:latin typeface="Inter"/>
                        <a:ea typeface="Inter"/>
                        <a:cs typeface="Inter"/>
                        <a:sym typeface="Inter"/>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A86E8"/>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n" sz="800" u="none" cap="none" strike="noStrike">
                          <a:solidFill>
                            <a:srgbClr val="FFFFFF"/>
                          </a:solidFill>
                          <a:latin typeface="Inter"/>
                          <a:ea typeface="Inter"/>
                          <a:cs typeface="Inter"/>
                          <a:sym typeface="Inter"/>
                        </a:rPr>
                        <a:t>CR%</a:t>
                      </a:r>
                      <a:endParaRPr b="1" sz="800" u="none" cap="none" strike="noStrike">
                        <a:solidFill>
                          <a:srgbClr val="FFFFFF"/>
                        </a:solidFill>
                        <a:latin typeface="Inter"/>
                        <a:ea typeface="Inter"/>
                        <a:cs typeface="Inter"/>
                        <a:sym typeface="Inter"/>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A86E8"/>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n" sz="800" u="none" cap="none" strike="noStrike">
                          <a:solidFill>
                            <a:srgbClr val="FFFFFF"/>
                          </a:solidFill>
                          <a:latin typeface="Inter"/>
                          <a:ea typeface="Inter"/>
                          <a:cs typeface="Inter"/>
                          <a:sym typeface="Inter"/>
                        </a:rPr>
                        <a:t>LS Contribution</a:t>
                      </a:r>
                      <a:endParaRPr b="1" sz="800" u="none" cap="none" strike="noStrike">
                        <a:solidFill>
                          <a:srgbClr val="FFFFFF"/>
                        </a:solidFill>
                        <a:latin typeface="Inter"/>
                        <a:ea typeface="Inter"/>
                        <a:cs typeface="Inter"/>
                        <a:sym typeface="Inter"/>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4A86E8"/>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n" sz="800" u="none" cap="none" strike="noStrike">
                          <a:solidFill>
                            <a:srgbClr val="FFFFFF"/>
                          </a:solidFill>
                          <a:latin typeface="Inter"/>
                          <a:ea typeface="Inter"/>
                          <a:cs typeface="Inter"/>
                          <a:sym typeface="Inter"/>
                        </a:rPr>
                        <a:t>LS ADS Spent</a:t>
                      </a:r>
                      <a:endParaRPr b="1" sz="800" u="none" cap="none" strike="noStrike">
                        <a:solidFill>
                          <a:srgbClr val="FFFFFF"/>
                        </a:solidFill>
                        <a:latin typeface="Inter"/>
                        <a:ea typeface="Inter"/>
                        <a:cs typeface="Inter"/>
                        <a:sym typeface="Inter"/>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4A86E8"/>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n" sz="800" u="none" cap="none" strike="noStrike">
                          <a:solidFill>
                            <a:srgbClr val="FFFFFF"/>
                          </a:solidFill>
                          <a:latin typeface="Inter"/>
                          <a:ea typeface="Inter"/>
                          <a:cs typeface="Inter"/>
                          <a:sym typeface="Inter"/>
                        </a:rPr>
                        <a:t>LS ADS GMV</a:t>
                      </a:r>
                      <a:endParaRPr b="1" sz="800" u="none" cap="none" strike="noStrike">
                        <a:solidFill>
                          <a:srgbClr val="FFFFFF"/>
                        </a:solidFill>
                        <a:latin typeface="Inter"/>
                        <a:ea typeface="Inter"/>
                        <a:cs typeface="Inter"/>
                        <a:sym typeface="Inter"/>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4A86E8"/>
                    </a:solidFill>
                  </a:tcPr>
                </a:tc>
              </a:tr>
              <a:tr h="184550">
                <a:tc>
                  <a:txBody>
                    <a:bodyPr/>
                    <a:lstStyle/>
                    <a:p>
                      <a:pPr indent="0" lvl="0" marL="0" rtl="0" algn="l">
                        <a:lnSpc>
                          <a:spcPct val="115000"/>
                        </a:lnSpc>
                        <a:spcBef>
                          <a:spcPts val="0"/>
                        </a:spcBef>
                        <a:spcAft>
                          <a:spcPts val="0"/>
                        </a:spcAft>
                        <a:buNone/>
                      </a:pPr>
                      <a:r>
                        <a:rPr lang="en" sz="800"/>
                        <a:t>1-31 July 2026</a:t>
                      </a:r>
                      <a:endParaRPr sz="8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t>468</a:t>
                      </a:r>
                      <a:endParaRPr sz="8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t>Rp998,701,271</a:t>
                      </a:r>
                      <a:endParaRPr sz="8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t>Rp2,133,977</a:t>
                      </a:r>
                      <a:endParaRPr sz="8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t>9592</a:t>
                      </a:r>
                      <a:endParaRPr sz="8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t>271,036</a:t>
                      </a:r>
                      <a:endParaRPr sz="8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t>579</a:t>
                      </a:r>
                      <a:endParaRPr sz="8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t>Rp104,118</a:t>
                      </a:r>
                      <a:endParaRPr sz="8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t>3.54%</a:t>
                      </a:r>
                      <a:endParaRPr sz="8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lang="en" sz="800" u="none" cap="none" strike="noStrike">
                          <a:latin typeface="Inter"/>
                          <a:ea typeface="Inter"/>
                          <a:cs typeface="Inter"/>
                          <a:sym typeface="Inter"/>
                        </a:rPr>
                        <a:t>1</a:t>
                      </a:r>
                      <a:r>
                        <a:rPr lang="en" sz="800">
                          <a:latin typeface="Inter"/>
                          <a:ea typeface="Inter"/>
                          <a:cs typeface="Inter"/>
                          <a:sym typeface="Inter"/>
                        </a:rPr>
                        <a:t>6</a:t>
                      </a:r>
                      <a:r>
                        <a:rPr lang="en" sz="800" u="none" cap="none" strike="noStrike">
                          <a:latin typeface="Inter"/>
                          <a:ea typeface="Inter"/>
                          <a:cs typeface="Inter"/>
                          <a:sym typeface="Inter"/>
                        </a:rPr>
                        <a:t>.</a:t>
                      </a:r>
                      <a:r>
                        <a:rPr lang="en" sz="800">
                          <a:latin typeface="Inter"/>
                          <a:ea typeface="Inter"/>
                          <a:cs typeface="Inter"/>
                          <a:sym typeface="Inter"/>
                        </a:rPr>
                        <a:t>10</a:t>
                      </a:r>
                      <a:r>
                        <a:rPr lang="en" sz="800" u="none" cap="none" strike="noStrike">
                          <a:latin typeface="Inter"/>
                          <a:ea typeface="Inter"/>
                          <a:cs typeface="Inter"/>
                          <a:sym typeface="Inter"/>
                        </a:rPr>
                        <a:t>%</a:t>
                      </a:r>
                      <a:endParaRPr sz="800" u="none" cap="none" strike="noStrike">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en" sz="800">
                          <a:latin typeface="Inter"/>
                          <a:ea typeface="Inter"/>
                          <a:cs typeface="Inter"/>
                          <a:sym typeface="Inter"/>
                        </a:rPr>
                        <a:t>15,045,963</a:t>
                      </a:r>
                      <a:endParaRPr sz="800" u="none" cap="none" strike="noStrike">
                        <a:latin typeface="Inter"/>
                        <a:ea typeface="Inter"/>
                        <a:cs typeface="Inter"/>
                        <a:sym typeface="Inter"/>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en" sz="800">
                          <a:latin typeface="Inter"/>
                          <a:ea typeface="Inter"/>
                          <a:cs typeface="Inter"/>
                          <a:sym typeface="Inter"/>
                        </a:rPr>
                        <a:t>6</a:t>
                      </a:r>
                      <a:r>
                        <a:rPr lang="en" sz="800" u="none" cap="none" strike="noStrike">
                          <a:latin typeface="Inter"/>
                          <a:ea typeface="Inter"/>
                          <a:cs typeface="Inter"/>
                          <a:sym typeface="Inter"/>
                        </a:rPr>
                        <a:t>0,</a:t>
                      </a:r>
                      <a:r>
                        <a:rPr lang="en" sz="800">
                          <a:latin typeface="Inter"/>
                          <a:ea typeface="Inter"/>
                          <a:cs typeface="Inter"/>
                          <a:sym typeface="Inter"/>
                        </a:rPr>
                        <a:t>825</a:t>
                      </a:r>
                      <a:r>
                        <a:rPr lang="en" sz="800" u="none" cap="none" strike="noStrike">
                          <a:latin typeface="Inter"/>
                          <a:ea typeface="Inter"/>
                          <a:cs typeface="Inter"/>
                          <a:sym typeface="Inter"/>
                        </a:rPr>
                        <a:t>,</a:t>
                      </a:r>
                      <a:r>
                        <a:rPr lang="en" sz="800">
                          <a:latin typeface="Inter"/>
                          <a:ea typeface="Inter"/>
                          <a:cs typeface="Inter"/>
                          <a:sym typeface="Inter"/>
                        </a:rPr>
                        <a:t>923</a:t>
                      </a:r>
                      <a:endParaRPr sz="800" u="none" cap="none" strike="noStrike">
                        <a:latin typeface="Inter"/>
                        <a:ea typeface="Inter"/>
                        <a:cs typeface="Inter"/>
                        <a:sym typeface="Inter"/>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184550">
                <a:tc>
                  <a:txBody>
                    <a:bodyPr/>
                    <a:lstStyle/>
                    <a:p>
                      <a:pPr indent="0" lvl="0" marL="0" rtl="0" algn="l">
                        <a:lnSpc>
                          <a:spcPct val="115000"/>
                        </a:lnSpc>
                        <a:spcBef>
                          <a:spcPts val="0"/>
                        </a:spcBef>
                        <a:spcAft>
                          <a:spcPts val="0"/>
                        </a:spcAft>
                        <a:buNone/>
                      </a:pPr>
                      <a:r>
                        <a:rPr lang="en" sz="800"/>
                        <a:t>1-31 Aug 2026</a:t>
                      </a:r>
                      <a:endParaRPr sz="8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t>472</a:t>
                      </a:r>
                      <a:endParaRPr sz="8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t>Rp973,534,995</a:t>
                      </a:r>
                      <a:endParaRPr sz="8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t>Rp2,062,574</a:t>
                      </a:r>
                      <a:endParaRPr sz="8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t>9449</a:t>
                      </a:r>
                      <a:endParaRPr sz="8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t>279,580</a:t>
                      </a:r>
                      <a:endParaRPr sz="8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t>592</a:t>
                      </a:r>
                      <a:endParaRPr sz="8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t>Rp103,030</a:t>
                      </a:r>
                      <a:endParaRPr sz="8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t>3.38%</a:t>
                      </a:r>
                      <a:endParaRPr sz="8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lang="en" sz="800" u="none" cap="none" strike="noStrike">
                          <a:latin typeface="Inter"/>
                          <a:ea typeface="Inter"/>
                          <a:cs typeface="Inter"/>
                          <a:sym typeface="Inter"/>
                        </a:rPr>
                        <a:t>1</a:t>
                      </a:r>
                      <a:r>
                        <a:rPr lang="en" sz="800">
                          <a:latin typeface="Inter"/>
                          <a:ea typeface="Inter"/>
                          <a:cs typeface="Inter"/>
                          <a:sym typeface="Inter"/>
                        </a:rPr>
                        <a:t>5</a:t>
                      </a:r>
                      <a:r>
                        <a:rPr lang="en" sz="800" u="none" cap="none" strike="noStrike">
                          <a:latin typeface="Inter"/>
                          <a:ea typeface="Inter"/>
                          <a:cs typeface="Inter"/>
                          <a:sym typeface="Inter"/>
                        </a:rPr>
                        <a:t>.</a:t>
                      </a:r>
                      <a:r>
                        <a:rPr lang="en" sz="800">
                          <a:latin typeface="Inter"/>
                          <a:ea typeface="Inter"/>
                          <a:cs typeface="Inter"/>
                          <a:sym typeface="Inter"/>
                        </a:rPr>
                        <a:t>89</a:t>
                      </a:r>
                      <a:r>
                        <a:rPr lang="en" sz="800" u="none" cap="none" strike="noStrike">
                          <a:latin typeface="Inter"/>
                          <a:ea typeface="Inter"/>
                          <a:cs typeface="Inter"/>
                          <a:sym typeface="Inter"/>
                        </a:rPr>
                        <a:t>%</a:t>
                      </a:r>
                      <a:endParaRPr sz="800" u="none" cap="none" strike="noStrike">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en" sz="800">
                          <a:latin typeface="Inter"/>
                          <a:ea typeface="Inter"/>
                          <a:cs typeface="Inter"/>
                          <a:sym typeface="Inter"/>
                        </a:rPr>
                        <a:t>8</a:t>
                      </a:r>
                      <a:r>
                        <a:rPr lang="en" sz="800" u="none" cap="none" strike="noStrike">
                          <a:latin typeface="Inter"/>
                          <a:ea typeface="Inter"/>
                          <a:cs typeface="Inter"/>
                          <a:sym typeface="Inter"/>
                        </a:rPr>
                        <a:t>,</a:t>
                      </a:r>
                      <a:r>
                        <a:rPr lang="en" sz="800">
                          <a:latin typeface="Inter"/>
                          <a:ea typeface="Inter"/>
                          <a:cs typeface="Inter"/>
                          <a:sym typeface="Inter"/>
                        </a:rPr>
                        <a:t>194</a:t>
                      </a:r>
                      <a:r>
                        <a:rPr lang="en" sz="800" u="none" cap="none" strike="noStrike">
                          <a:latin typeface="Inter"/>
                          <a:ea typeface="Inter"/>
                          <a:cs typeface="Inter"/>
                          <a:sym typeface="Inter"/>
                        </a:rPr>
                        <a:t>,</a:t>
                      </a:r>
                      <a:r>
                        <a:rPr lang="en" sz="800">
                          <a:latin typeface="Inter"/>
                          <a:ea typeface="Inter"/>
                          <a:cs typeface="Inter"/>
                          <a:sym typeface="Inter"/>
                        </a:rPr>
                        <a:t>684</a:t>
                      </a:r>
                      <a:endParaRPr sz="800" u="none" cap="none" strike="noStrike">
                        <a:latin typeface="Inter"/>
                        <a:ea typeface="Inter"/>
                        <a:cs typeface="Inter"/>
                        <a:sym typeface="Inter"/>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en" sz="800">
                          <a:latin typeface="Inter"/>
                          <a:ea typeface="Inter"/>
                          <a:cs typeface="Inter"/>
                          <a:sym typeface="Inter"/>
                        </a:rPr>
                        <a:t>54,177</a:t>
                      </a:r>
                      <a:r>
                        <a:rPr lang="en" sz="800" u="none" cap="none" strike="noStrike">
                          <a:latin typeface="Inter"/>
                          <a:ea typeface="Inter"/>
                          <a:cs typeface="Inter"/>
                          <a:sym typeface="Inter"/>
                        </a:rPr>
                        <a:t>,</a:t>
                      </a:r>
                      <a:r>
                        <a:rPr lang="en" sz="800">
                          <a:latin typeface="Inter"/>
                          <a:ea typeface="Inter"/>
                          <a:cs typeface="Inter"/>
                          <a:sym typeface="Inter"/>
                        </a:rPr>
                        <a:t>551</a:t>
                      </a:r>
                      <a:endParaRPr sz="800" u="none" cap="none" strike="noStrike">
                        <a:latin typeface="Inter"/>
                        <a:ea typeface="Inter"/>
                        <a:cs typeface="Inter"/>
                        <a:sym typeface="Inter"/>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184550">
                <a:tc>
                  <a:txBody>
                    <a:bodyPr/>
                    <a:lstStyle/>
                    <a:p>
                      <a:pPr indent="0" lvl="0" marL="0" marR="0" rtl="0" algn="ctr">
                        <a:lnSpc>
                          <a:spcPct val="115000"/>
                        </a:lnSpc>
                        <a:spcBef>
                          <a:spcPts val="0"/>
                        </a:spcBef>
                        <a:spcAft>
                          <a:spcPts val="0"/>
                        </a:spcAft>
                        <a:buClr>
                          <a:srgbClr val="000000"/>
                        </a:buClr>
                        <a:buSzPts val="800"/>
                        <a:buFont typeface="Arial"/>
                        <a:buNone/>
                      </a:pPr>
                      <a:r>
                        <a:rPr b="1" lang="en" sz="800" u="none" cap="none" strike="noStrike">
                          <a:latin typeface="Inter"/>
                          <a:ea typeface="Inter"/>
                          <a:cs typeface="Inter"/>
                          <a:sym typeface="Inter"/>
                        </a:rPr>
                        <a:t>MoM Growth</a:t>
                      </a:r>
                      <a:endParaRPr b="1" sz="800" u="none" cap="none" strike="noStrike">
                        <a:latin typeface="Inter"/>
                        <a:ea typeface="Inter"/>
                        <a:cs typeface="Inter"/>
                        <a:sym typeface="Inter"/>
                      </a:endParaRPr>
                    </a:p>
                  </a:txBody>
                  <a:tcPr marT="19050" marB="19050" marR="28575" marL="28575" anchor="b">
                    <a:lnL cap="flat" cmpd="sng" w="119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9900"/>
                    </a:solidFill>
                  </a:tcPr>
                </a:tc>
                <a:tc>
                  <a:txBody>
                    <a:bodyPr/>
                    <a:lstStyle/>
                    <a:p>
                      <a:pPr indent="0" lvl="0" marL="0" rtl="0" algn="r">
                        <a:lnSpc>
                          <a:spcPct val="115000"/>
                        </a:lnSpc>
                        <a:spcBef>
                          <a:spcPts val="0"/>
                        </a:spcBef>
                        <a:spcAft>
                          <a:spcPts val="0"/>
                        </a:spcAft>
                        <a:buNone/>
                      </a:pPr>
                      <a:r>
                        <a:rPr lang="en" sz="1000"/>
                        <a:t>0.85%</a:t>
                      </a:r>
                      <a:endParaRPr sz="10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E1CD"/>
                    </a:solidFill>
                  </a:tcPr>
                </a:tc>
                <a:tc>
                  <a:txBody>
                    <a:bodyPr/>
                    <a:lstStyle/>
                    <a:p>
                      <a:pPr indent="0" lvl="0" marL="0" rtl="0" algn="r">
                        <a:lnSpc>
                          <a:spcPct val="115000"/>
                        </a:lnSpc>
                        <a:spcBef>
                          <a:spcPts val="0"/>
                        </a:spcBef>
                        <a:spcAft>
                          <a:spcPts val="0"/>
                        </a:spcAft>
                        <a:buNone/>
                      </a:pPr>
                      <a:r>
                        <a:rPr lang="en" sz="1000"/>
                        <a:t>-2.52%</a:t>
                      </a:r>
                      <a:endParaRPr sz="10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4CCCC"/>
                    </a:solidFill>
                  </a:tcPr>
                </a:tc>
                <a:tc>
                  <a:txBody>
                    <a:bodyPr/>
                    <a:lstStyle/>
                    <a:p>
                      <a:pPr indent="0" lvl="0" marL="0" rtl="0" algn="r">
                        <a:lnSpc>
                          <a:spcPct val="115000"/>
                        </a:lnSpc>
                        <a:spcBef>
                          <a:spcPts val="0"/>
                        </a:spcBef>
                        <a:spcAft>
                          <a:spcPts val="0"/>
                        </a:spcAft>
                        <a:buNone/>
                      </a:pPr>
                      <a:r>
                        <a:rPr lang="en" sz="1000"/>
                        <a:t>-3.35%</a:t>
                      </a:r>
                      <a:endParaRPr sz="10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4CCCC"/>
                    </a:solidFill>
                  </a:tcPr>
                </a:tc>
                <a:tc>
                  <a:txBody>
                    <a:bodyPr/>
                    <a:lstStyle/>
                    <a:p>
                      <a:pPr indent="0" lvl="0" marL="0" rtl="0" algn="r">
                        <a:lnSpc>
                          <a:spcPct val="115000"/>
                        </a:lnSpc>
                        <a:spcBef>
                          <a:spcPts val="0"/>
                        </a:spcBef>
                        <a:spcAft>
                          <a:spcPts val="0"/>
                        </a:spcAft>
                        <a:buNone/>
                      </a:pPr>
                      <a:r>
                        <a:rPr lang="en" sz="1000"/>
                        <a:t>-1.49%</a:t>
                      </a:r>
                      <a:endParaRPr sz="10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4CCCC"/>
                    </a:solidFill>
                  </a:tcPr>
                </a:tc>
                <a:tc>
                  <a:txBody>
                    <a:bodyPr/>
                    <a:lstStyle/>
                    <a:p>
                      <a:pPr indent="0" lvl="0" marL="0" rtl="0" algn="r">
                        <a:lnSpc>
                          <a:spcPct val="115000"/>
                        </a:lnSpc>
                        <a:spcBef>
                          <a:spcPts val="0"/>
                        </a:spcBef>
                        <a:spcAft>
                          <a:spcPts val="0"/>
                        </a:spcAft>
                        <a:buNone/>
                      </a:pPr>
                      <a:r>
                        <a:rPr lang="en" sz="1000"/>
                        <a:t>3.15%</a:t>
                      </a:r>
                      <a:endParaRPr sz="10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E1CD"/>
                    </a:solidFill>
                  </a:tcPr>
                </a:tc>
                <a:tc>
                  <a:txBody>
                    <a:bodyPr/>
                    <a:lstStyle/>
                    <a:p>
                      <a:pPr indent="0" lvl="0" marL="0" rtl="0" algn="r">
                        <a:lnSpc>
                          <a:spcPct val="115000"/>
                        </a:lnSpc>
                        <a:spcBef>
                          <a:spcPts val="0"/>
                        </a:spcBef>
                        <a:spcAft>
                          <a:spcPts val="0"/>
                        </a:spcAft>
                        <a:buNone/>
                      </a:pPr>
                      <a:r>
                        <a:rPr lang="en" sz="1000"/>
                        <a:t>2.28%</a:t>
                      </a:r>
                      <a:endParaRPr sz="10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E1CD"/>
                    </a:solidFill>
                  </a:tcPr>
                </a:tc>
                <a:tc>
                  <a:txBody>
                    <a:bodyPr/>
                    <a:lstStyle/>
                    <a:p>
                      <a:pPr indent="0" lvl="0" marL="0" rtl="0" algn="r">
                        <a:lnSpc>
                          <a:spcPct val="115000"/>
                        </a:lnSpc>
                        <a:spcBef>
                          <a:spcPts val="0"/>
                        </a:spcBef>
                        <a:spcAft>
                          <a:spcPts val="0"/>
                        </a:spcAft>
                        <a:buNone/>
                      </a:pPr>
                      <a:r>
                        <a:rPr lang="en" sz="1000"/>
                        <a:t>-1.04%</a:t>
                      </a:r>
                      <a:endParaRPr sz="10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n" sz="800">
                          <a:latin typeface="Inter"/>
                          <a:ea typeface="Inter"/>
                          <a:cs typeface="Inter"/>
                          <a:sym typeface="Inter"/>
                        </a:rPr>
                        <a:t>-0.16</a:t>
                      </a:r>
                      <a:r>
                        <a:rPr b="1" lang="en" sz="800" u="none" cap="none" strike="noStrike">
                          <a:latin typeface="Inter"/>
                          <a:ea typeface="Inter"/>
                          <a:cs typeface="Inter"/>
                          <a:sym typeface="Inter"/>
                        </a:rPr>
                        <a:t>pp%</a:t>
                      </a:r>
                      <a:endParaRPr b="1" sz="800" u="none" cap="none" strike="noStrike">
                        <a:latin typeface="Inter"/>
                        <a:ea typeface="Inter"/>
                        <a:cs typeface="Inter"/>
                        <a:sym typeface="Inter"/>
                      </a:endParaRPr>
                    </a:p>
                  </a:txBody>
                  <a:tcPr marT="19050" marB="19050" marR="28575" marL="28575" anchor="ctr">
                    <a:lnL cap="flat" cmpd="sng" w="127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4C7C3"/>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n" sz="800" u="none" cap="none" strike="noStrike">
                          <a:latin typeface="Inter"/>
                          <a:ea typeface="Inter"/>
                          <a:cs typeface="Inter"/>
                          <a:sym typeface="Inter"/>
                        </a:rPr>
                        <a:t>-</a:t>
                      </a:r>
                      <a:r>
                        <a:rPr b="1" lang="en" sz="800">
                          <a:latin typeface="Inter"/>
                          <a:ea typeface="Inter"/>
                          <a:cs typeface="Inter"/>
                          <a:sym typeface="Inter"/>
                        </a:rPr>
                        <a:t>0</a:t>
                      </a:r>
                      <a:r>
                        <a:rPr b="1" lang="en" sz="800" u="none" cap="none" strike="noStrike">
                          <a:latin typeface="Inter"/>
                          <a:ea typeface="Inter"/>
                          <a:cs typeface="Inter"/>
                          <a:sym typeface="Inter"/>
                        </a:rPr>
                        <a:t>.</a:t>
                      </a:r>
                      <a:r>
                        <a:rPr b="1" lang="en" sz="800">
                          <a:latin typeface="Inter"/>
                          <a:ea typeface="Inter"/>
                          <a:cs typeface="Inter"/>
                          <a:sym typeface="Inter"/>
                        </a:rPr>
                        <a:t>21</a:t>
                      </a:r>
                      <a:r>
                        <a:rPr b="1" lang="en" sz="800" u="none" cap="none" strike="noStrike">
                          <a:latin typeface="Inter"/>
                          <a:ea typeface="Inter"/>
                          <a:cs typeface="Inter"/>
                          <a:sym typeface="Inter"/>
                        </a:rPr>
                        <a:t>pp%</a:t>
                      </a:r>
                      <a:endParaRPr b="1" sz="800" u="none" cap="none" strike="noStrike">
                        <a:latin typeface="Inter"/>
                        <a:ea typeface="Inter"/>
                        <a:cs typeface="Inter"/>
                        <a:sym typeface="Inter"/>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4C7C3"/>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n" sz="800">
                          <a:latin typeface="Inter"/>
                          <a:ea typeface="Inter"/>
                          <a:cs typeface="Inter"/>
                          <a:sym typeface="Inter"/>
                        </a:rPr>
                        <a:t>-45</a:t>
                      </a:r>
                      <a:r>
                        <a:rPr b="1" lang="en" sz="800" u="none" cap="none" strike="noStrike">
                          <a:latin typeface="Inter"/>
                          <a:ea typeface="Inter"/>
                          <a:cs typeface="Inter"/>
                          <a:sym typeface="Inter"/>
                        </a:rPr>
                        <a:t>.</a:t>
                      </a:r>
                      <a:r>
                        <a:rPr b="1" lang="en" sz="800">
                          <a:latin typeface="Inter"/>
                          <a:ea typeface="Inter"/>
                          <a:cs typeface="Inter"/>
                          <a:sym typeface="Inter"/>
                        </a:rPr>
                        <a:t>54</a:t>
                      </a:r>
                      <a:r>
                        <a:rPr b="1" lang="en" sz="800" u="none" cap="none" strike="noStrike">
                          <a:latin typeface="Inter"/>
                          <a:ea typeface="Inter"/>
                          <a:cs typeface="Inter"/>
                          <a:sym typeface="Inter"/>
                        </a:rPr>
                        <a:t>%</a:t>
                      </a:r>
                      <a:endParaRPr b="1" sz="800" u="none" cap="none" strike="noStrike">
                        <a:latin typeface="Inter"/>
                        <a:ea typeface="Inter"/>
                        <a:cs typeface="Inter"/>
                        <a:sym typeface="Inter"/>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n" sz="800" u="none" cap="none" strike="noStrike">
                          <a:latin typeface="Inter"/>
                          <a:ea typeface="Inter"/>
                          <a:cs typeface="Inter"/>
                          <a:sym typeface="Inter"/>
                        </a:rPr>
                        <a:t>-13.52%</a:t>
                      </a:r>
                      <a:endParaRPr b="1" sz="800" u="none" cap="none" strike="noStrike">
                        <a:latin typeface="Inter"/>
                        <a:ea typeface="Inter"/>
                        <a:cs typeface="Inter"/>
                        <a:sym typeface="Inter"/>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4CCCC"/>
                    </a:solidFill>
                  </a:tcPr>
                </a:tc>
              </a:tr>
            </a:tbl>
          </a:graphicData>
        </a:graphic>
      </p:graphicFrame>
      <p:sp>
        <p:nvSpPr>
          <p:cNvPr id="338" name="Google Shape;338;p46"/>
          <p:cNvSpPr/>
          <p:nvPr/>
        </p:nvSpPr>
        <p:spPr>
          <a:xfrm>
            <a:off x="1547750" y="939575"/>
            <a:ext cx="743100" cy="918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46"/>
          <p:cNvSpPr/>
          <p:nvPr/>
        </p:nvSpPr>
        <p:spPr>
          <a:xfrm>
            <a:off x="7606750" y="938025"/>
            <a:ext cx="1497300" cy="918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46"/>
          <p:cNvSpPr txBox="1"/>
          <p:nvPr/>
        </p:nvSpPr>
        <p:spPr>
          <a:xfrm>
            <a:off x="39300" y="2196199"/>
            <a:ext cx="9050700" cy="2446800"/>
          </a:xfrm>
          <a:prstGeom prst="rect">
            <a:avLst/>
          </a:prstGeom>
          <a:solidFill>
            <a:srgbClr val="FFFFFF"/>
          </a:solidFill>
          <a:ln>
            <a:noFill/>
          </a:ln>
        </p:spPr>
        <p:txBody>
          <a:bodyPr anchorCtr="0" anchor="t" bIns="91400" lIns="91400" spcFirstLastPara="1" rIns="91400" wrap="square" tIns="91400">
            <a:noAutofit/>
          </a:bodyPr>
          <a:lstStyle/>
          <a:p>
            <a:pPr indent="0" lvl="0" marL="0" rtl="0" algn="l">
              <a:spcBef>
                <a:spcPts val="0"/>
              </a:spcBef>
              <a:spcAft>
                <a:spcPts val="0"/>
              </a:spcAft>
              <a:buNone/>
            </a:pPr>
            <a:r>
              <a:rPr b="0" lang="en" sz="1100">
                <a:solidFill>
                  <a:srgbClr val="595959"/>
                </a:solidFill>
                <a:latin typeface="Inter"/>
                <a:ea typeface="Inter"/>
                <a:cs typeface="Inter"/>
                <a:sym typeface="Inter"/>
              </a:rPr>
              <a:t>Live streaming performance declined slightly in August, with GMV (-2.52%) and Orders (-1.49%) dropping despite a minor increase in LS Duration (+0.85%), Unique Viewers (UV) (+3.15%), and UV/h (+2.28%).</a:t>
            </a:r>
            <a:endParaRPr b="0" sz="1100">
              <a:solidFill>
                <a:srgbClr val="595959"/>
              </a:solidFill>
              <a:latin typeface="Inter"/>
              <a:ea typeface="Inter"/>
              <a:cs typeface="Inter"/>
              <a:sym typeface="Inter"/>
            </a:endParaRPr>
          </a:p>
          <a:p>
            <a:pPr indent="0" lvl="0" marL="0" rtl="0" algn="l">
              <a:spcBef>
                <a:spcPts val="0"/>
              </a:spcBef>
              <a:spcAft>
                <a:spcPts val="0"/>
              </a:spcAft>
              <a:buNone/>
            </a:pPr>
            <a:r>
              <a:rPr b="0" lang="en" sz="1100">
                <a:solidFill>
                  <a:srgbClr val="595959"/>
                </a:solidFill>
                <a:latin typeface="Inter"/>
                <a:ea typeface="Inter"/>
                <a:cs typeface="Inter"/>
                <a:sym typeface="Inter"/>
              </a:rPr>
              <a:t> </a:t>
            </a:r>
            <a:endParaRPr b="0" sz="1100">
              <a:solidFill>
                <a:srgbClr val="595959"/>
              </a:solidFill>
              <a:latin typeface="Inter"/>
              <a:ea typeface="Inter"/>
              <a:cs typeface="Inter"/>
              <a:sym typeface="Inter"/>
            </a:endParaRPr>
          </a:p>
          <a:p>
            <a:pPr indent="-298450" lvl="0" marL="457200" rtl="0" algn="l">
              <a:spcBef>
                <a:spcPts val="450"/>
              </a:spcBef>
              <a:spcAft>
                <a:spcPts val="0"/>
              </a:spcAft>
              <a:buClr>
                <a:srgbClr val="595959"/>
              </a:buClr>
              <a:buSzPts val="1100"/>
              <a:buFont typeface="Inter"/>
              <a:buChar char="●"/>
            </a:pPr>
            <a:r>
              <a:rPr b="1" lang="en" sz="1100">
                <a:solidFill>
                  <a:srgbClr val="595959"/>
                </a:solidFill>
                <a:latin typeface="Inter"/>
                <a:ea typeface="Inter"/>
                <a:cs typeface="Inter"/>
                <a:sym typeface="Inter"/>
              </a:rPr>
              <a:t>UV (+3.15%) &amp; UV/h (+2.28%):</a:t>
            </a:r>
            <a:r>
              <a:rPr b="0" lang="en" sz="1100">
                <a:solidFill>
                  <a:srgbClr val="595959"/>
                </a:solidFill>
                <a:latin typeface="Inter"/>
                <a:ea typeface="Inter"/>
                <a:cs typeface="Inter"/>
                <a:sym typeface="Inter"/>
              </a:rPr>
              <a:t> Unique Viewers increased to 279,580 (from 271,036 in July) and UV/h rose to 592, indicating healthy audience reach and active engagement during live sessions </a:t>
            </a:r>
            <a:r>
              <a:rPr lang="en" sz="1100" u="sng">
                <a:solidFill>
                  <a:srgbClr val="595959"/>
                </a:solidFill>
                <a:latin typeface="Inter"/>
                <a:ea typeface="Inter"/>
                <a:cs typeface="Inter"/>
                <a:sym typeface="Inter"/>
              </a:rPr>
              <a:t>but with declining ads spent, the traffic sources was most likely low-intent buyer from Shopee algorithm.</a:t>
            </a:r>
            <a:endParaRPr b="0" sz="1100" u="sng">
              <a:solidFill>
                <a:srgbClr val="595959"/>
              </a:solidFill>
              <a:latin typeface="Inter"/>
              <a:ea typeface="Inter"/>
              <a:cs typeface="Inter"/>
              <a:sym typeface="Inter"/>
            </a:endParaRPr>
          </a:p>
          <a:p>
            <a:pPr indent="-298450" lvl="0" marL="457200" rtl="0" algn="l">
              <a:spcBef>
                <a:spcPts val="450"/>
              </a:spcBef>
              <a:spcAft>
                <a:spcPts val="0"/>
              </a:spcAft>
              <a:buClr>
                <a:srgbClr val="595959"/>
              </a:buClr>
              <a:buSzPts val="1100"/>
              <a:buFont typeface="Inter"/>
              <a:buChar char="●"/>
            </a:pPr>
            <a:r>
              <a:rPr b="1" lang="en" sz="1100">
                <a:solidFill>
                  <a:srgbClr val="595959"/>
                </a:solidFill>
                <a:latin typeface="Inter"/>
                <a:ea typeface="Inter"/>
                <a:cs typeface="Inter"/>
                <a:sym typeface="Inter"/>
              </a:rPr>
              <a:t>ABS (-1.04%) &amp; CR% (-0.16pp):</a:t>
            </a:r>
            <a:r>
              <a:rPr b="0" lang="en" sz="1100">
                <a:solidFill>
                  <a:srgbClr val="595959"/>
                </a:solidFill>
                <a:latin typeface="Inter"/>
                <a:ea typeface="Inter"/>
                <a:cs typeface="Inter"/>
                <a:sym typeface="Inter"/>
              </a:rPr>
              <a:t> Average Basket Size decreased slightly to Rp103,030 and Conversion Rate (CR%) dropped from 3.54% to 3.38% in August. </a:t>
            </a:r>
            <a:r>
              <a:rPr lang="en" sz="1100" u="sng">
                <a:solidFill>
                  <a:srgbClr val="595959"/>
                </a:solidFill>
                <a:latin typeface="Inter"/>
                <a:ea typeface="Inter"/>
                <a:cs typeface="Inter"/>
                <a:sym typeface="Inter"/>
              </a:rPr>
              <a:t>Scott's remains the product with the highest GMV, suggesting to create cross brand bundling to push other SKU e.g (Bundle Scotts &amp; Centrum) or (Bundle Polident &amp; Sensodyne)</a:t>
            </a:r>
            <a:endParaRPr b="0" sz="1100" u="sng">
              <a:solidFill>
                <a:srgbClr val="595959"/>
              </a:solidFill>
              <a:latin typeface="Inter"/>
              <a:ea typeface="Inter"/>
              <a:cs typeface="Inter"/>
              <a:sym typeface="Inter"/>
            </a:endParaRPr>
          </a:p>
          <a:p>
            <a:pPr indent="-298450" lvl="0" marL="457200" rtl="0" algn="l">
              <a:spcBef>
                <a:spcPts val="450"/>
              </a:spcBef>
              <a:spcAft>
                <a:spcPts val="450"/>
              </a:spcAft>
              <a:buClr>
                <a:srgbClr val="595959"/>
              </a:buClr>
              <a:buSzPts val="1100"/>
              <a:buFont typeface="Inter"/>
              <a:buChar char="●"/>
            </a:pPr>
            <a:r>
              <a:rPr b="1" lang="en" sz="1100">
                <a:solidFill>
                  <a:srgbClr val="595959"/>
                </a:solidFill>
                <a:latin typeface="Inter"/>
                <a:ea typeface="Inter"/>
                <a:cs typeface="Inter"/>
                <a:sym typeface="Inter"/>
              </a:rPr>
              <a:t>LS ADS Spent (-45.54%) &amp; LS ADS GMV (-13.52%):</a:t>
            </a:r>
            <a:r>
              <a:rPr b="0" lang="en" sz="1100">
                <a:solidFill>
                  <a:srgbClr val="595959"/>
                </a:solidFill>
                <a:latin typeface="Inter"/>
                <a:ea typeface="Inter"/>
                <a:cs typeface="Inter"/>
                <a:sym typeface="Inter"/>
              </a:rPr>
              <a:t> </a:t>
            </a:r>
            <a:r>
              <a:rPr lang="en" sz="1100">
                <a:solidFill>
                  <a:srgbClr val="595959"/>
                </a:solidFill>
                <a:latin typeface="Inter"/>
                <a:ea typeface="Inter"/>
                <a:cs typeface="Inter"/>
                <a:sym typeface="Inter"/>
              </a:rPr>
              <a:t>Livestream ads spend was reduced by -45.54% (to Rp8.19M), causing a direct -13.52% drop in LS Ads GMV (to Rp54.17M). </a:t>
            </a:r>
            <a:r>
              <a:rPr lang="en" sz="1100" u="sng">
                <a:solidFill>
                  <a:srgbClr val="595959"/>
                </a:solidFill>
                <a:latin typeface="Inter"/>
                <a:ea typeface="Inter"/>
                <a:cs typeface="Inter"/>
                <a:sym typeface="Inter"/>
              </a:rPr>
              <a:t>Overall GMV growth remains highly dependent on consistent LS Ads support to acquire high-intent buyers.</a:t>
            </a:r>
            <a:endParaRPr b="0" sz="1100" u="sng">
              <a:solidFill>
                <a:srgbClr val="595959"/>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pic>
        <p:nvPicPr>
          <p:cNvPr descr="preencoded.png" id="345" name="Google Shape;345;p47"/>
          <p:cNvPicPr preferRelativeResize="0"/>
          <p:nvPr/>
        </p:nvPicPr>
        <p:blipFill rotWithShape="1">
          <a:blip r:embed="rId3">
            <a:alphaModFix/>
          </a:blip>
          <a:srcRect b="0" l="0" r="0" t="0"/>
          <a:stretch/>
        </p:blipFill>
        <p:spPr>
          <a:xfrm>
            <a:off x="8096250" y="186690"/>
            <a:ext cx="868680" cy="228600"/>
          </a:xfrm>
          <a:prstGeom prst="rect">
            <a:avLst/>
          </a:prstGeom>
          <a:noFill/>
          <a:ln>
            <a:noFill/>
          </a:ln>
        </p:spPr>
      </p:pic>
      <p:sp>
        <p:nvSpPr>
          <p:cNvPr id="346" name="Google Shape;346;p47"/>
          <p:cNvSpPr/>
          <p:nvPr/>
        </p:nvSpPr>
        <p:spPr>
          <a:xfrm>
            <a:off x="228600" y="4777740"/>
            <a:ext cx="1994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6E7C89"/>
                </a:solidFill>
                <a:latin typeface="Inter"/>
                <a:ea typeface="Inter"/>
                <a:cs typeface="Inter"/>
                <a:sym typeface="Inter"/>
              </a:rPr>
              <a:t>© AnyMind Group. All Rights Reserved.</a:t>
            </a:r>
            <a:endParaRPr b="0" i="0" sz="600" u="none" cap="none" strike="noStrike">
              <a:solidFill>
                <a:srgbClr val="6E7C89"/>
              </a:solidFill>
              <a:latin typeface="Calibri"/>
              <a:ea typeface="Calibri"/>
              <a:cs typeface="Calibri"/>
              <a:sym typeface="Calibri"/>
            </a:endParaRPr>
          </a:p>
        </p:txBody>
      </p:sp>
      <p:sp>
        <p:nvSpPr>
          <p:cNvPr id="347" name="Google Shape;347;p47"/>
          <p:cNvSpPr/>
          <p:nvPr/>
        </p:nvSpPr>
        <p:spPr>
          <a:xfrm>
            <a:off x="7983700" y="4800540"/>
            <a:ext cx="743100" cy="183000"/>
          </a:xfrm>
          <a:prstGeom prst="roundRect">
            <a:avLst>
              <a:gd fmla="val 16667" name="adj"/>
            </a:avLst>
          </a:prstGeom>
          <a:solidFill>
            <a:srgbClr val="6E7C8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47"/>
          <p:cNvSpPr/>
          <p:nvPr/>
        </p:nvSpPr>
        <p:spPr>
          <a:xfrm>
            <a:off x="7983850" y="4800540"/>
            <a:ext cx="743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Inter"/>
                <a:ea typeface="Inter"/>
                <a:cs typeface="Inter"/>
                <a:sym typeface="Inter"/>
              </a:rPr>
              <a:t>CONFIDENTIAL</a:t>
            </a:r>
            <a:endParaRPr b="0" i="0" sz="700" u="none" cap="none" strike="noStrike">
              <a:solidFill>
                <a:schemeClr val="dk1"/>
              </a:solidFill>
              <a:latin typeface="Calibri"/>
              <a:ea typeface="Calibri"/>
              <a:cs typeface="Calibri"/>
              <a:sym typeface="Calibri"/>
            </a:endParaRPr>
          </a:p>
        </p:txBody>
      </p:sp>
      <p:sp>
        <p:nvSpPr>
          <p:cNvPr id="349" name="Google Shape;349;p47"/>
          <p:cNvSpPr txBox="1"/>
          <p:nvPr>
            <p:ph type="ctrTitle"/>
          </p:nvPr>
        </p:nvSpPr>
        <p:spPr>
          <a:xfrm>
            <a:off x="174550" y="131975"/>
            <a:ext cx="8655600" cy="695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B2C Marketing Activations</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ts val="4798"/>
              <a:buFont typeface="Calibri"/>
              <a:buNone/>
            </a:pPr>
            <a:r>
              <a:rPr b="1" lang="en">
                <a:solidFill>
                  <a:srgbClr val="3880C1"/>
                </a:solidFill>
                <a:latin typeface="Inter"/>
                <a:ea typeface="Inter"/>
                <a:cs typeface="Inter"/>
                <a:sym typeface="Inter"/>
              </a:rPr>
              <a:t>9.9 Livestream Performance</a:t>
            </a:r>
            <a:endParaRPr i="1" sz="1200">
              <a:solidFill>
                <a:srgbClr val="3880C1"/>
              </a:solidFill>
              <a:latin typeface="Inter"/>
              <a:ea typeface="Inter"/>
              <a:cs typeface="Inter"/>
              <a:sym typeface="Inter"/>
            </a:endParaRPr>
          </a:p>
        </p:txBody>
      </p:sp>
      <p:sp>
        <p:nvSpPr>
          <p:cNvPr id="350" name="Google Shape;350;p47"/>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pic>
        <p:nvPicPr>
          <p:cNvPr id="351" name="Google Shape;351;p47"/>
          <p:cNvPicPr preferRelativeResize="0"/>
          <p:nvPr/>
        </p:nvPicPr>
        <p:blipFill rotWithShape="1">
          <a:blip r:embed="rId4">
            <a:alphaModFix/>
          </a:blip>
          <a:srcRect b="0" l="0" r="0" t="0"/>
          <a:stretch/>
        </p:blipFill>
        <p:spPr>
          <a:xfrm rot="10800000">
            <a:off x="-4151" y="0"/>
            <a:ext cx="9148151" cy="79825"/>
          </a:xfrm>
          <a:prstGeom prst="rect">
            <a:avLst/>
          </a:prstGeom>
          <a:noFill/>
          <a:ln>
            <a:noFill/>
          </a:ln>
        </p:spPr>
      </p:pic>
      <p:pic>
        <p:nvPicPr>
          <p:cNvPr id="352" name="Google Shape;352;p47"/>
          <p:cNvPicPr preferRelativeResize="0"/>
          <p:nvPr/>
        </p:nvPicPr>
        <p:blipFill rotWithShape="1">
          <a:blip r:embed="rId5">
            <a:alphaModFix/>
          </a:blip>
          <a:srcRect b="0" l="0" r="0" t="12564"/>
          <a:stretch/>
        </p:blipFill>
        <p:spPr>
          <a:xfrm>
            <a:off x="7406900" y="121550"/>
            <a:ext cx="634924" cy="451775"/>
          </a:xfrm>
          <a:prstGeom prst="rect">
            <a:avLst/>
          </a:prstGeom>
          <a:noFill/>
          <a:ln>
            <a:noFill/>
          </a:ln>
        </p:spPr>
      </p:pic>
      <p:sp>
        <p:nvSpPr>
          <p:cNvPr id="353" name="Google Shape;353;p47"/>
          <p:cNvSpPr/>
          <p:nvPr/>
        </p:nvSpPr>
        <p:spPr>
          <a:xfrm>
            <a:off x="296700" y="1967589"/>
            <a:ext cx="8550600" cy="2286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lt1"/>
                </a:solidFill>
                <a:latin typeface="Inter"/>
                <a:ea typeface="Inter"/>
                <a:cs typeface="Inter"/>
                <a:sym typeface="Inter"/>
              </a:rPr>
              <a:t>Key Highlights</a:t>
            </a:r>
            <a:endParaRPr b="1" i="0" sz="1100" u="none" cap="none" strike="noStrike">
              <a:solidFill>
                <a:schemeClr val="lt1"/>
              </a:solidFill>
              <a:latin typeface="Inter"/>
              <a:ea typeface="Inter"/>
              <a:cs typeface="Inter"/>
              <a:sym typeface="Inter"/>
            </a:endParaRPr>
          </a:p>
        </p:txBody>
      </p:sp>
      <p:sp>
        <p:nvSpPr>
          <p:cNvPr id="354" name="Google Shape;354;p47"/>
          <p:cNvSpPr txBox="1"/>
          <p:nvPr/>
        </p:nvSpPr>
        <p:spPr>
          <a:xfrm>
            <a:off x="39300" y="2290220"/>
            <a:ext cx="9050700" cy="30075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0" i="0" lang="en" sz="1100">
                <a:solidFill>
                  <a:srgbClr val="595959"/>
                </a:solidFill>
                <a:latin typeface="Inter"/>
                <a:ea typeface="Inter"/>
                <a:cs typeface="Inter"/>
                <a:sym typeface="Inter"/>
              </a:rPr>
              <a:t>9.9 Livestream performance showed significant(WoW) </a:t>
            </a:r>
            <a:r>
              <a:rPr lang="en" sz="1100">
                <a:solidFill>
                  <a:srgbClr val="595959"/>
                </a:solidFill>
                <a:latin typeface="Inter"/>
                <a:ea typeface="Inter"/>
                <a:cs typeface="Inter"/>
                <a:sym typeface="Inter"/>
              </a:rPr>
              <a:t>increment</a:t>
            </a:r>
            <a:r>
              <a:rPr b="0" i="0" lang="en" sz="1100">
                <a:solidFill>
                  <a:srgbClr val="595959"/>
                </a:solidFill>
                <a:latin typeface="Inter"/>
                <a:ea typeface="Inter"/>
                <a:cs typeface="Inter"/>
                <a:sym typeface="Inter"/>
              </a:rPr>
              <a:t> on 09/09 compared to 08/08, driven by increased stream duration (+33.33%) and aggressive ad spend scaling.</a:t>
            </a:r>
            <a:endParaRPr b="0" i="0" sz="1100">
              <a:solidFill>
                <a:srgbClr val="595959"/>
              </a:solidFill>
              <a:latin typeface="Inter"/>
              <a:ea typeface="Inter"/>
              <a:cs typeface="Inter"/>
              <a:sym typeface="Inter"/>
            </a:endParaRPr>
          </a:p>
          <a:p>
            <a:pPr indent="0" lvl="0" marL="0" rtl="0" algn="l">
              <a:spcBef>
                <a:spcPts val="0"/>
              </a:spcBef>
              <a:spcAft>
                <a:spcPts val="0"/>
              </a:spcAft>
              <a:buNone/>
            </a:pPr>
            <a:r>
              <a:rPr b="0" i="0" lang="en" sz="1100">
                <a:solidFill>
                  <a:srgbClr val="595959"/>
                </a:solidFill>
                <a:latin typeface="Inter"/>
                <a:ea typeface="Inter"/>
                <a:cs typeface="Inter"/>
                <a:sym typeface="Inter"/>
              </a:rPr>
              <a:t> </a:t>
            </a:r>
            <a:endParaRPr b="0" i="0" sz="1100">
              <a:solidFill>
                <a:srgbClr val="595959"/>
              </a:solidFill>
              <a:latin typeface="Inter"/>
              <a:ea typeface="Inter"/>
              <a:cs typeface="Inter"/>
              <a:sym typeface="Inter"/>
            </a:endParaRPr>
          </a:p>
          <a:p>
            <a:pPr indent="-298450" lvl="0" marL="457200" rtl="0" algn="l">
              <a:spcBef>
                <a:spcPts val="0"/>
              </a:spcBef>
              <a:spcAft>
                <a:spcPts val="0"/>
              </a:spcAft>
              <a:buClr>
                <a:srgbClr val="595959"/>
              </a:buClr>
              <a:buSzPts val="1100"/>
              <a:buFont typeface="Inter"/>
              <a:buChar char="●"/>
            </a:pPr>
            <a:r>
              <a:rPr b="1" i="0" lang="en" sz="1100">
                <a:solidFill>
                  <a:srgbClr val="595959"/>
                </a:solidFill>
                <a:latin typeface="Inter"/>
                <a:ea typeface="Inter"/>
                <a:cs typeface="Inter"/>
                <a:sym typeface="Inter"/>
              </a:rPr>
              <a:t>GMV (+62.86%) &amp; Orders (+66.80%):</a:t>
            </a:r>
            <a:r>
              <a:rPr b="0" i="0" lang="en" sz="1100">
                <a:solidFill>
                  <a:srgbClr val="595959"/>
                </a:solidFill>
                <a:latin typeface="Inter"/>
                <a:ea typeface="Inter"/>
                <a:cs typeface="Inter"/>
                <a:sym typeface="Inter"/>
              </a:rPr>
              <a:t> Livestream GMV expanded from Rp148.1M to Rp241.2M with orders rising to 2,135</a:t>
            </a:r>
            <a:r>
              <a:rPr lang="en" sz="1100" u="sng">
                <a:solidFill>
                  <a:srgbClr val="595959"/>
                </a:solidFill>
                <a:latin typeface="Inter"/>
                <a:ea typeface="Inter"/>
                <a:cs typeface="Inter"/>
                <a:sym typeface="Inter"/>
              </a:rPr>
              <a:t> Combining increased ad spend (+121.62%) with the addition of Shopee Coins successfully drove a massive surge in top-of-funnel traffic, with increased volume of UV, GMV/h </a:t>
            </a:r>
            <a:r>
              <a:rPr lang="en" sz="1100" u="sng">
                <a:solidFill>
                  <a:srgbClr val="595959"/>
                </a:solidFill>
                <a:latin typeface="Inter"/>
                <a:ea typeface="Inter"/>
                <a:cs typeface="Inter"/>
                <a:sym typeface="Inter"/>
              </a:rPr>
              <a:t>successfully</a:t>
            </a:r>
            <a:r>
              <a:rPr lang="en" sz="1100" u="sng">
                <a:solidFill>
                  <a:srgbClr val="595959"/>
                </a:solidFill>
                <a:latin typeface="Inter"/>
                <a:ea typeface="Inter"/>
                <a:cs typeface="Inter"/>
                <a:sym typeface="Inter"/>
              </a:rPr>
              <a:t> driven up with increment (22.15%)</a:t>
            </a:r>
            <a:endParaRPr b="0" i="0" sz="1100" u="sng">
              <a:solidFill>
                <a:srgbClr val="595959"/>
              </a:solidFill>
              <a:latin typeface="Inter"/>
              <a:ea typeface="Inter"/>
              <a:cs typeface="Inter"/>
              <a:sym typeface="Inter"/>
            </a:endParaRPr>
          </a:p>
          <a:p>
            <a:pPr indent="-298450" lvl="0" marL="457200" rtl="0" algn="l">
              <a:spcBef>
                <a:spcPts val="450"/>
              </a:spcBef>
              <a:spcAft>
                <a:spcPts val="0"/>
              </a:spcAft>
              <a:buClr>
                <a:srgbClr val="595959"/>
              </a:buClr>
              <a:buSzPts val="1100"/>
              <a:buFont typeface="Inter"/>
              <a:buChar char="●"/>
            </a:pPr>
            <a:r>
              <a:rPr b="1" i="0" lang="en" sz="1100">
                <a:solidFill>
                  <a:srgbClr val="595959"/>
                </a:solidFill>
                <a:latin typeface="Inter"/>
                <a:ea typeface="Inter"/>
                <a:cs typeface="Inter"/>
                <a:sym typeface="Inter"/>
              </a:rPr>
              <a:t>UV (+340.73%) &amp; UV/h (+230.55%):</a:t>
            </a:r>
            <a:r>
              <a:rPr b="0" i="0" lang="en" sz="1100">
                <a:solidFill>
                  <a:srgbClr val="595959"/>
                </a:solidFill>
                <a:latin typeface="Inter"/>
                <a:ea typeface="Inter"/>
                <a:cs typeface="Inter"/>
                <a:sym typeface="Inter"/>
              </a:rPr>
              <a:t> Unique Viewers surged to 83,778 (up from 19,009 on 08/08) </a:t>
            </a:r>
            <a:r>
              <a:rPr b="0" i="0" lang="en" sz="1100" u="sng">
                <a:solidFill>
                  <a:srgbClr val="595959"/>
                </a:solidFill>
                <a:latin typeface="Inter"/>
                <a:ea typeface="Inter"/>
                <a:cs typeface="Inter"/>
                <a:sym typeface="Inter"/>
              </a:rPr>
              <a:t>Shopee Coins successfully drove </a:t>
            </a:r>
            <a:r>
              <a:rPr lang="en" sz="1100" u="sng">
                <a:solidFill>
                  <a:srgbClr val="595959"/>
                </a:solidFill>
                <a:latin typeface="Inter"/>
                <a:ea typeface="Inter"/>
                <a:cs typeface="Inter"/>
                <a:sym typeface="Inter"/>
              </a:rPr>
              <a:t>UV </a:t>
            </a:r>
            <a:r>
              <a:rPr b="0" i="0" lang="en" sz="1100" u="sng">
                <a:solidFill>
                  <a:srgbClr val="595959"/>
                </a:solidFill>
                <a:latin typeface="Inter"/>
                <a:ea typeface="Inter"/>
                <a:cs typeface="Inter"/>
                <a:sym typeface="Inter"/>
              </a:rPr>
              <a:t>volume by est 42k UV, but the quality of the audience was not as good as live ads</a:t>
            </a:r>
            <a:r>
              <a:rPr lang="en" sz="1100" u="sng">
                <a:solidFill>
                  <a:srgbClr val="595959"/>
                </a:solidFill>
                <a:latin typeface="Inter"/>
                <a:ea typeface="Inter"/>
                <a:cs typeface="Inter"/>
                <a:sym typeface="Inter"/>
              </a:rPr>
              <a:t> causing CVR </a:t>
            </a:r>
            <a:r>
              <a:rPr lang="en" sz="1100" u="sng">
                <a:solidFill>
                  <a:srgbClr val="595959"/>
                </a:solidFill>
                <a:latin typeface="Inter"/>
                <a:ea typeface="Inter"/>
                <a:cs typeface="Inter"/>
                <a:sym typeface="Inter"/>
              </a:rPr>
              <a:t>diluted</a:t>
            </a:r>
            <a:r>
              <a:rPr lang="en" sz="1100" u="sng">
                <a:solidFill>
                  <a:srgbClr val="595959"/>
                </a:solidFill>
                <a:latin typeface="Inter"/>
                <a:ea typeface="Inter"/>
                <a:cs typeface="Inter"/>
                <a:sym typeface="Inter"/>
              </a:rPr>
              <a:t> (-4.19pp)</a:t>
            </a:r>
            <a:endParaRPr b="0" i="0" sz="1100" u="sng">
              <a:solidFill>
                <a:srgbClr val="595959"/>
              </a:solidFill>
              <a:latin typeface="Inter"/>
              <a:ea typeface="Inter"/>
              <a:cs typeface="Inter"/>
              <a:sym typeface="Inter"/>
            </a:endParaRPr>
          </a:p>
          <a:p>
            <a:pPr indent="-298450" lvl="0" marL="457200" rtl="0" algn="l">
              <a:spcBef>
                <a:spcPts val="450"/>
              </a:spcBef>
              <a:spcAft>
                <a:spcPts val="0"/>
              </a:spcAft>
              <a:buClr>
                <a:srgbClr val="595959"/>
              </a:buClr>
              <a:buSzPts val="1100"/>
              <a:buFont typeface="Inter"/>
              <a:buChar char="●"/>
            </a:pPr>
            <a:r>
              <a:rPr b="1" i="0" lang="en" sz="1100">
                <a:solidFill>
                  <a:srgbClr val="595959"/>
                </a:solidFill>
                <a:latin typeface="Inter"/>
                <a:ea typeface="Inter"/>
                <a:cs typeface="Inter"/>
                <a:sym typeface="Inter"/>
              </a:rPr>
              <a:t>LS Ads Spent (+121.62%) &amp; LS Ads Revenue (+151.35%):</a:t>
            </a:r>
            <a:r>
              <a:rPr b="0" i="0" lang="en" sz="1100">
                <a:solidFill>
                  <a:srgbClr val="595959"/>
                </a:solidFill>
                <a:latin typeface="Inter"/>
                <a:ea typeface="Inter"/>
                <a:cs typeface="Inter"/>
                <a:sym typeface="Inter"/>
              </a:rPr>
              <a:t> Increasing livestream ad spend to Rp2.48M generated Rp19.63M in ad revenue, </a:t>
            </a:r>
            <a:r>
              <a:rPr lang="en" sz="1100" u="sng">
                <a:solidFill>
                  <a:srgbClr val="595959"/>
                </a:solidFill>
                <a:latin typeface="Inter"/>
                <a:ea typeface="Inter"/>
                <a:cs typeface="Inter"/>
                <a:sym typeface="Inter"/>
              </a:rPr>
              <a:t>increased the ads budget during the 9.9 peak day is highly efficient with ads Revenue growth outperformed LS ads spent growth</a:t>
            </a:r>
            <a:endParaRPr b="0" i="0" sz="1100" u="sng">
              <a:solidFill>
                <a:srgbClr val="595959"/>
              </a:solidFill>
              <a:latin typeface="Inter"/>
              <a:ea typeface="Inter"/>
              <a:cs typeface="Inter"/>
              <a:sym typeface="Inter"/>
            </a:endParaRPr>
          </a:p>
          <a:p>
            <a:pPr indent="-298450" lvl="0" marL="457200" rtl="0" algn="l">
              <a:spcBef>
                <a:spcPts val="450"/>
              </a:spcBef>
              <a:spcAft>
                <a:spcPts val="450"/>
              </a:spcAft>
              <a:buClr>
                <a:srgbClr val="595959"/>
              </a:buClr>
              <a:buSzPts val="1100"/>
              <a:buFont typeface="Inter"/>
              <a:buChar char="●"/>
            </a:pPr>
            <a:r>
              <a:rPr b="1" i="0" lang="en" sz="1100">
                <a:solidFill>
                  <a:srgbClr val="595959"/>
                </a:solidFill>
                <a:latin typeface="Inter"/>
                <a:ea typeface="Inter"/>
                <a:cs typeface="Inter"/>
                <a:sym typeface="Inter"/>
              </a:rPr>
              <a:t>ABS (-2.36%):</a:t>
            </a:r>
            <a:r>
              <a:rPr b="0" i="0" lang="en" sz="1100">
                <a:solidFill>
                  <a:srgbClr val="595959"/>
                </a:solidFill>
                <a:latin typeface="Inter"/>
                <a:ea typeface="Inter"/>
                <a:cs typeface="Inter"/>
                <a:sym typeface="Inter"/>
              </a:rPr>
              <a:t> Average Basket Size held relatively steady at Rp112,957. (-2.36%). </a:t>
            </a:r>
            <a:r>
              <a:rPr b="0" i="0" lang="en" sz="1100" u="sng">
                <a:solidFill>
                  <a:srgbClr val="595959"/>
                </a:solidFill>
                <a:latin typeface="Inter"/>
                <a:ea typeface="Inter"/>
                <a:cs typeface="Inter"/>
                <a:sym typeface="Inter"/>
              </a:rPr>
              <a:t>Po</a:t>
            </a:r>
            <a:r>
              <a:rPr lang="en" sz="1100" u="sng">
                <a:solidFill>
                  <a:srgbClr val="595959"/>
                </a:solidFill>
                <a:latin typeface="Inter"/>
                <a:ea typeface="Inter"/>
                <a:cs typeface="Inter"/>
                <a:sym typeface="Inter"/>
              </a:rPr>
              <a:t>lident gains product with highest GMV in 9.9 without any Gimmick/GWP</a:t>
            </a:r>
            <a:endParaRPr sz="1100">
              <a:solidFill>
                <a:srgbClr val="595959"/>
              </a:solidFill>
              <a:latin typeface="Inter"/>
              <a:ea typeface="Inter"/>
              <a:cs typeface="Inter"/>
              <a:sym typeface="Inter"/>
            </a:endParaRPr>
          </a:p>
        </p:txBody>
      </p:sp>
      <p:graphicFrame>
        <p:nvGraphicFramePr>
          <p:cNvPr id="355" name="Google Shape;355;p47"/>
          <p:cNvGraphicFramePr/>
          <p:nvPr/>
        </p:nvGraphicFramePr>
        <p:xfrm>
          <a:off x="39300" y="851363"/>
          <a:ext cx="3000000" cy="3000000"/>
        </p:xfrm>
        <a:graphic>
          <a:graphicData uri="http://schemas.openxmlformats.org/drawingml/2006/table">
            <a:tbl>
              <a:tblPr>
                <a:noFill/>
                <a:tableStyleId>{05CF1300-53F3-430B-9C35-424554A46B0A}</a:tableStyleId>
              </a:tblPr>
              <a:tblGrid>
                <a:gridCol w="1006425"/>
                <a:gridCol w="857025"/>
                <a:gridCol w="857025"/>
                <a:gridCol w="786275"/>
                <a:gridCol w="786275"/>
                <a:gridCol w="786275"/>
                <a:gridCol w="786275"/>
                <a:gridCol w="786275"/>
                <a:gridCol w="786275"/>
                <a:gridCol w="786275"/>
                <a:gridCol w="786275"/>
              </a:tblGrid>
              <a:tr h="200025">
                <a:tc>
                  <a:txBody>
                    <a:bodyPr/>
                    <a:lstStyle/>
                    <a:p>
                      <a:pPr indent="0" lvl="0" marL="0" rtl="0" algn="ctr">
                        <a:lnSpc>
                          <a:spcPct val="115000"/>
                        </a:lnSpc>
                        <a:spcBef>
                          <a:spcPts val="0"/>
                        </a:spcBef>
                        <a:spcAft>
                          <a:spcPts val="0"/>
                        </a:spcAft>
                        <a:buNone/>
                      </a:pPr>
                      <a:r>
                        <a:rPr lang="en" sz="1000">
                          <a:solidFill>
                            <a:srgbClr val="FFFFFF"/>
                          </a:solidFill>
                        </a:rPr>
                        <a:t>Date</a:t>
                      </a:r>
                      <a:endParaRPr sz="1000">
                        <a:solidFill>
                          <a:srgbClr val="FFFFFF"/>
                        </a:solidFill>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1155CC"/>
                    </a:solidFill>
                  </a:tcPr>
                </a:tc>
                <a:tc>
                  <a:txBody>
                    <a:bodyPr/>
                    <a:lstStyle/>
                    <a:p>
                      <a:pPr indent="0" lvl="0" marL="0" rtl="0" algn="ctr">
                        <a:lnSpc>
                          <a:spcPct val="115000"/>
                        </a:lnSpc>
                        <a:spcBef>
                          <a:spcPts val="0"/>
                        </a:spcBef>
                        <a:spcAft>
                          <a:spcPts val="0"/>
                        </a:spcAft>
                        <a:buNone/>
                      </a:pPr>
                      <a:r>
                        <a:rPr lang="en" sz="1000">
                          <a:solidFill>
                            <a:srgbClr val="FFFFFF"/>
                          </a:solidFill>
                        </a:rPr>
                        <a:t>Duration</a:t>
                      </a:r>
                      <a:endParaRPr sz="1000">
                        <a:solidFill>
                          <a:srgbClr val="FFFFFF"/>
                        </a:solidFill>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1155CC"/>
                    </a:solidFill>
                  </a:tcPr>
                </a:tc>
                <a:tc>
                  <a:txBody>
                    <a:bodyPr/>
                    <a:lstStyle/>
                    <a:p>
                      <a:pPr indent="0" lvl="0" marL="0" rtl="0" algn="ctr">
                        <a:lnSpc>
                          <a:spcPct val="115000"/>
                        </a:lnSpc>
                        <a:spcBef>
                          <a:spcPts val="0"/>
                        </a:spcBef>
                        <a:spcAft>
                          <a:spcPts val="0"/>
                        </a:spcAft>
                        <a:buNone/>
                      </a:pPr>
                      <a:r>
                        <a:rPr lang="en" sz="1000">
                          <a:solidFill>
                            <a:srgbClr val="FFFFFF"/>
                          </a:solidFill>
                        </a:rPr>
                        <a:t>GMV</a:t>
                      </a:r>
                      <a:endParaRPr sz="1000">
                        <a:solidFill>
                          <a:srgbClr val="FFFFFF"/>
                        </a:solidFill>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1155CC"/>
                    </a:solidFill>
                  </a:tcPr>
                </a:tc>
                <a:tc>
                  <a:txBody>
                    <a:bodyPr/>
                    <a:lstStyle/>
                    <a:p>
                      <a:pPr indent="0" lvl="0" marL="0" rtl="0" algn="ctr">
                        <a:lnSpc>
                          <a:spcPct val="115000"/>
                        </a:lnSpc>
                        <a:spcBef>
                          <a:spcPts val="0"/>
                        </a:spcBef>
                        <a:spcAft>
                          <a:spcPts val="0"/>
                        </a:spcAft>
                        <a:buNone/>
                      </a:pPr>
                      <a:r>
                        <a:rPr lang="en" sz="1000">
                          <a:solidFill>
                            <a:srgbClr val="FFFFFF"/>
                          </a:solidFill>
                        </a:rPr>
                        <a:t>GMV/h</a:t>
                      </a:r>
                      <a:endParaRPr sz="1000">
                        <a:solidFill>
                          <a:srgbClr val="FFFFFF"/>
                        </a:solidFill>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1155CC"/>
                    </a:solidFill>
                  </a:tcPr>
                </a:tc>
                <a:tc>
                  <a:txBody>
                    <a:bodyPr/>
                    <a:lstStyle/>
                    <a:p>
                      <a:pPr indent="0" lvl="0" marL="0" rtl="0" algn="ctr">
                        <a:lnSpc>
                          <a:spcPct val="115000"/>
                        </a:lnSpc>
                        <a:spcBef>
                          <a:spcPts val="0"/>
                        </a:spcBef>
                        <a:spcAft>
                          <a:spcPts val="0"/>
                        </a:spcAft>
                        <a:buNone/>
                      </a:pPr>
                      <a:r>
                        <a:rPr lang="en" sz="1000">
                          <a:solidFill>
                            <a:srgbClr val="FFFFFF"/>
                          </a:solidFill>
                        </a:rPr>
                        <a:t>Orders</a:t>
                      </a:r>
                      <a:endParaRPr sz="1000">
                        <a:solidFill>
                          <a:srgbClr val="FFFFFF"/>
                        </a:solidFill>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1155CC"/>
                    </a:solidFill>
                  </a:tcPr>
                </a:tc>
                <a:tc>
                  <a:txBody>
                    <a:bodyPr/>
                    <a:lstStyle/>
                    <a:p>
                      <a:pPr indent="0" lvl="0" marL="0" rtl="0" algn="ctr">
                        <a:lnSpc>
                          <a:spcPct val="115000"/>
                        </a:lnSpc>
                        <a:spcBef>
                          <a:spcPts val="0"/>
                        </a:spcBef>
                        <a:spcAft>
                          <a:spcPts val="0"/>
                        </a:spcAft>
                        <a:buNone/>
                      </a:pPr>
                      <a:r>
                        <a:rPr lang="en" sz="1000">
                          <a:solidFill>
                            <a:srgbClr val="FFFFFF"/>
                          </a:solidFill>
                        </a:rPr>
                        <a:t>UV</a:t>
                      </a:r>
                      <a:endParaRPr sz="1000">
                        <a:solidFill>
                          <a:srgbClr val="FFFFFF"/>
                        </a:solidFill>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1155CC"/>
                    </a:solidFill>
                  </a:tcPr>
                </a:tc>
                <a:tc>
                  <a:txBody>
                    <a:bodyPr/>
                    <a:lstStyle/>
                    <a:p>
                      <a:pPr indent="0" lvl="0" marL="0" rtl="0" algn="ctr">
                        <a:lnSpc>
                          <a:spcPct val="115000"/>
                        </a:lnSpc>
                        <a:spcBef>
                          <a:spcPts val="0"/>
                        </a:spcBef>
                        <a:spcAft>
                          <a:spcPts val="0"/>
                        </a:spcAft>
                        <a:buNone/>
                      </a:pPr>
                      <a:r>
                        <a:rPr lang="en" sz="1000">
                          <a:solidFill>
                            <a:srgbClr val="FFFFFF"/>
                          </a:solidFill>
                        </a:rPr>
                        <a:t>UV/h</a:t>
                      </a:r>
                      <a:endParaRPr sz="1000">
                        <a:solidFill>
                          <a:srgbClr val="FFFFFF"/>
                        </a:solidFill>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1155CC"/>
                    </a:solidFill>
                  </a:tcPr>
                </a:tc>
                <a:tc>
                  <a:txBody>
                    <a:bodyPr/>
                    <a:lstStyle/>
                    <a:p>
                      <a:pPr indent="0" lvl="0" marL="0" rtl="0" algn="ctr">
                        <a:lnSpc>
                          <a:spcPct val="115000"/>
                        </a:lnSpc>
                        <a:spcBef>
                          <a:spcPts val="0"/>
                        </a:spcBef>
                        <a:spcAft>
                          <a:spcPts val="0"/>
                        </a:spcAft>
                        <a:buNone/>
                      </a:pPr>
                      <a:r>
                        <a:rPr lang="en" sz="1000">
                          <a:solidFill>
                            <a:srgbClr val="FFFFFF"/>
                          </a:solidFill>
                        </a:rPr>
                        <a:t>ABS</a:t>
                      </a:r>
                      <a:endParaRPr sz="1000">
                        <a:solidFill>
                          <a:srgbClr val="FFFFFF"/>
                        </a:solidFill>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1155CC"/>
                    </a:solidFill>
                  </a:tcPr>
                </a:tc>
                <a:tc>
                  <a:txBody>
                    <a:bodyPr/>
                    <a:lstStyle/>
                    <a:p>
                      <a:pPr indent="0" lvl="0" marL="0" rtl="0" algn="l">
                        <a:lnSpc>
                          <a:spcPct val="115000"/>
                        </a:lnSpc>
                        <a:spcBef>
                          <a:spcPts val="0"/>
                        </a:spcBef>
                        <a:spcAft>
                          <a:spcPts val="0"/>
                        </a:spcAft>
                        <a:buNone/>
                      </a:pPr>
                      <a:r>
                        <a:rPr lang="en" sz="1000">
                          <a:solidFill>
                            <a:srgbClr val="FFFFFF"/>
                          </a:solidFill>
                        </a:rPr>
                        <a:t>CVR</a:t>
                      </a:r>
                      <a:endParaRPr sz="1000">
                        <a:solidFill>
                          <a:srgbClr val="FFFFFF"/>
                        </a:solidFill>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1155CC"/>
                    </a:solidFill>
                  </a:tcPr>
                </a:tc>
                <a:tc>
                  <a:txBody>
                    <a:bodyPr/>
                    <a:lstStyle/>
                    <a:p>
                      <a:pPr indent="0" lvl="0" marL="0" rtl="0" algn="l">
                        <a:lnSpc>
                          <a:spcPct val="115000"/>
                        </a:lnSpc>
                        <a:spcBef>
                          <a:spcPts val="0"/>
                        </a:spcBef>
                        <a:spcAft>
                          <a:spcPts val="0"/>
                        </a:spcAft>
                        <a:buNone/>
                      </a:pPr>
                      <a:r>
                        <a:rPr lang="en" sz="1000">
                          <a:solidFill>
                            <a:srgbClr val="FFFFFF"/>
                          </a:solidFill>
                        </a:rPr>
                        <a:t>LS Ads Spent</a:t>
                      </a:r>
                      <a:endParaRPr sz="1000">
                        <a:solidFill>
                          <a:srgbClr val="FFFFFF"/>
                        </a:solidFill>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1155CC"/>
                    </a:solidFill>
                  </a:tcPr>
                </a:tc>
                <a:tc>
                  <a:txBody>
                    <a:bodyPr/>
                    <a:lstStyle/>
                    <a:p>
                      <a:pPr indent="0" lvl="0" marL="0" rtl="0" algn="l">
                        <a:lnSpc>
                          <a:spcPct val="115000"/>
                        </a:lnSpc>
                        <a:spcBef>
                          <a:spcPts val="0"/>
                        </a:spcBef>
                        <a:spcAft>
                          <a:spcPts val="0"/>
                        </a:spcAft>
                        <a:buNone/>
                      </a:pPr>
                      <a:r>
                        <a:rPr lang="en" sz="1000">
                          <a:solidFill>
                            <a:srgbClr val="FFFFFF"/>
                          </a:solidFill>
                        </a:rPr>
                        <a:t>LS Ads Revenue</a:t>
                      </a:r>
                      <a:endParaRPr sz="1000">
                        <a:solidFill>
                          <a:srgbClr val="FFFFFF"/>
                        </a:solidFill>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CCCCCC"/>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1155CC"/>
                    </a:solidFill>
                  </a:tcPr>
                </a:tc>
              </a:tr>
              <a:tr h="200025">
                <a:tc>
                  <a:txBody>
                    <a:bodyPr/>
                    <a:lstStyle/>
                    <a:p>
                      <a:pPr indent="0" lvl="0" marL="0" rtl="0" algn="r">
                        <a:lnSpc>
                          <a:spcPct val="115000"/>
                        </a:lnSpc>
                        <a:spcBef>
                          <a:spcPts val="0"/>
                        </a:spcBef>
                        <a:spcAft>
                          <a:spcPts val="0"/>
                        </a:spcAft>
                        <a:buNone/>
                      </a:pPr>
                      <a:r>
                        <a:rPr lang="en" sz="900"/>
                        <a:t>08/08</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18</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900"/>
                        <a:t>148,078,020</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900"/>
                        <a:t>Rp8,226,557</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900"/>
                        <a:t>1280</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900"/>
                        <a:t>19,009</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900"/>
                        <a:t>1056</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900"/>
                        <a:t>Rp115,686</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900"/>
                        <a:t>6.73%</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900"/>
                        <a:t>Rp1.120.000</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900"/>
                        <a:t>Rp7.809.112</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00025">
                <a:tc>
                  <a:txBody>
                    <a:bodyPr/>
                    <a:lstStyle/>
                    <a:p>
                      <a:pPr indent="0" lvl="0" marL="0" rtl="0" algn="r">
                        <a:lnSpc>
                          <a:spcPct val="115000"/>
                        </a:lnSpc>
                        <a:spcBef>
                          <a:spcPts val="0"/>
                        </a:spcBef>
                        <a:spcAft>
                          <a:spcPts val="0"/>
                        </a:spcAft>
                        <a:buNone/>
                      </a:pPr>
                      <a:r>
                        <a:rPr lang="en" sz="900"/>
                        <a:t>09/09</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900"/>
                        <a:t>24</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900"/>
                        <a:t>241,163,939</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900"/>
                        <a:t>Rp10,048,497</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900"/>
                        <a:t>2135</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900"/>
                        <a:t>83,778</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900"/>
                        <a:t>3491</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900"/>
                        <a:t>Rp112,957</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900"/>
                        <a:t>2.55%</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900"/>
                        <a:t>Rp2.482.108</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900"/>
                        <a:t>Rp19.628.329</a:t>
                      </a:r>
                      <a:endParaRPr sz="9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00025">
                <a:tc>
                  <a:txBody>
                    <a:bodyPr/>
                    <a:lstStyle/>
                    <a:p>
                      <a:pPr indent="0" lvl="0" marL="0" rtl="0" algn="l">
                        <a:lnSpc>
                          <a:spcPct val="115000"/>
                        </a:lnSpc>
                        <a:spcBef>
                          <a:spcPts val="0"/>
                        </a:spcBef>
                        <a:spcAft>
                          <a:spcPts val="0"/>
                        </a:spcAft>
                        <a:buNone/>
                      </a:pPr>
                      <a:r>
                        <a:rPr lang="en" sz="1000"/>
                        <a:t>WoW Growth</a:t>
                      </a:r>
                      <a:endParaRPr sz="10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rtl="0" algn="r">
                        <a:lnSpc>
                          <a:spcPct val="115000"/>
                        </a:lnSpc>
                        <a:spcBef>
                          <a:spcPts val="0"/>
                        </a:spcBef>
                        <a:spcAft>
                          <a:spcPts val="0"/>
                        </a:spcAft>
                        <a:buNone/>
                      </a:pPr>
                      <a:r>
                        <a:rPr lang="en" sz="1000"/>
                        <a:t>33.33%</a:t>
                      </a:r>
                      <a:endParaRPr sz="10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E1CD"/>
                    </a:solidFill>
                  </a:tcPr>
                </a:tc>
                <a:tc>
                  <a:txBody>
                    <a:bodyPr/>
                    <a:lstStyle/>
                    <a:p>
                      <a:pPr indent="0" lvl="0" marL="0" rtl="0" algn="r">
                        <a:lnSpc>
                          <a:spcPct val="115000"/>
                        </a:lnSpc>
                        <a:spcBef>
                          <a:spcPts val="0"/>
                        </a:spcBef>
                        <a:spcAft>
                          <a:spcPts val="0"/>
                        </a:spcAft>
                        <a:buNone/>
                      </a:pPr>
                      <a:r>
                        <a:rPr lang="en" sz="1000"/>
                        <a:t>62.86%</a:t>
                      </a:r>
                      <a:endParaRPr sz="10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E1CD"/>
                    </a:solidFill>
                  </a:tcPr>
                </a:tc>
                <a:tc>
                  <a:txBody>
                    <a:bodyPr/>
                    <a:lstStyle/>
                    <a:p>
                      <a:pPr indent="0" lvl="0" marL="0" rtl="0" algn="r">
                        <a:lnSpc>
                          <a:spcPct val="115000"/>
                        </a:lnSpc>
                        <a:spcBef>
                          <a:spcPts val="0"/>
                        </a:spcBef>
                        <a:spcAft>
                          <a:spcPts val="0"/>
                        </a:spcAft>
                        <a:buNone/>
                      </a:pPr>
                      <a:r>
                        <a:rPr lang="en" sz="1000"/>
                        <a:t>22.15%</a:t>
                      </a:r>
                      <a:endParaRPr sz="10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E1CD"/>
                    </a:solidFill>
                  </a:tcPr>
                </a:tc>
                <a:tc>
                  <a:txBody>
                    <a:bodyPr/>
                    <a:lstStyle/>
                    <a:p>
                      <a:pPr indent="0" lvl="0" marL="0" rtl="0" algn="r">
                        <a:lnSpc>
                          <a:spcPct val="115000"/>
                        </a:lnSpc>
                        <a:spcBef>
                          <a:spcPts val="0"/>
                        </a:spcBef>
                        <a:spcAft>
                          <a:spcPts val="0"/>
                        </a:spcAft>
                        <a:buNone/>
                      </a:pPr>
                      <a:r>
                        <a:rPr lang="en" sz="1000"/>
                        <a:t>66.80%</a:t>
                      </a:r>
                      <a:endParaRPr sz="10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E1CD"/>
                    </a:solidFill>
                  </a:tcPr>
                </a:tc>
                <a:tc>
                  <a:txBody>
                    <a:bodyPr/>
                    <a:lstStyle/>
                    <a:p>
                      <a:pPr indent="0" lvl="0" marL="0" rtl="0" algn="r">
                        <a:lnSpc>
                          <a:spcPct val="115000"/>
                        </a:lnSpc>
                        <a:spcBef>
                          <a:spcPts val="0"/>
                        </a:spcBef>
                        <a:spcAft>
                          <a:spcPts val="0"/>
                        </a:spcAft>
                        <a:buNone/>
                      </a:pPr>
                      <a:r>
                        <a:rPr lang="en" sz="1000"/>
                        <a:t>340.73%</a:t>
                      </a:r>
                      <a:endParaRPr sz="10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E1CD"/>
                    </a:solidFill>
                  </a:tcPr>
                </a:tc>
                <a:tc>
                  <a:txBody>
                    <a:bodyPr/>
                    <a:lstStyle/>
                    <a:p>
                      <a:pPr indent="0" lvl="0" marL="0" rtl="0" algn="r">
                        <a:lnSpc>
                          <a:spcPct val="115000"/>
                        </a:lnSpc>
                        <a:spcBef>
                          <a:spcPts val="0"/>
                        </a:spcBef>
                        <a:spcAft>
                          <a:spcPts val="0"/>
                        </a:spcAft>
                        <a:buNone/>
                      </a:pPr>
                      <a:r>
                        <a:rPr lang="en" sz="1000"/>
                        <a:t>230.55%</a:t>
                      </a:r>
                      <a:endParaRPr sz="10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E1CD"/>
                    </a:solidFill>
                  </a:tcPr>
                </a:tc>
                <a:tc>
                  <a:txBody>
                    <a:bodyPr/>
                    <a:lstStyle/>
                    <a:p>
                      <a:pPr indent="0" lvl="0" marL="0" rtl="0" algn="r">
                        <a:lnSpc>
                          <a:spcPct val="115000"/>
                        </a:lnSpc>
                        <a:spcBef>
                          <a:spcPts val="0"/>
                        </a:spcBef>
                        <a:spcAft>
                          <a:spcPts val="0"/>
                        </a:spcAft>
                        <a:buNone/>
                      </a:pPr>
                      <a:r>
                        <a:rPr lang="en" sz="1000"/>
                        <a:t>-2.36%</a:t>
                      </a:r>
                      <a:endParaRPr sz="10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4CCCC"/>
                    </a:solidFill>
                  </a:tcPr>
                </a:tc>
                <a:tc>
                  <a:txBody>
                    <a:bodyPr/>
                    <a:lstStyle/>
                    <a:p>
                      <a:pPr indent="0" lvl="0" marL="0" rtl="0" algn="r">
                        <a:lnSpc>
                          <a:spcPct val="115000"/>
                        </a:lnSpc>
                        <a:spcBef>
                          <a:spcPts val="0"/>
                        </a:spcBef>
                        <a:spcAft>
                          <a:spcPts val="0"/>
                        </a:spcAft>
                        <a:buNone/>
                      </a:pPr>
                      <a:r>
                        <a:rPr lang="en" sz="1000"/>
                        <a:t>-4.19%</a:t>
                      </a:r>
                      <a:endParaRPr sz="10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4C7C3"/>
                    </a:solidFill>
                  </a:tcPr>
                </a:tc>
                <a:tc>
                  <a:txBody>
                    <a:bodyPr/>
                    <a:lstStyle/>
                    <a:p>
                      <a:pPr indent="0" lvl="0" marL="0" rtl="0" algn="r">
                        <a:lnSpc>
                          <a:spcPct val="115000"/>
                        </a:lnSpc>
                        <a:spcBef>
                          <a:spcPts val="0"/>
                        </a:spcBef>
                        <a:spcAft>
                          <a:spcPts val="0"/>
                        </a:spcAft>
                        <a:buNone/>
                      </a:pPr>
                      <a:r>
                        <a:rPr lang="en" sz="1000"/>
                        <a:t>121.62%</a:t>
                      </a:r>
                      <a:endParaRPr sz="10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E1CD"/>
                    </a:solidFill>
                  </a:tcPr>
                </a:tc>
                <a:tc>
                  <a:txBody>
                    <a:bodyPr/>
                    <a:lstStyle/>
                    <a:p>
                      <a:pPr indent="0" lvl="0" marL="0" rtl="0" algn="r">
                        <a:lnSpc>
                          <a:spcPct val="115000"/>
                        </a:lnSpc>
                        <a:spcBef>
                          <a:spcPts val="0"/>
                        </a:spcBef>
                        <a:spcAft>
                          <a:spcPts val="0"/>
                        </a:spcAft>
                        <a:buNone/>
                      </a:pPr>
                      <a:r>
                        <a:rPr lang="en" sz="1000"/>
                        <a:t>151.35%</a:t>
                      </a:r>
                      <a:endParaRPr sz="1000"/>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7E1CD"/>
                    </a:solidFill>
                  </a:tcPr>
                </a:tc>
              </a:tr>
            </a:tbl>
          </a:graphicData>
        </a:graphic>
      </p:graphicFrame>
      <p:sp>
        <p:nvSpPr>
          <p:cNvPr id="356" name="Google Shape;356;p47"/>
          <p:cNvSpPr/>
          <p:nvPr/>
        </p:nvSpPr>
        <p:spPr>
          <a:xfrm>
            <a:off x="7477425" y="857463"/>
            <a:ext cx="1575000" cy="990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47"/>
          <p:cNvSpPr/>
          <p:nvPr/>
        </p:nvSpPr>
        <p:spPr>
          <a:xfrm>
            <a:off x="4332325" y="827076"/>
            <a:ext cx="788700" cy="1046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8"/>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pic>
        <p:nvPicPr>
          <p:cNvPr id="363" name="Google Shape;363;p48"/>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sp>
        <p:nvSpPr>
          <p:cNvPr id="364" name="Google Shape;364;p48"/>
          <p:cNvSpPr txBox="1"/>
          <p:nvPr>
            <p:ph type="ctrTitle"/>
          </p:nvPr>
        </p:nvSpPr>
        <p:spPr>
          <a:xfrm>
            <a:off x="174550" y="131975"/>
            <a:ext cx="8655600" cy="837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Monthly Review August 2026</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Shopee Affiliates Performance </a:t>
            </a:r>
            <a:r>
              <a:rPr i="1" lang="en">
                <a:solidFill>
                  <a:srgbClr val="3880C1"/>
                </a:solidFill>
                <a:latin typeface="Inter"/>
                <a:ea typeface="Inter"/>
                <a:cs typeface="Inter"/>
                <a:sym typeface="Inter"/>
              </a:rPr>
              <a:t>(Upper Funnel)</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327165"/>
              <a:buFont typeface="Calibri"/>
              <a:buNone/>
            </a:pPr>
            <a:r>
              <a:rPr i="1" lang="en" sz="978">
                <a:solidFill>
                  <a:srgbClr val="3880C1"/>
                </a:solidFill>
                <a:latin typeface="Inter"/>
                <a:ea typeface="Inter"/>
                <a:cs typeface="Inter"/>
                <a:sym typeface="Inter"/>
              </a:rPr>
              <a:t>Affiliate NMV grew +10.84% MoM to Rp2.54B, and Scott's is the real engine — growing nearly 3x the portfolio's overall rate.</a:t>
            </a:r>
            <a:endParaRPr i="1" sz="978">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93785"/>
              <a:buFont typeface="Calibri"/>
              <a:buNone/>
            </a:pPr>
            <a:r>
              <a:t/>
            </a:r>
            <a:endParaRPr i="1" sz="1089">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t/>
            </a:r>
            <a:endParaRPr i="1" sz="1200">
              <a:solidFill>
                <a:srgbClr val="3880C1"/>
              </a:solidFill>
              <a:latin typeface="Inter"/>
              <a:ea typeface="Inter"/>
              <a:cs typeface="Inter"/>
              <a:sym typeface="Inter"/>
            </a:endParaRPr>
          </a:p>
        </p:txBody>
      </p:sp>
      <p:sp>
        <p:nvSpPr>
          <p:cNvPr id="365" name="Google Shape;365;p48"/>
          <p:cNvSpPr/>
          <p:nvPr/>
        </p:nvSpPr>
        <p:spPr>
          <a:xfrm>
            <a:off x="343550" y="3466767"/>
            <a:ext cx="8550600" cy="2286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lt1"/>
                </a:solidFill>
                <a:latin typeface="Inter"/>
                <a:ea typeface="Inter"/>
                <a:cs typeface="Inter"/>
                <a:sym typeface="Inter"/>
              </a:rPr>
              <a:t>Key Highlights</a:t>
            </a:r>
            <a:endParaRPr b="1" i="0" sz="1100" u="none" cap="none" strike="noStrike">
              <a:solidFill>
                <a:schemeClr val="lt1"/>
              </a:solidFill>
              <a:latin typeface="Inter"/>
              <a:ea typeface="Inter"/>
              <a:cs typeface="Inter"/>
              <a:sym typeface="Inter"/>
            </a:endParaRPr>
          </a:p>
        </p:txBody>
      </p:sp>
      <p:sp>
        <p:nvSpPr>
          <p:cNvPr id="366" name="Google Shape;366;p48"/>
          <p:cNvSpPr txBox="1"/>
          <p:nvPr/>
        </p:nvSpPr>
        <p:spPr>
          <a:xfrm>
            <a:off x="238575" y="3748225"/>
            <a:ext cx="8655600" cy="1258200"/>
          </a:xfrm>
          <a:prstGeom prst="rect">
            <a:avLst/>
          </a:prstGeom>
          <a:solidFill>
            <a:schemeClr val="lt1"/>
          </a:solidFill>
          <a:ln>
            <a:noFill/>
          </a:ln>
        </p:spPr>
        <p:txBody>
          <a:bodyPr anchorCtr="0" anchor="t" bIns="91425" lIns="91425" spcFirstLastPara="1" rIns="91425" wrap="square" tIns="91425">
            <a:noAutofit/>
          </a:bodyPr>
          <a:lstStyle/>
          <a:p>
            <a:pPr indent="-285750" lvl="0" marL="457200" rtl="0" algn="just">
              <a:lnSpc>
                <a:spcPct val="115000"/>
              </a:lnSpc>
              <a:spcBef>
                <a:spcPts val="0"/>
              </a:spcBef>
              <a:spcAft>
                <a:spcPts val="0"/>
              </a:spcAft>
              <a:buClr>
                <a:schemeClr val="dk1"/>
              </a:buClr>
              <a:buSzPts val="900"/>
              <a:buChar char="●"/>
            </a:pPr>
            <a:r>
              <a:rPr b="1" lang="en" sz="900">
                <a:solidFill>
                  <a:schemeClr val="dk1"/>
                </a:solidFill>
              </a:rPr>
              <a:t>Affiliate NMV +10.84% MoM </a:t>
            </a:r>
            <a:r>
              <a:rPr lang="en" sz="900">
                <a:solidFill>
                  <a:schemeClr val="dk1"/>
                </a:solidFill>
              </a:rPr>
              <a:t>— as established, roughly 80% of this increase traces to one creator, tonixzx, breaking out via Live/Scott's.</a:t>
            </a:r>
            <a:endParaRPr sz="900">
              <a:solidFill>
                <a:schemeClr val="dk1"/>
              </a:solidFill>
            </a:endParaRPr>
          </a:p>
          <a:p>
            <a:pPr indent="-285750" lvl="0" marL="457200" rtl="0" algn="just">
              <a:lnSpc>
                <a:spcPct val="115000"/>
              </a:lnSpc>
              <a:spcBef>
                <a:spcPts val="0"/>
              </a:spcBef>
              <a:spcAft>
                <a:spcPts val="0"/>
              </a:spcAft>
              <a:buClr>
                <a:schemeClr val="dk1"/>
              </a:buClr>
              <a:buSzPts val="900"/>
              <a:buChar char="●"/>
            </a:pPr>
            <a:r>
              <a:rPr b="1" lang="en" sz="900">
                <a:solidFill>
                  <a:schemeClr val="dk1"/>
                </a:solidFill>
              </a:rPr>
              <a:t>Scott's is driving disproportionate growth </a:t>
            </a:r>
            <a:r>
              <a:rPr lang="en" sz="900">
                <a:solidFill>
                  <a:schemeClr val="dk1"/>
                </a:solidFill>
              </a:rPr>
              <a:t>— its revenue jumped +31.93% MoM, nearly 3x the portfolio's overall growth rate, and its Order volume grew +33.63%.</a:t>
            </a:r>
            <a:endParaRPr sz="900">
              <a:solidFill>
                <a:schemeClr val="dk1"/>
              </a:solidFill>
            </a:endParaRPr>
          </a:p>
          <a:p>
            <a:pPr indent="-285750" lvl="0" marL="457200" rtl="0" algn="just">
              <a:lnSpc>
                <a:spcPct val="115000"/>
              </a:lnSpc>
              <a:spcBef>
                <a:spcPts val="0"/>
              </a:spcBef>
              <a:spcAft>
                <a:spcPts val="0"/>
              </a:spcAft>
              <a:buClr>
                <a:schemeClr val="dk1"/>
              </a:buClr>
              <a:buSzPts val="900"/>
              <a:buChar char="●"/>
            </a:pPr>
            <a:r>
              <a:rPr b="1" lang="en" sz="900">
                <a:solidFill>
                  <a:schemeClr val="dk1"/>
                </a:solidFill>
              </a:rPr>
              <a:t>Affiliates with Sales declined slightly overall (-0.86%)</a:t>
            </a:r>
            <a:r>
              <a:rPr lang="en" sz="900">
                <a:solidFill>
                  <a:schemeClr val="dk1"/>
                </a:solidFill>
              </a:rPr>
              <a:t>, meaning growth is concentrated in existing affiliates transacting more, not a widening base — most visible in Scott's, where Revenue/Affiliate jumped +30.3% while affiliate count grew just +1.3%.</a:t>
            </a:r>
            <a:endParaRPr sz="900">
              <a:solidFill>
                <a:schemeClr val="dk1"/>
              </a:solidFill>
            </a:endParaRPr>
          </a:p>
          <a:p>
            <a:pPr indent="-285750" lvl="0" marL="457200" rtl="0" algn="just">
              <a:lnSpc>
                <a:spcPct val="115000"/>
              </a:lnSpc>
              <a:spcBef>
                <a:spcPts val="0"/>
              </a:spcBef>
              <a:spcAft>
                <a:spcPts val="0"/>
              </a:spcAft>
              <a:buClr>
                <a:schemeClr val="dk1"/>
              </a:buClr>
              <a:buSzPts val="900"/>
              <a:buChar char="●"/>
            </a:pPr>
            <a:r>
              <a:rPr b="1" lang="en" sz="900">
                <a:solidFill>
                  <a:schemeClr val="dk1"/>
                </a:solidFill>
              </a:rPr>
              <a:t>DD's growth is concentration-driven</a:t>
            </a:r>
            <a:r>
              <a:rPr lang="en" sz="900">
                <a:solidFill>
                  <a:schemeClr val="dk1"/>
                </a:solidFill>
              </a:rPr>
              <a:t> (same ~1,114 affiliates, way more revenue each), </a:t>
            </a:r>
            <a:r>
              <a:rPr b="1" lang="en" sz="900">
                <a:solidFill>
                  <a:schemeClr val="dk1"/>
                </a:solidFill>
              </a:rPr>
              <a:t>while Payday's growth is participation-driven </a:t>
            </a:r>
            <a:r>
              <a:rPr lang="en" sz="900">
                <a:solidFill>
                  <a:schemeClr val="dk1"/>
                </a:solidFill>
              </a:rPr>
              <a:t>(+75 more affiliates with sales) — genuinely different patterns worth tracking separately.</a:t>
            </a:r>
            <a:endParaRPr sz="900">
              <a:solidFill>
                <a:schemeClr val="dk1"/>
              </a:solidFill>
            </a:endParaRPr>
          </a:p>
        </p:txBody>
      </p:sp>
      <p:graphicFrame>
        <p:nvGraphicFramePr>
          <p:cNvPr id="367" name="Google Shape;367;p48"/>
          <p:cNvGraphicFramePr/>
          <p:nvPr/>
        </p:nvGraphicFramePr>
        <p:xfrm>
          <a:off x="4596100" y="1112450"/>
          <a:ext cx="3000000" cy="3000000"/>
        </p:xfrm>
        <a:graphic>
          <a:graphicData uri="http://schemas.openxmlformats.org/drawingml/2006/table">
            <a:tbl>
              <a:tblPr>
                <a:noFill/>
                <a:tableStyleId>{05CF1300-53F3-430B-9C35-424554A46B0A}</a:tableStyleId>
              </a:tblPr>
              <a:tblGrid>
                <a:gridCol w="651475"/>
                <a:gridCol w="678350"/>
                <a:gridCol w="602300"/>
                <a:gridCol w="528975"/>
                <a:gridCol w="548275"/>
                <a:gridCol w="644075"/>
                <a:gridCol w="622850"/>
              </a:tblGrid>
              <a:tr h="342900">
                <a:tc>
                  <a:txBody>
                    <a:bodyPr/>
                    <a:lstStyle/>
                    <a:p>
                      <a:pPr indent="0" lvl="0" marL="0" rtl="0" algn="ctr">
                        <a:lnSpc>
                          <a:spcPct val="115000"/>
                        </a:lnSpc>
                        <a:spcBef>
                          <a:spcPts val="0"/>
                        </a:spcBef>
                        <a:spcAft>
                          <a:spcPts val="0"/>
                        </a:spcAft>
                        <a:buNone/>
                      </a:pPr>
                      <a:r>
                        <a:rPr b="1" lang="en" sz="700">
                          <a:solidFill>
                            <a:srgbClr val="FFFFFF"/>
                          </a:solidFill>
                        </a:rPr>
                        <a:t>Month</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Affiliate</a:t>
                      </a:r>
                      <a:endParaRPr b="1" sz="700">
                        <a:solidFill>
                          <a:srgbClr val="FFFFFF"/>
                        </a:solidFill>
                      </a:endParaRPr>
                    </a:p>
                    <a:p>
                      <a:pPr indent="0" lvl="0" marL="0" rtl="0" algn="ctr">
                        <a:lnSpc>
                          <a:spcPct val="115000"/>
                        </a:lnSpc>
                        <a:spcBef>
                          <a:spcPts val="0"/>
                        </a:spcBef>
                        <a:spcAft>
                          <a:spcPts val="0"/>
                        </a:spcAft>
                        <a:buNone/>
                      </a:pPr>
                      <a:r>
                        <a:rPr b="1" lang="en" sz="700">
                          <a:solidFill>
                            <a:srgbClr val="FFFFFF"/>
                          </a:solidFill>
                        </a:rPr>
                        <a:t>NMV</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Commission</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ROI</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Cost Ratio</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Affiliates with Sales</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Cont. to Store</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r>
              <a:tr h="200025">
                <a:tc>
                  <a:txBody>
                    <a:bodyPr/>
                    <a:lstStyle/>
                    <a:p>
                      <a:pPr indent="0" lvl="0" marL="0" rtl="0" algn="ctr">
                        <a:lnSpc>
                          <a:spcPct val="115000"/>
                        </a:lnSpc>
                        <a:spcBef>
                          <a:spcPts val="0"/>
                        </a:spcBef>
                        <a:spcAft>
                          <a:spcPts val="0"/>
                        </a:spcAft>
                        <a:buNone/>
                      </a:pPr>
                      <a:r>
                        <a:rPr lang="en" sz="700"/>
                        <a:t>July 2026</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2,287,779,020</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207,257,691</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11.04</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9.06%</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4,992</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39.00%</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lang="en" sz="700"/>
                        <a:t>August 2026</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2,535,803,556</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234,477,347</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10.81</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9.25%</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4,949</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42.00%</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700"/>
                        <a:t>Growth</a:t>
                      </a:r>
                      <a:endParaRPr b="1"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10.84%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13.13%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FF0000"/>
                          </a:solidFill>
                        </a:rPr>
                        <a:t>-2.03% ▼</a:t>
                      </a:r>
                      <a:endParaRPr b="1" sz="700">
                        <a:solidFill>
                          <a:srgbClr val="FF0000"/>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2.07%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FF0000"/>
                          </a:solidFill>
                        </a:rPr>
                        <a:t>-0.86% ▼</a:t>
                      </a:r>
                      <a:endParaRPr b="1" sz="700">
                        <a:solidFill>
                          <a:srgbClr val="FF0000"/>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7.69%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sp>
        <p:nvSpPr>
          <p:cNvPr id="368" name="Google Shape;368;p48"/>
          <p:cNvSpPr/>
          <p:nvPr/>
        </p:nvSpPr>
        <p:spPr>
          <a:xfrm>
            <a:off x="5254855" y="1117288"/>
            <a:ext cx="666300" cy="93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48"/>
          <p:cNvSpPr/>
          <p:nvPr/>
        </p:nvSpPr>
        <p:spPr>
          <a:xfrm>
            <a:off x="8243375" y="1117300"/>
            <a:ext cx="629100" cy="93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370" name="Google Shape;370;p48"/>
          <p:cNvGraphicFramePr/>
          <p:nvPr/>
        </p:nvGraphicFramePr>
        <p:xfrm>
          <a:off x="4596125" y="2130425"/>
          <a:ext cx="3000000" cy="3000000"/>
        </p:xfrm>
        <a:graphic>
          <a:graphicData uri="http://schemas.openxmlformats.org/drawingml/2006/table">
            <a:tbl>
              <a:tblPr>
                <a:noFill/>
                <a:tableStyleId>{05CF1300-53F3-430B-9C35-424554A46B0A}</a:tableStyleId>
              </a:tblPr>
              <a:tblGrid>
                <a:gridCol w="654775"/>
                <a:gridCol w="662975"/>
                <a:gridCol w="624200"/>
                <a:gridCol w="531650"/>
                <a:gridCol w="621200"/>
                <a:gridCol w="558625"/>
                <a:gridCol w="644600"/>
              </a:tblGrid>
              <a:tr h="327400">
                <a:tc>
                  <a:txBody>
                    <a:bodyPr/>
                    <a:lstStyle/>
                    <a:p>
                      <a:pPr indent="0" lvl="0" marL="0" rtl="0" algn="ctr">
                        <a:lnSpc>
                          <a:spcPct val="115000"/>
                        </a:lnSpc>
                        <a:spcBef>
                          <a:spcPts val="0"/>
                        </a:spcBef>
                        <a:spcAft>
                          <a:spcPts val="0"/>
                        </a:spcAft>
                        <a:buNone/>
                      </a:pPr>
                      <a:r>
                        <a:rPr b="1" lang="en" sz="700">
                          <a:solidFill>
                            <a:srgbClr val="FFFFFF"/>
                          </a:solidFill>
                        </a:rPr>
                        <a:t>Month</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DD </a:t>
                      </a:r>
                      <a:r>
                        <a:rPr b="1" lang="en" sz="700">
                          <a:solidFill>
                            <a:srgbClr val="FFFFFF"/>
                          </a:solidFill>
                        </a:rPr>
                        <a:t>NMV</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DD </a:t>
                      </a:r>
                      <a:r>
                        <a:rPr b="1" lang="en" sz="700">
                          <a:solidFill>
                            <a:srgbClr val="FFFFFF"/>
                          </a:solidFill>
                        </a:rPr>
                        <a:t>Affiliate with Sales</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Cont. to Store</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PayDay</a:t>
                      </a:r>
                      <a:endParaRPr b="1" sz="700">
                        <a:solidFill>
                          <a:srgbClr val="FFFFFF"/>
                        </a:solidFill>
                      </a:endParaRPr>
                    </a:p>
                    <a:p>
                      <a:pPr indent="0" lvl="0" marL="0" rtl="0" algn="ctr">
                        <a:lnSpc>
                          <a:spcPct val="115000"/>
                        </a:lnSpc>
                        <a:spcBef>
                          <a:spcPts val="0"/>
                        </a:spcBef>
                        <a:spcAft>
                          <a:spcPts val="0"/>
                        </a:spcAft>
                        <a:buNone/>
                      </a:pPr>
                      <a:r>
                        <a:rPr b="1" lang="en" sz="700">
                          <a:solidFill>
                            <a:srgbClr val="FFFFFF"/>
                          </a:solidFill>
                        </a:rPr>
                        <a:t>NMV</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6D01"/>
                    </a:solidFill>
                  </a:tcPr>
                </a:tc>
                <a:tc>
                  <a:txBody>
                    <a:bodyPr/>
                    <a:lstStyle/>
                    <a:p>
                      <a:pPr indent="0" lvl="0" marL="0" rtl="0" algn="ctr">
                        <a:lnSpc>
                          <a:spcPct val="115000"/>
                        </a:lnSpc>
                        <a:spcBef>
                          <a:spcPts val="0"/>
                        </a:spcBef>
                        <a:spcAft>
                          <a:spcPts val="0"/>
                        </a:spcAft>
                        <a:buNone/>
                      </a:pPr>
                      <a:r>
                        <a:rPr b="1" lang="en" sz="700">
                          <a:solidFill>
                            <a:srgbClr val="FFFFFF"/>
                          </a:solidFill>
                        </a:rPr>
                        <a:t>PayDay</a:t>
                      </a:r>
                      <a:endParaRPr b="1" sz="700">
                        <a:solidFill>
                          <a:srgbClr val="FFFFFF"/>
                        </a:solidFill>
                      </a:endParaRPr>
                    </a:p>
                    <a:p>
                      <a:pPr indent="0" lvl="0" marL="0" rtl="0" algn="ctr">
                        <a:lnSpc>
                          <a:spcPct val="115000"/>
                        </a:lnSpc>
                        <a:spcBef>
                          <a:spcPts val="0"/>
                        </a:spcBef>
                        <a:spcAft>
                          <a:spcPts val="0"/>
                        </a:spcAft>
                        <a:buNone/>
                      </a:pPr>
                      <a:r>
                        <a:rPr b="1" lang="en" sz="700">
                          <a:solidFill>
                            <a:srgbClr val="FFFFFF"/>
                          </a:solidFill>
                        </a:rPr>
                        <a:t>Affiliate with Sales</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6D01"/>
                    </a:solidFill>
                  </a:tcPr>
                </a:tc>
                <a:tc>
                  <a:txBody>
                    <a:bodyPr/>
                    <a:lstStyle/>
                    <a:p>
                      <a:pPr indent="0" lvl="0" marL="0" rtl="0" algn="ctr">
                        <a:lnSpc>
                          <a:spcPct val="115000"/>
                        </a:lnSpc>
                        <a:spcBef>
                          <a:spcPts val="0"/>
                        </a:spcBef>
                        <a:spcAft>
                          <a:spcPts val="0"/>
                        </a:spcAft>
                        <a:buNone/>
                      </a:pPr>
                      <a:r>
                        <a:rPr b="1" lang="en" sz="700">
                          <a:solidFill>
                            <a:srgbClr val="FFFFFF"/>
                          </a:solidFill>
                        </a:rPr>
                        <a:t>Cont. to Store</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FF6D01"/>
                    </a:solidFill>
                  </a:tcPr>
                </a:tc>
              </a:tr>
              <a:tr h="134800">
                <a:tc>
                  <a:txBody>
                    <a:bodyPr/>
                    <a:lstStyle/>
                    <a:p>
                      <a:pPr indent="0" lvl="0" marL="0" rtl="0" algn="ctr">
                        <a:lnSpc>
                          <a:spcPct val="115000"/>
                        </a:lnSpc>
                        <a:spcBef>
                          <a:spcPts val="0"/>
                        </a:spcBef>
                        <a:spcAft>
                          <a:spcPts val="0"/>
                        </a:spcAft>
                        <a:buNone/>
                      </a:pPr>
                      <a:r>
                        <a:rPr lang="en" sz="700"/>
                        <a:t>July 2026</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317,430,894</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1,113</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30.00%</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192,449,903</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596</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35.00%</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34800">
                <a:tc>
                  <a:txBody>
                    <a:bodyPr/>
                    <a:lstStyle/>
                    <a:p>
                      <a:pPr indent="0" lvl="0" marL="0" rtl="0" algn="ctr">
                        <a:lnSpc>
                          <a:spcPct val="115000"/>
                        </a:lnSpc>
                        <a:spcBef>
                          <a:spcPts val="0"/>
                        </a:spcBef>
                        <a:spcAft>
                          <a:spcPts val="0"/>
                        </a:spcAft>
                        <a:buNone/>
                      </a:pPr>
                      <a:r>
                        <a:rPr lang="en" sz="700"/>
                        <a:t>August 2026</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363,247,772</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1,114</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38.00%</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224,315,683</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671</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39.00%</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34800">
                <a:tc>
                  <a:txBody>
                    <a:bodyPr/>
                    <a:lstStyle/>
                    <a:p>
                      <a:pPr indent="0" lvl="0" marL="0" rtl="0" algn="ctr">
                        <a:lnSpc>
                          <a:spcPct val="115000"/>
                        </a:lnSpc>
                        <a:spcBef>
                          <a:spcPts val="0"/>
                        </a:spcBef>
                        <a:spcAft>
                          <a:spcPts val="0"/>
                        </a:spcAft>
                        <a:buNone/>
                      </a:pPr>
                      <a:r>
                        <a:rPr b="1" lang="en" sz="700"/>
                        <a:t>Growth</a:t>
                      </a:r>
                      <a:endParaRPr b="1"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14.43%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0.09%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26.67%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16.56%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12.58%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11.43%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pic>
        <p:nvPicPr>
          <p:cNvPr id="371" name="Google Shape;371;p48"/>
          <p:cNvPicPr preferRelativeResize="0"/>
          <p:nvPr/>
        </p:nvPicPr>
        <p:blipFill rotWithShape="1">
          <a:blip r:embed="rId4">
            <a:alphaModFix/>
          </a:blip>
          <a:srcRect b="5664" l="2148" r="3218" t="12011"/>
          <a:stretch/>
        </p:blipFill>
        <p:spPr>
          <a:xfrm>
            <a:off x="343550" y="1113238"/>
            <a:ext cx="3965479" cy="2209875"/>
          </a:xfrm>
          <a:prstGeom prst="rect">
            <a:avLst/>
          </a:prstGeom>
          <a:noFill/>
          <a:ln cap="flat" cmpd="sng" w="19050">
            <a:solidFill>
              <a:schemeClr val="lt2"/>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9"/>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pic>
        <p:nvPicPr>
          <p:cNvPr id="377" name="Google Shape;377;p49"/>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sp>
        <p:nvSpPr>
          <p:cNvPr id="378" name="Google Shape;378;p49"/>
          <p:cNvSpPr txBox="1"/>
          <p:nvPr>
            <p:ph type="ctrTitle"/>
          </p:nvPr>
        </p:nvSpPr>
        <p:spPr>
          <a:xfrm>
            <a:off x="174550" y="131975"/>
            <a:ext cx="8655600" cy="837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Monthly Review August 2026</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Shopee Affiliates Performance </a:t>
            </a:r>
            <a:r>
              <a:rPr i="1" lang="en">
                <a:solidFill>
                  <a:srgbClr val="3880C1"/>
                </a:solidFill>
                <a:latin typeface="Inter"/>
                <a:ea typeface="Inter"/>
                <a:cs typeface="Inter"/>
                <a:sym typeface="Inter"/>
              </a:rPr>
              <a:t>(Lower Funnel)</a:t>
            </a:r>
            <a:endParaRPr i="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93785"/>
              <a:buFont typeface="Calibri"/>
              <a:buNone/>
            </a:pPr>
            <a:r>
              <a:rPr i="1" lang="en" sz="1089">
                <a:solidFill>
                  <a:srgbClr val="3880C1"/>
                </a:solidFill>
                <a:latin typeface="Inter"/>
                <a:ea typeface="Inter"/>
                <a:cs typeface="Inter"/>
                <a:sym typeface="Inter"/>
              </a:rPr>
              <a:t>Live is the standout funnel (+39.55% MoM), driven specifically by Scott's — which now holds 11 of 29 Top-tier affiliates, confirming its Live-content push is the story behind this month's lower-funnel gains.</a:t>
            </a:r>
            <a:endParaRPr i="1" sz="1089">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93785"/>
              <a:buFont typeface="Calibri"/>
              <a:buNone/>
            </a:pPr>
            <a:r>
              <a:t/>
            </a:r>
            <a:endParaRPr i="1" sz="1089">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t/>
            </a:r>
            <a:endParaRPr i="1" sz="1200">
              <a:solidFill>
                <a:srgbClr val="3880C1"/>
              </a:solidFill>
              <a:latin typeface="Inter"/>
              <a:ea typeface="Inter"/>
              <a:cs typeface="Inter"/>
              <a:sym typeface="Inter"/>
            </a:endParaRPr>
          </a:p>
        </p:txBody>
      </p:sp>
      <p:sp>
        <p:nvSpPr>
          <p:cNvPr id="379" name="Google Shape;379;p49"/>
          <p:cNvSpPr/>
          <p:nvPr/>
        </p:nvSpPr>
        <p:spPr>
          <a:xfrm>
            <a:off x="4159725" y="3150918"/>
            <a:ext cx="4716600" cy="2286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Inter"/>
                <a:ea typeface="Inter"/>
                <a:cs typeface="Inter"/>
                <a:sym typeface="Inter"/>
              </a:rPr>
              <a:t>Key Highlights</a:t>
            </a:r>
            <a:endParaRPr b="1" i="0" sz="1100" u="none" cap="none" strike="noStrike">
              <a:solidFill>
                <a:srgbClr val="FFFFFF"/>
              </a:solidFill>
              <a:latin typeface="Inter"/>
              <a:ea typeface="Inter"/>
              <a:cs typeface="Inter"/>
              <a:sym typeface="Inter"/>
            </a:endParaRPr>
          </a:p>
        </p:txBody>
      </p:sp>
      <p:sp>
        <p:nvSpPr>
          <p:cNvPr id="380" name="Google Shape;380;p49"/>
          <p:cNvSpPr txBox="1"/>
          <p:nvPr/>
        </p:nvSpPr>
        <p:spPr>
          <a:xfrm>
            <a:off x="3924725" y="3367373"/>
            <a:ext cx="4961100" cy="1638900"/>
          </a:xfrm>
          <a:prstGeom prst="rect">
            <a:avLst/>
          </a:prstGeom>
          <a:solidFill>
            <a:schemeClr val="lt1"/>
          </a:solidFill>
          <a:ln>
            <a:noFill/>
          </a:ln>
        </p:spPr>
        <p:txBody>
          <a:bodyPr anchorCtr="0" anchor="t" bIns="91425" lIns="91425" spcFirstLastPara="1" rIns="91425" wrap="square" tIns="91425">
            <a:noAutofit/>
          </a:bodyPr>
          <a:lstStyle/>
          <a:p>
            <a:pPr indent="-279400" lvl="0" marL="457200" rtl="0" algn="just">
              <a:lnSpc>
                <a:spcPct val="115000"/>
              </a:lnSpc>
              <a:spcBef>
                <a:spcPts val="0"/>
              </a:spcBef>
              <a:spcAft>
                <a:spcPts val="0"/>
              </a:spcAft>
              <a:buClr>
                <a:schemeClr val="dk1"/>
              </a:buClr>
              <a:buSzPts val="800"/>
              <a:buChar char="●"/>
            </a:pPr>
            <a:r>
              <a:rPr b="1" lang="en" sz="800">
                <a:solidFill>
                  <a:schemeClr val="dk1"/>
                </a:solidFill>
              </a:rPr>
              <a:t>Targeted Affiliates revenue +17.53% with fewer affiliates (-2.5%) </a:t>
            </a:r>
            <a:r>
              <a:rPr lang="en" sz="800">
                <a:solidFill>
                  <a:schemeClr val="dk1"/>
                </a:solidFill>
              </a:rPr>
              <a:t>— same tonixzx effect, likely sitting in the Targeted tier.</a:t>
            </a:r>
            <a:endParaRPr sz="800">
              <a:solidFill>
                <a:schemeClr val="dk1"/>
              </a:solidFill>
            </a:endParaRPr>
          </a:p>
          <a:p>
            <a:pPr indent="-279400" lvl="0" marL="457200" rtl="0" algn="just">
              <a:lnSpc>
                <a:spcPct val="115000"/>
              </a:lnSpc>
              <a:spcBef>
                <a:spcPts val="0"/>
              </a:spcBef>
              <a:spcAft>
                <a:spcPts val="0"/>
              </a:spcAft>
              <a:buClr>
                <a:schemeClr val="dk1"/>
              </a:buClr>
              <a:buSzPts val="800"/>
              <a:buChar char="●"/>
            </a:pPr>
            <a:r>
              <a:rPr b="1" lang="en" sz="800">
                <a:solidFill>
                  <a:schemeClr val="dk1"/>
                </a:solidFill>
              </a:rPr>
              <a:t>Live Revenue +39.55%, but Affiliates with Sales fell -9.03%.</a:t>
            </a:r>
            <a:r>
              <a:rPr lang="en" sz="800">
                <a:solidFill>
                  <a:schemeClr val="dk1"/>
                </a:solidFill>
              </a:rPr>
              <a:t> Two things happened simultaneously: kazemyattharaa (Rp63.8M in July, the #4 creator that month) churn  entirely from August's top creator list, while tonixzx more than made up for that loss and then some. Net effect: fewer Live affiliates overall, but dramatically higher output from the ones still there.</a:t>
            </a:r>
            <a:endParaRPr sz="800">
              <a:solidFill>
                <a:schemeClr val="dk1"/>
              </a:solidFill>
            </a:endParaRPr>
          </a:p>
          <a:p>
            <a:pPr indent="-279400" lvl="0" marL="457200" rtl="0" algn="just">
              <a:lnSpc>
                <a:spcPct val="115000"/>
              </a:lnSpc>
              <a:spcBef>
                <a:spcPts val="0"/>
              </a:spcBef>
              <a:spcAft>
                <a:spcPts val="0"/>
              </a:spcAft>
              <a:buClr>
                <a:schemeClr val="dk1"/>
              </a:buClr>
              <a:buSzPts val="800"/>
              <a:buChar char="●"/>
            </a:pPr>
            <a:r>
              <a:rPr b="1" lang="en" sz="800">
                <a:solidFill>
                  <a:schemeClr val="dk1"/>
                </a:solidFill>
              </a:rPr>
              <a:t>Live Sessions grew +18.56% (749→888)</a:t>
            </a:r>
            <a:r>
              <a:rPr lang="en" sz="800">
                <a:solidFill>
                  <a:schemeClr val="dk1"/>
                </a:solidFill>
              </a:rPr>
              <a:t> — genuine increased activity, not just one creator's efficiency; some of this is likely tonixzx going live more often, but the session count growing faster than the affiliate count staying flat/declining suggests existing Live creators broadly did more sessions this month.</a:t>
            </a:r>
            <a:endParaRPr sz="800">
              <a:solidFill>
                <a:schemeClr val="dk1"/>
              </a:solidFill>
            </a:endParaRPr>
          </a:p>
        </p:txBody>
      </p:sp>
      <p:graphicFrame>
        <p:nvGraphicFramePr>
          <p:cNvPr id="381" name="Google Shape;381;p49"/>
          <p:cNvGraphicFramePr/>
          <p:nvPr/>
        </p:nvGraphicFramePr>
        <p:xfrm>
          <a:off x="4254200" y="1130263"/>
          <a:ext cx="3000000" cy="3000000"/>
        </p:xfrm>
        <a:graphic>
          <a:graphicData uri="http://schemas.openxmlformats.org/drawingml/2006/table">
            <a:tbl>
              <a:tblPr>
                <a:noFill/>
                <a:tableStyleId>{05CF1300-53F3-430B-9C35-424554A46B0A}</a:tableStyleId>
              </a:tblPr>
              <a:tblGrid>
                <a:gridCol w="697125"/>
                <a:gridCol w="625625"/>
                <a:gridCol w="744775"/>
                <a:gridCol w="566025"/>
                <a:gridCol w="661375"/>
                <a:gridCol w="667325"/>
                <a:gridCol w="613700"/>
              </a:tblGrid>
              <a:tr h="401225">
                <a:tc>
                  <a:txBody>
                    <a:bodyPr/>
                    <a:lstStyle/>
                    <a:p>
                      <a:pPr indent="0" lvl="0" marL="0" rtl="0" algn="ctr">
                        <a:lnSpc>
                          <a:spcPct val="115000"/>
                        </a:lnSpc>
                        <a:spcBef>
                          <a:spcPts val="0"/>
                        </a:spcBef>
                        <a:spcAft>
                          <a:spcPts val="0"/>
                        </a:spcAft>
                        <a:buNone/>
                      </a:pPr>
                      <a:r>
                        <a:rPr b="1" lang="en" sz="600">
                          <a:solidFill>
                            <a:srgbClr val="FFFFFF"/>
                          </a:solidFill>
                        </a:rPr>
                        <a:t>Month</a:t>
                      </a:r>
                      <a:endParaRPr b="1" sz="6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600">
                          <a:solidFill>
                            <a:srgbClr val="FFFFFF"/>
                          </a:solidFill>
                        </a:rPr>
                        <a:t>Open</a:t>
                      </a:r>
                      <a:endParaRPr b="1" sz="600">
                        <a:solidFill>
                          <a:srgbClr val="FFFFFF"/>
                        </a:solidFill>
                      </a:endParaRPr>
                    </a:p>
                    <a:p>
                      <a:pPr indent="0" lvl="0" marL="0" rtl="0" algn="ctr">
                        <a:lnSpc>
                          <a:spcPct val="115000"/>
                        </a:lnSpc>
                        <a:spcBef>
                          <a:spcPts val="0"/>
                        </a:spcBef>
                        <a:spcAft>
                          <a:spcPts val="0"/>
                        </a:spcAft>
                        <a:buNone/>
                      </a:pPr>
                      <a:r>
                        <a:rPr b="1" lang="en" sz="600">
                          <a:solidFill>
                            <a:srgbClr val="FFFFFF"/>
                          </a:solidFill>
                        </a:rPr>
                        <a:t>NMV</a:t>
                      </a:r>
                      <a:endParaRPr b="1" sz="6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600">
                          <a:solidFill>
                            <a:srgbClr val="FFFFFF"/>
                          </a:solidFill>
                        </a:rPr>
                        <a:t>Open Affiliates with Sales</a:t>
                      </a:r>
                      <a:endParaRPr b="1" sz="6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600">
                          <a:solidFill>
                            <a:srgbClr val="FFFFFF"/>
                          </a:solidFill>
                        </a:rPr>
                        <a:t>Open Cont.</a:t>
                      </a:r>
                      <a:endParaRPr b="1" sz="6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600">
                          <a:solidFill>
                            <a:srgbClr val="FFFFFF"/>
                          </a:solidFill>
                        </a:rPr>
                        <a:t>Targeted NMV</a:t>
                      </a:r>
                      <a:endParaRPr b="1" sz="6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600">
                          <a:solidFill>
                            <a:srgbClr val="FFFFFF"/>
                          </a:solidFill>
                        </a:rPr>
                        <a:t>Targeted Affiliates with Sales</a:t>
                      </a:r>
                      <a:endParaRPr b="1" sz="6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600">
                          <a:solidFill>
                            <a:srgbClr val="FFFFFF"/>
                          </a:solidFill>
                        </a:rPr>
                        <a:t>Targeted Cont.</a:t>
                      </a:r>
                      <a:endParaRPr b="1" sz="6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r>
              <a:tr h="163600">
                <a:tc>
                  <a:txBody>
                    <a:bodyPr/>
                    <a:lstStyle/>
                    <a:p>
                      <a:pPr indent="0" lvl="0" marL="0" rtl="0" algn="ctr">
                        <a:lnSpc>
                          <a:spcPct val="115000"/>
                        </a:lnSpc>
                        <a:spcBef>
                          <a:spcPts val="0"/>
                        </a:spcBef>
                        <a:spcAft>
                          <a:spcPts val="0"/>
                        </a:spcAft>
                        <a:buNone/>
                      </a:pPr>
                      <a:r>
                        <a:rPr lang="en" sz="600"/>
                        <a:t>July 2026</a:t>
                      </a:r>
                      <a:endParaRPr sz="6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1,592,664,159</a:t>
                      </a:r>
                      <a:endParaRPr sz="6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4,908</a:t>
                      </a:r>
                      <a:endParaRPr sz="6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69.62%</a:t>
                      </a:r>
                      <a:endParaRPr sz="6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695,114,861</a:t>
                      </a:r>
                      <a:endParaRPr sz="6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120</a:t>
                      </a:r>
                      <a:endParaRPr sz="6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30.38%</a:t>
                      </a:r>
                      <a:endParaRPr sz="6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63600">
                <a:tc>
                  <a:txBody>
                    <a:bodyPr/>
                    <a:lstStyle/>
                    <a:p>
                      <a:pPr indent="0" lvl="0" marL="0" rtl="0" algn="ctr">
                        <a:lnSpc>
                          <a:spcPct val="115000"/>
                        </a:lnSpc>
                        <a:spcBef>
                          <a:spcPts val="0"/>
                        </a:spcBef>
                        <a:spcAft>
                          <a:spcPts val="0"/>
                        </a:spcAft>
                        <a:buNone/>
                      </a:pPr>
                      <a:r>
                        <a:rPr lang="en" sz="600"/>
                        <a:t>August 2026</a:t>
                      </a:r>
                      <a:endParaRPr sz="6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1,718,712,584</a:t>
                      </a:r>
                      <a:endParaRPr sz="6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4,859</a:t>
                      </a:r>
                      <a:endParaRPr sz="6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67.78%</a:t>
                      </a:r>
                      <a:endParaRPr sz="6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816,989,175</a:t>
                      </a:r>
                      <a:endParaRPr sz="6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117</a:t>
                      </a:r>
                      <a:endParaRPr sz="6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600"/>
                        <a:t>32.22%</a:t>
                      </a:r>
                      <a:endParaRPr sz="6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63600">
                <a:tc>
                  <a:txBody>
                    <a:bodyPr/>
                    <a:lstStyle/>
                    <a:p>
                      <a:pPr indent="0" lvl="0" marL="0" rtl="0" algn="ctr">
                        <a:lnSpc>
                          <a:spcPct val="115000"/>
                        </a:lnSpc>
                        <a:spcBef>
                          <a:spcPts val="0"/>
                        </a:spcBef>
                        <a:spcAft>
                          <a:spcPts val="0"/>
                        </a:spcAft>
                        <a:buNone/>
                      </a:pPr>
                      <a:r>
                        <a:rPr b="1" lang="en" sz="600"/>
                        <a:t>Growth</a:t>
                      </a:r>
                      <a:endParaRPr b="1" sz="6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600">
                          <a:solidFill>
                            <a:srgbClr val="339966"/>
                          </a:solidFill>
                        </a:rPr>
                        <a:t>7.91% ▲</a:t>
                      </a:r>
                      <a:endParaRPr b="1" sz="6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600">
                          <a:solidFill>
                            <a:srgbClr val="FF0000"/>
                          </a:solidFill>
                        </a:rPr>
                        <a:t>-1.00% ▼</a:t>
                      </a:r>
                      <a:endParaRPr b="1" sz="600">
                        <a:solidFill>
                          <a:srgbClr val="FF0000"/>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600">
                          <a:solidFill>
                            <a:srgbClr val="FF0000"/>
                          </a:solidFill>
                        </a:rPr>
                        <a:t>-2.64% ▼</a:t>
                      </a:r>
                      <a:endParaRPr b="1" sz="600">
                        <a:solidFill>
                          <a:srgbClr val="FF0000"/>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600">
                          <a:solidFill>
                            <a:srgbClr val="339966"/>
                          </a:solidFill>
                        </a:rPr>
                        <a:t>17.53% ▲</a:t>
                      </a:r>
                      <a:endParaRPr b="1" sz="6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600">
                          <a:solidFill>
                            <a:srgbClr val="FF0000"/>
                          </a:solidFill>
                        </a:rPr>
                        <a:t>-2.50% ▼</a:t>
                      </a:r>
                      <a:endParaRPr b="1" sz="600">
                        <a:solidFill>
                          <a:srgbClr val="FF0000"/>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600">
                          <a:solidFill>
                            <a:srgbClr val="339966"/>
                          </a:solidFill>
                        </a:rPr>
                        <a:t>6.04% ▲</a:t>
                      </a:r>
                      <a:endParaRPr b="1" sz="6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graphicFrame>
        <p:nvGraphicFramePr>
          <p:cNvPr id="382" name="Google Shape;382;p49"/>
          <p:cNvGraphicFramePr/>
          <p:nvPr/>
        </p:nvGraphicFramePr>
        <p:xfrm>
          <a:off x="4254250" y="2128525"/>
          <a:ext cx="3000000" cy="3000000"/>
        </p:xfrm>
        <a:graphic>
          <a:graphicData uri="http://schemas.openxmlformats.org/drawingml/2006/table">
            <a:tbl>
              <a:tblPr>
                <a:noFill/>
                <a:tableStyleId>{05CF1300-53F3-430B-9C35-424554A46B0A}</a:tableStyleId>
              </a:tblPr>
              <a:tblGrid>
                <a:gridCol w="697075"/>
                <a:gridCol w="625625"/>
                <a:gridCol w="744775"/>
                <a:gridCol w="566025"/>
                <a:gridCol w="661375"/>
                <a:gridCol w="667325"/>
                <a:gridCol w="613700"/>
              </a:tblGrid>
              <a:tr h="279875">
                <a:tc>
                  <a:txBody>
                    <a:bodyPr/>
                    <a:lstStyle/>
                    <a:p>
                      <a:pPr indent="0" lvl="0" marL="0" rtl="0" algn="ctr">
                        <a:lnSpc>
                          <a:spcPct val="115000"/>
                        </a:lnSpc>
                        <a:spcBef>
                          <a:spcPts val="0"/>
                        </a:spcBef>
                        <a:spcAft>
                          <a:spcPts val="0"/>
                        </a:spcAft>
                        <a:buNone/>
                      </a:pPr>
                      <a:r>
                        <a:rPr b="1" lang="en" sz="700">
                          <a:solidFill>
                            <a:srgbClr val="FFFFFF"/>
                          </a:solidFill>
                        </a:rPr>
                        <a:t>Month</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Live</a:t>
                      </a:r>
                      <a:endParaRPr b="1" sz="700">
                        <a:solidFill>
                          <a:srgbClr val="FFFFFF"/>
                        </a:solidFill>
                      </a:endParaRPr>
                    </a:p>
                    <a:p>
                      <a:pPr indent="0" lvl="0" marL="0" rtl="0" algn="ctr">
                        <a:lnSpc>
                          <a:spcPct val="115000"/>
                        </a:lnSpc>
                        <a:spcBef>
                          <a:spcPts val="0"/>
                        </a:spcBef>
                        <a:spcAft>
                          <a:spcPts val="0"/>
                        </a:spcAft>
                        <a:buNone/>
                      </a:pPr>
                      <a:r>
                        <a:rPr b="1" lang="en" sz="700">
                          <a:solidFill>
                            <a:srgbClr val="FFFFFF"/>
                          </a:solidFill>
                        </a:rPr>
                        <a:t>NMV</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Live</a:t>
                      </a:r>
                      <a:endParaRPr b="1" sz="700">
                        <a:solidFill>
                          <a:srgbClr val="FFFFFF"/>
                        </a:solidFill>
                      </a:endParaRPr>
                    </a:p>
                    <a:p>
                      <a:pPr indent="0" lvl="0" marL="0" rtl="0" algn="ctr">
                        <a:lnSpc>
                          <a:spcPct val="115000"/>
                        </a:lnSpc>
                        <a:spcBef>
                          <a:spcPts val="0"/>
                        </a:spcBef>
                        <a:spcAft>
                          <a:spcPts val="0"/>
                        </a:spcAft>
                        <a:buNone/>
                      </a:pPr>
                      <a:r>
                        <a:rPr b="1" lang="en" sz="700">
                          <a:solidFill>
                            <a:srgbClr val="FFFFFF"/>
                          </a:solidFill>
                        </a:rPr>
                        <a:t>Affiliates with Sales</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Video</a:t>
                      </a:r>
                      <a:endParaRPr b="1" sz="700">
                        <a:solidFill>
                          <a:srgbClr val="FFFFFF"/>
                        </a:solidFill>
                      </a:endParaRPr>
                    </a:p>
                    <a:p>
                      <a:pPr indent="0" lvl="0" marL="0" rtl="0" algn="ctr">
                        <a:lnSpc>
                          <a:spcPct val="115000"/>
                        </a:lnSpc>
                        <a:spcBef>
                          <a:spcPts val="0"/>
                        </a:spcBef>
                        <a:spcAft>
                          <a:spcPts val="0"/>
                        </a:spcAft>
                        <a:buNone/>
                      </a:pPr>
                      <a:r>
                        <a:rPr b="1" lang="en" sz="700">
                          <a:solidFill>
                            <a:srgbClr val="FFFFFF"/>
                          </a:solidFill>
                        </a:rPr>
                        <a:t>NMV</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Video</a:t>
                      </a:r>
                      <a:endParaRPr b="1" sz="700">
                        <a:solidFill>
                          <a:srgbClr val="FFFFFF"/>
                        </a:solidFill>
                      </a:endParaRPr>
                    </a:p>
                    <a:p>
                      <a:pPr indent="0" lvl="0" marL="0" rtl="0" algn="ctr">
                        <a:lnSpc>
                          <a:spcPct val="115000"/>
                        </a:lnSpc>
                        <a:spcBef>
                          <a:spcPts val="0"/>
                        </a:spcBef>
                        <a:spcAft>
                          <a:spcPts val="0"/>
                        </a:spcAft>
                        <a:buNone/>
                      </a:pPr>
                      <a:r>
                        <a:rPr b="1" lang="en" sz="700">
                          <a:solidFill>
                            <a:srgbClr val="FFFFFF"/>
                          </a:solidFill>
                        </a:rPr>
                        <a:t>Affiliates with Sales</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Share Link</a:t>
                      </a:r>
                      <a:endParaRPr b="1" sz="700">
                        <a:solidFill>
                          <a:srgbClr val="FFFFFF"/>
                        </a:solidFill>
                      </a:endParaRPr>
                    </a:p>
                    <a:p>
                      <a:pPr indent="0" lvl="0" marL="0" rtl="0" algn="ctr">
                        <a:lnSpc>
                          <a:spcPct val="115000"/>
                        </a:lnSpc>
                        <a:spcBef>
                          <a:spcPts val="0"/>
                        </a:spcBef>
                        <a:spcAft>
                          <a:spcPts val="0"/>
                        </a:spcAft>
                        <a:buNone/>
                      </a:pPr>
                      <a:r>
                        <a:rPr b="1" lang="en" sz="700">
                          <a:solidFill>
                            <a:srgbClr val="FFFFFF"/>
                          </a:solidFill>
                        </a:rPr>
                        <a:t>NMV</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Share Link</a:t>
                      </a:r>
                      <a:endParaRPr b="1" sz="700">
                        <a:solidFill>
                          <a:srgbClr val="FFFFFF"/>
                        </a:solidFill>
                      </a:endParaRPr>
                    </a:p>
                    <a:p>
                      <a:pPr indent="0" lvl="0" marL="0" rtl="0" algn="ctr">
                        <a:lnSpc>
                          <a:spcPct val="115000"/>
                        </a:lnSpc>
                        <a:spcBef>
                          <a:spcPts val="0"/>
                        </a:spcBef>
                        <a:spcAft>
                          <a:spcPts val="0"/>
                        </a:spcAft>
                        <a:buNone/>
                      </a:pPr>
                      <a:r>
                        <a:rPr b="1" lang="en" sz="700">
                          <a:solidFill>
                            <a:srgbClr val="FFFFFF"/>
                          </a:solidFill>
                        </a:rPr>
                        <a:t>Affiliates with Sales</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r>
              <a:tr h="110650">
                <a:tc>
                  <a:txBody>
                    <a:bodyPr/>
                    <a:lstStyle/>
                    <a:p>
                      <a:pPr indent="0" lvl="0" marL="0" rtl="0" algn="ctr">
                        <a:lnSpc>
                          <a:spcPct val="115000"/>
                        </a:lnSpc>
                        <a:spcBef>
                          <a:spcPts val="0"/>
                        </a:spcBef>
                        <a:spcAft>
                          <a:spcPts val="0"/>
                        </a:spcAft>
                        <a:buNone/>
                      </a:pPr>
                      <a:r>
                        <a:rPr lang="en" sz="700"/>
                        <a:t>July 2026</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535,194,121</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144</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422,225,690</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502</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1,330,359,209</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4,354</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10650">
                <a:tc>
                  <a:txBody>
                    <a:bodyPr/>
                    <a:lstStyle/>
                    <a:p>
                      <a:pPr indent="0" lvl="0" marL="0" rtl="0" algn="ctr">
                        <a:lnSpc>
                          <a:spcPct val="115000"/>
                        </a:lnSpc>
                        <a:spcBef>
                          <a:spcPts val="0"/>
                        </a:spcBef>
                        <a:spcAft>
                          <a:spcPts val="0"/>
                        </a:spcAft>
                        <a:buNone/>
                      </a:pPr>
                      <a:r>
                        <a:rPr lang="en" sz="700"/>
                        <a:t>August 2026</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746,863,866</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131</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506,606,690</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519</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1,282,333,000</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4,312</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10650">
                <a:tc>
                  <a:txBody>
                    <a:bodyPr/>
                    <a:lstStyle/>
                    <a:p>
                      <a:pPr indent="0" lvl="0" marL="0" rtl="0" algn="ctr">
                        <a:lnSpc>
                          <a:spcPct val="115000"/>
                        </a:lnSpc>
                        <a:spcBef>
                          <a:spcPts val="0"/>
                        </a:spcBef>
                        <a:spcAft>
                          <a:spcPts val="0"/>
                        </a:spcAft>
                        <a:buNone/>
                      </a:pPr>
                      <a:r>
                        <a:rPr b="1" lang="en" sz="700"/>
                        <a:t>Growth</a:t>
                      </a:r>
                      <a:endParaRPr b="1"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39.55%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FF0000"/>
                          </a:solidFill>
                        </a:rPr>
                        <a:t>-9.03% ▼</a:t>
                      </a:r>
                      <a:endParaRPr b="1" sz="700">
                        <a:solidFill>
                          <a:srgbClr val="FF0000"/>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19.98%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3.39%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FF0000"/>
                          </a:solidFill>
                        </a:rPr>
                        <a:t>-3.61% ▼</a:t>
                      </a:r>
                      <a:endParaRPr b="1" sz="700">
                        <a:solidFill>
                          <a:srgbClr val="FF0000"/>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FF0000"/>
                          </a:solidFill>
                        </a:rPr>
                        <a:t>-0.96% ▼</a:t>
                      </a:r>
                      <a:endParaRPr b="1" sz="700">
                        <a:solidFill>
                          <a:srgbClr val="FF0000"/>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pic>
        <p:nvPicPr>
          <p:cNvPr id="383" name="Google Shape;383;p49"/>
          <p:cNvPicPr preferRelativeResize="0"/>
          <p:nvPr/>
        </p:nvPicPr>
        <p:blipFill>
          <a:blip r:embed="rId4">
            <a:alphaModFix/>
          </a:blip>
          <a:stretch>
            <a:fillRect/>
          </a:stretch>
        </p:blipFill>
        <p:spPr>
          <a:xfrm>
            <a:off x="174550" y="1183650"/>
            <a:ext cx="3750171" cy="1516375"/>
          </a:xfrm>
          <a:prstGeom prst="rect">
            <a:avLst/>
          </a:prstGeom>
          <a:noFill/>
          <a:ln cap="flat" cmpd="sng" w="19050">
            <a:solidFill>
              <a:schemeClr val="lt2"/>
            </a:solidFill>
            <a:prstDash val="solid"/>
            <a:round/>
            <a:headEnd len="sm" w="sm" type="none"/>
            <a:tailEnd len="sm" w="sm" type="none"/>
          </a:ln>
        </p:spPr>
      </p:pic>
      <p:pic>
        <p:nvPicPr>
          <p:cNvPr id="384" name="Google Shape;384;p49"/>
          <p:cNvPicPr preferRelativeResize="0"/>
          <p:nvPr/>
        </p:nvPicPr>
        <p:blipFill>
          <a:blip r:embed="rId5">
            <a:alphaModFix/>
          </a:blip>
          <a:stretch>
            <a:fillRect/>
          </a:stretch>
        </p:blipFill>
        <p:spPr>
          <a:xfrm>
            <a:off x="174550" y="3023875"/>
            <a:ext cx="3750175" cy="1370142"/>
          </a:xfrm>
          <a:prstGeom prst="rect">
            <a:avLst/>
          </a:prstGeom>
          <a:noFill/>
          <a:ln cap="flat" cmpd="sng" w="19050">
            <a:solidFill>
              <a:schemeClr val="lt2"/>
            </a:solidFill>
            <a:prstDash val="solid"/>
            <a:round/>
            <a:headEnd len="sm" w="sm" type="none"/>
            <a:tailEnd len="sm" w="sm" type="none"/>
          </a:ln>
        </p:spPr>
      </p:pic>
      <p:sp>
        <p:nvSpPr>
          <p:cNvPr id="385" name="Google Shape;385;p49"/>
          <p:cNvSpPr/>
          <p:nvPr/>
        </p:nvSpPr>
        <p:spPr>
          <a:xfrm>
            <a:off x="4951325" y="2109550"/>
            <a:ext cx="625500" cy="933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49"/>
          <p:cNvSpPr/>
          <p:nvPr/>
        </p:nvSpPr>
        <p:spPr>
          <a:xfrm>
            <a:off x="6882825" y="1130275"/>
            <a:ext cx="666300" cy="895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49"/>
          <p:cNvSpPr/>
          <p:nvPr/>
        </p:nvSpPr>
        <p:spPr>
          <a:xfrm>
            <a:off x="1212725" y="1662550"/>
            <a:ext cx="386700" cy="1011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49"/>
          <p:cNvSpPr/>
          <p:nvPr/>
        </p:nvSpPr>
        <p:spPr>
          <a:xfrm>
            <a:off x="3056600" y="1490775"/>
            <a:ext cx="386700" cy="1183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49"/>
          <p:cNvSpPr/>
          <p:nvPr/>
        </p:nvSpPr>
        <p:spPr>
          <a:xfrm>
            <a:off x="432600" y="3922150"/>
            <a:ext cx="1018800" cy="448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49"/>
          <p:cNvSpPr/>
          <p:nvPr/>
        </p:nvSpPr>
        <p:spPr>
          <a:xfrm>
            <a:off x="2266625" y="3245200"/>
            <a:ext cx="516300" cy="1125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0"/>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pic>
        <p:nvPicPr>
          <p:cNvPr id="396" name="Google Shape;396;p50"/>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sp>
        <p:nvSpPr>
          <p:cNvPr id="397" name="Google Shape;397;p50"/>
          <p:cNvSpPr txBox="1"/>
          <p:nvPr>
            <p:ph type="ctrTitle"/>
          </p:nvPr>
        </p:nvSpPr>
        <p:spPr>
          <a:xfrm>
            <a:off x="174550" y="131975"/>
            <a:ext cx="8655600" cy="837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Monthly Review August 2026</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Shopee Affiliates Performance </a:t>
            </a:r>
            <a:r>
              <a:rPr i="1" lang="en">
                <a:solidFill>
                  <a:srgbClr val="3880C1"/>
                </a:solidFill>
                <a:latin typeface="Inter"/>
                <a:ea typeface="Inter"/>
                <a:cs typeface="Inter"/>
                <a:sym typeface="Inter"/>
              </a:rPr>
              <a:t>(Lower Funnel)</a:t>
            </a:r>
            <a:endParaRPr i="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93785"/>
              <a:buFont typeface="Calibri"/>
              <a:buNone/>
            </a:pPr>
            <a:r>
              <a:rPr i="1" lang="en" sz="1089">
                <a:solidFill>
                  <a:srgbClr val="3880C1"/>
                </a:solidFill>
                <a:latin typeface="Inter"/>
                <a:ea typeface="Inter"/>
                <a:cs typeface="Inter"/>
                <a:sym typeface="Inter"/>
              </a:rPr>
              <a:t>Scott's grew on pure volume, Sensodyne grew despite selling fewer items (a pricing effect), and Polident's decline is actually a basket-size problem, not a demand problem.</a:t>
            </a:r>
            <a:endParaRPr i="1" sz="1089">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93785"/>
              <a:buFont typeface="Calibri"/>
              <a:buNone/>
            </a:pPr>
            <a:r>
              <a:t/>
            </a:r>
            <a:endParaRPr i="1" sz="1089">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t/>
            </a:r>
            <a:endParaRPr i="1" sz="1200">
              <a:solidFill>
                <a:srgbClr val="3880C1"/>
              </a:solidFill>
              <a:latin typeface="Inter"/>
              <a:ea typeface="Inter"/>
              <a:cs typeface="Inter"/>
              <a:sym typeface="Inter"/>
            </a:endParaRPr>
          </a:p>
        </p:txBody>
      </p:sp>
      <p:sp>
        <p:nvSpPr>
          <p:cNvPr id="398" name="Google Shape;398;p50"/>
          <p:cNvSpPr/>
          <p:nvPr/>
        </p:nvSpPr>
        <p:spPr>
          <a:xfrm>
            <a:off x="4159725" y="3148900"/>
            <a:ext cx="4716600" cy="2286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Inter"/>
                <a:ea typeface="Inter"/>
                <a:cs typeface="Inter"/>
                <a:sym typeface="Inter"/>
              </a:rPr>
              <a:t>Key Highlights</a:t>
            </a:r>
            <a:endParaRPr b="1" i="0" sz="1100" u="none" cap="none" strike="noStrike">
              <a:solidFill>
                <a:srgbClr val="FFFFFF"/>
              </a:solidFill>
              <a:latin typeface="Inter"/>
              <a:ea typeface="Inter"/>
              <a:cs typeface="Inter"/>
              <a:sym typeface="Inter"/>
            </a:endParaRPr>
          </a:p>
        </p:txBody>
      </p:sp>
      <p:sp>
        <p:nvSpPr>
          <p:cNvPr id="399" name="Google Shape;399;p50"/>
          <p:cNvSpPr txBox="1"/>
          <p:nvPr/>
        </p:nvSpPr>
        <p:spPr>
          <a:xfrm>
            <a:off x="4159725" y="3383525"/>
            <a:ext cx="4716600" cy="1595100"/>
          </a:xfrm>
          <a:prstGeom prst="rect">
            <a:avLst/>
          </a:prstGeom>
          <a:solidFill>
            <a:schemeClr val="lt1"/>
          </a:solidFill>
          <a:ln>
            <a:noFill/>
          </a:ln>
        </p:spPr>
        <p:txBody>
          <a:bodyPr anchorCtr="0" anchor="t" bIns="91425" lIns="91425" spcFirstLastPara="1" rIns="91425" wrap="square" tIns="91425">
            <a:noAutofit/>
          </a:bodyPr>
          <a:lstStyle/>
          <a:p>
            <a:pPr indent="-285750" lvl="0" marL="457200" rtl="0" algn="just">
              <a:lnSpc>
                <a:spcPct val="115000"/>
              </a:lnSpc>
              <a:spcBef>
                <a:spcPts val="1200"/>
              </a:spcBef>
              <a:spcAft>
                <a:spcPts val="0"/>
              </a:spcAft>
              <a:buClr>
                <a:schemeClr val="dk1"/>
              </a:buClr>
              <a:buSzPts val="900"/>
              <a:buChar char="●"/>
            </a:pPr>
            <a:r>
              <a:rPr b="1" lang="en" sz="900">
                <a:solidFill>
                  <a:schemeClr val="dk1"/>
                </a:solidFill>
              </a:rPr>
              <a:t>Scott's (+31.93%) is a pure volume story </a:t>
            </a:r>
            <a:r>
              <a:rPr lang="en" sz="900">
                <a:solidFill>
                  <a:schemeClr val="dk1"/>
                </a:solidFill>
              </a:rPr>
              <a:t>— Item Sold and Order both grew ~32%, ASP stayed flat — consistent with tonixzx driving more transactions, not a pricing shift</a:t>
            </a:r>
            <a:endParaRPr sz="900">
              <a:solidFill>
                <a:schemeClr val="dk1"/>
              </a:solidFill>
            </a:endParaRPr>
          </a:p>
          <a:p>
            <a:pPr indent="-285750" lvl="0" marL="457200" rtl="0" algn="just">
              <a:lnSpc>
                <a:spcPct val="115000"/>
              </a:lnSpc>
              <a:spcBef>
                <a:spcPts val="0"/>
              </a:spcBef>
              <a:spcAft>
                <a:spcPts val="0"/>
              </a:spcAft>
              <a:buClr>
                <a:schemeClr val="dk1"/>
              </a:buClr>
              <a:buSzPts val="900"/>
              <a:buChar char="●"/>
            </a:pPr>
            <a:r>
              <a:rPr b="1" lang="en" sz="900">
                <a:solidFill>
                  <a:schemeClr val="dk1"/>
                </a:solidFill>
              </a:rPr>
              <a:t>Sensodyne (+4.93%) grew despite Item Sold falling -4.49%</a:t>
            </a:r>
            <a:r>
              <a:rPr lang="en" sz="900">
                <a:solidFill>
                  <a:schemeClr val="dk1"/>
                </a:solidFill>
              </a:rPr>
              <a:t> — ASP rose +9.85%, a mix/pricing effect, not a demand increase</a:t>
            </a:r>
            <a:endParaRPr sz="900">
              <a:solidFill>
                <a:schemeClr val="dk1"/>
              </a:solidFill>
            </a:endParaRPr>
          </a:p>
          <a:p>
            <a:pPr indent="-285750" lvl="0" marL="457200" rtl="0" algn="just">
              <a:lnSpc>
                <a:spcPct val="115000"/>
              </a:lnSpc>
              <a:spcBef>
                <a:spcPts val="0"/>
              </a:spcBef>
              <a:spcAft>
                <a:spcPts val="0"/>
              </a:spcAft>
              <a:buClr>
                <a:schemeClr val="dk1"/>
              </a:buClr>
              <a:buSzPts val="900"/>
              <a:buChar char="●"/>
            </a:pPr>
            <a:r>
              <a:rPr b="1" lang="en" sz="900">
                <a:solidFill>
                  <a:schemeClr val="dk1"/>
                </a:solidFill>
              </a:rPr>
              <a:t>Polident (-4.78%) is a basket-size problem, not a traffic problem </a:t>
            </a:r>
            <a:r>
              <a:rPr lang="en" sz="900">
                <a:solidFill>
                  <a:schemeClr val="dk1"/>
                </a:solidFill>
              </a:rPr>
              <a:t>— Order actually grew +3.39%, but ASP (-4.87%) and ABS (-7.90%) both fell, meaning each transaction is worth less</a:t>
            </a:r>
            <a:endParaRPr sz="900">
              <a:solidFill>
                <a:schemeClr val="dk1"/>
              </a:solidFill>
            </a:endParaRPr>
          </a:p>
          <a:p>
            <a:pPr indent="-285750" lvl="0" marL="457200" rtl="0" algn="just">
              <a:lnSpc>
                <a:spcPct val="115000"/>
              </a:lnSpc>
              <a:spcBef>
                <a:spcPts val="0"/>
              </a:spcBef>
              <a:spcAft>
                <a:spcPts val="0"/>
              </a:spcAft>
              <a:buClr>
                <a:schemeClr val="dk1"/>
              </a:buClr>
              <a:buSzPts val="900"/>
              <a:buChar char="●"/>
            </a:pPr>
            <a:r>
              <a:rPr b="1" lang="en" sz="900">
                <a:solidFill>
                  <a:schemeClr val="dk1"/>
                </a:solidFill>
              </a:rPr>
              <a:t>Centrum's launch was efficient </a:t>
            </a:r>
            <a:r>
              <a:rPr lang="en" sz="900">
                <a:solidFill>
                  <a:schemeClr val="dk1"/>
                </a:solidFill>
              </a:rPr>
              <a:t>— Rp6.7M NMV, 16.9x ROI from just 39 affiliates.</a:t>
            </a:r>
            <a:endParaRPr sz="900">
              <a:solidFill>
                <a:schemeClr val="dk1"/>
              </a:solidFill>
            </a:endParaRPr>
          </a:p>
        </p:txBody>
      </p:sp>
      <p:graphicFrame>
        <p:nvGraphicFramePr>
          <p:cNvPr id="400" name="Google Shape;400;p50"/>
          <p:cNvGraphicFramePr/>
          <p:nvPr/>
        </p:nvGraphicFramePr>
        <p:xfrm>
          <a:off x="4048875" y="1099250"/>
          <a:ext cx="3000000" cy="3000000"/>
        </p:xfrm>
        <a:graphic>
          <a:graphicData uri="http://schemas.openxmlformats.org/drawingml/2006/table">
            <a:tbl>
              <a:tblPr>
                <a:noFill/>
                <a:tableStyleId>{05CF1300-53F3-430B-9C35-424554A46B0A}</a:tableStyleId>
              </a:tblPr>
              <a:tblGrid>
                <a:gridCol w="735425"/>
                <a:gridCol w="660000"/>
                <a:gridCol w="721625"/>
                <a:gridCol w="661250"/>
                <a:gridCol w="697725"/>
                <a:gridCol w="704000"/>
                <a:gridCol w="647425"/>
              </a:tblGrid>
              <a:tr h="326900">
                <a:tc>
                  <a:txBody>
                    <a:bodyPr/>
                    <a:lstStyle/>
                    <a:p>
                      <a:pPr indent="0" lvl="0" marL="0" rtl="0" algn="ctr">
                        <a:lnSpc>
                          <a:spcPct val="115000"/>
                        </a:lnSpc>
                        <a:spcBef>
                          <a:spcPts val="0"/>
                        </a:spcBef>
                        <a:spcAft>
                          <a:spcPts val="0"/>
                        </a:spcAft>
                        <a:buNone/>
                      </a:pPr>
                      <a:r>
                        <a:rPr b="1" lang="en" sz="700">
                          <a:solidFill>
                            <a:srgbClr val="FFFFFF"/>
                          </a:solidFill>
                        </a:rPr>
                        <a:t>Month</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Polident</a:t>
                      </a:r>
                      <a:endParaRPr b="1" sz="700">
                        <a:solidFill>
                          <a:srgbClr val="FFFFFF"/>
                        </a:solidFill>
                      </a:endParaRPr>
                    </a:p>
                    <a:p>
                      <a:pPr indent="0" lvl="0" marL="0" rtl="0" algn="ctr">
                        <a:lnSpc>
                          <a:spcPct val="115000"/>
                        </a:lnSpc>
                        <a:spcBef>
                          <a:spcPts val="0"/>
                        </a:spcBef>
                        <a:spcAft>
                          <a:spcPts val="0"/>
                        </a:spcAft>
                        <a:buNone/>
                      </a:pPr>
                      <a:r>
                        <a:rPr b="1" lang="en" sz="700">
                          <a:solidFill>
                            <a:srgbClr val="FFFFFF"/>
                          </a:solidFill>
                        </a:rPr>
                        <a:t>NMV</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Polident</a:t>
                      </a:r>
                      <a:endParaRPr b="1" sz="700">
                        <a:solidFill>
                          <a:srgbClr val="FFFFFF"/>
                        </a:solidFill>
                      </a:endParaRPr>
                    </a:p>
                    <a:p>
                      <a:pPr indent="0" lvl="0" marL="0" rtl="0" algn="ctr">
                        <a:lnSpc>
                          <a:spcPct val="115000"/>
                        </a:lnSpc>
                        <a:spcBef>
                          <a:spcPts val="0"/>
                        </a:spcBef>
                        <a:spcAft>
                          <a:spcPts val="0"/>
                        </a:spcAft>
                        <a:buNone/>
                      </a:pPr>
                      <a:r>
                        <a:rPr b="1" lang="en" sz="700">
                          <a:solidFill>
                            <a:srgbClr val="FFFFFF"/>
                          </a:solidFill>
                        </a:rPr>
                        <a:t>Affiliates with Sales</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Sensodyne</a:t>
                      </a:r>
                      <a:endParaRPr b="1" sz="700">
                        <a:solidFill>
                          <a:srgbClr val="FFFFFF"/>
                        </a:solidFill>
                      </a:endParaRPr>
                    </a:p>
                    <a:p>
                      <a:pPr indent="0" lvl="0" marL="0" rtl="0" algn="ctr">
                        <a:lnSpc>
                          <a:spcPct val="115000"/>
                        </a:lnSpc>
                        <a:spcBef>
                          <a:spcPts val="0"/>
                        </a:spcBef>
                        <a:spcAft>
                          <a:spcPts val="0"/>
                        </a:spcAft>
                        <a:buNone/>
                      </a:pPr>
                      <a:r>
                        <a:rPr b="1" lang="en" sz="700">
                          <a:solidFill>
                            <a:srgbClr val="FFFFFF"/>
                          </a:solidFill>
                        </a:rPr>
                        <a:t>NMV</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Sensodyne</a:t>
                      </a:r>
                      <a:endParaRPr b="1" sz="700">
                        <a:solidFill>
                          <a:srgbClr val="FFFFFF"/>
                        </a:solidFill>
                      </a:endParaRPr>
                    </a:p>
                    <a:p>
                      <a:pPr indent="0" lvl="0" marL="0" rtl="0" algn="ctr">
                        <a:lnSpc>
                          <a:spcPct val="115000"/>
                        </a:lnSpc>
                        <a:spcBef>
                          <a:spcPts val="0"/>
                        </a:spcBef>
                        <a:spcAft>
                          <a:spcPts val="0"/>
                        </a:spcAft>
                        <a:buNone/>
                      </a:pPr>
                      <a:r>
                        <a:rPr b="1" lang="en" sz="700">
                          <a:solidFill>
                            <a:srgbClr val="FFFFFF"/>
                          </a:solidFill>
                        </a:rPr>
                        <a:t>Affiliates with Sales</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Scott's</a:t>
                      </a:r>
                      <a:endParaRPr b="1" sz="700">
                        <a:solidFill>
                          <a:srgbClr val="FFFFFF"/>
                        </a:solidFill>
                      </a:endParaRPr>
                    </a:p>
                    <a:p>
                      <a:pPr indent="0" lvl="0" marL="0" rtl="0" algn="ctr">
                        <a:lnSpc>
                          <a:spcPct val="115000"/>
                        </a:lnSpc>
                        <a:spcBef>
                          <a:spcPts val="0"/>
                        </a:spcBef>
                        <a:spcAft>
                          <a:spcPts val="0"/>
                        </a:spcAft>
                        <a:buNone/>
                      </a:pPr>
                      <a:r>
                        <a:rPr b="1" lang="en" sz="700">
                          <a:solidFill>
                            <a:srgbClr val="FFFFFF"/>
                          </a:solidFill>
                        </a:rPr>
                        <a:t>NMV</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Scott's</a:t>
                      </a:r>
                      <a:endParaRPr b="1" sz="700">
                        <a:solidFill>
                          <a:srgbClr val="FFFFFF"/>
                        </a:solidFill>
                      </a:endParaRPr>
                    </a:p>
                    <a:p>
                      <a:pPr indent="0" lvl="0" marL="0" rtl="0" algn="ctr">
                        <a:lnSpc>
                          <a:spcPct val="115000"/>
                        </a:lnSpc>
                        <a:spcBef>
                          <a:spcPts val="0"/>
                        </a:spcBef>
                        <a:spcAft>
                          <a:spcPts val="0"/>
                        </a:spcAft>
                        <a:buNone/>
                      </a:pPr>
                      <a:r>
                        <a:rPr b="1" lang="en" sz="700">
                          <a:solidFill>
                            <a:srgbClr val="FFFFFF"/>
                          </a:solidFill>
                        </a:rPr>
                        <a:t>Affiliates with Sales</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r>
              <a:tr h="134600">
                <a:tc>
                  <a:txBody>
                    <a:bodyPr/>
                    <a:lstStyle/>
                    <a:p>
                      <a:pPr indent="0" lvl="0" marL="0" rtl="0" algn="ctr">
                        <a:lnSpc>
                          <a:spcPct val="115000"/>
                        </a:lnSpc>
                        <a:spcBef>
                          <a:spcPts val="0"/>
                        </a:spcBef>
                        <a:spcAft>
                          <a:spcPts val="0"/>
                        </a:spcAft>
                        <a:buNone/>
                      </a:pPr>
                      <a:r>
                        <a:rPr lang="en" sz="700"/>
                        <a:t>July 2026</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630,165,466</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1,341</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954,892,054</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3,112</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702,721,500</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1,793</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34600">
                <a:tc>
                  <a:txBody>
                    <a:bodyPr/>
                    <a:lstStyle/>
                    <a:p>
                      <a:pPr indent="0" lvl="0" marL="0" rtl="0" algn="ctr">
                        <a:lnSpc>
                          <a:spcPct val="115000"/>
                        </a:lnSpc>
                        <a:spcBef>
                          <a:spcPts val="0"/>
                        </a:spcBef>
                        <a:spcAft>
                          <a:spcPts val="0"/>
                        </a:spcAft>
                        <a:buNone/>
                      </a:pPr>
                      <a:r>
                        <a:rPr lang="en" sz="700"/>
                        <a:t>August 2026</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600,060,277</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1,301</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1,001,928,146</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3,101</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927,080,069</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1,816</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34600">
                <a:tc>
                  <a:txBody>
                    <a:bodyPr/>
                    <a:lstStyle/>
                    <a:p>
                      <a:pPr indent="0" lvl="0" marL="0" rtl="0" algn="ctr">
                        <a:lnSpc>
                          <a:spcPct val="115000"/>
                        </a:lnSpc>
                        <a:spcBef>
                          <a:spcPts val="0"/>
                        </a:spcBef>
                        <a:spcAft>
                          <a:spcPts val="0"/>
                        </a:spcAft>
                        <a:buNone/>
                      </a:pPr>
                      <a:r>
                        <a:rPr b="1" lang="en" sz="700"/>
                        <a:t>Growth</a:t>
                      </a:r>
                      <a:endParaRPr b="1"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chemeClr val="dk1"/>
                          </a:solidFill>
                        </a:rPr>
                        <a:t>-4.78% ▼</a:t>
                      </a:r>
                      <a:endParaRPr b="1" sz="700">
                        <a:solidFill>
                          <a:schemeClr val="dk1"/>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chemeClr val="dk1"/>
                          </a:solidFill>
                        </a:rPr>
                        <a:t>-2.98% ▼</a:t>
                      </a:r>
                      <a:endParaRPr b="1" sz="700">
                        <a:solidFill>
                          <a:schemeClr val="dk1"/>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4.93%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chemeClr val="dk1"/>
                          </a:solidFill>
                        </a:rPr>
                        <a:t>-0.35% ▼</a:t>
                      </a:r>
                      <a:endParaRPr b="1" sz="700">
                        <a:solidFill>
                          <a:schemeClr val="dk1"/>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31.93%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1.28%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graphicFrame>
        <p:nvGraphicFramePr>
          <p:cNvPr id="401" name="Google Shape;401;p50"/>
          <p:cNvGraphicFramePr/>
          <p:nvPr/>
        </p:nvGraphicFramePr>
        <p:xfrm>
          <a:off x="4048875" y="2085975"/>
          <a:ext cx="3000000" cy="3000000"/>
        </p:xfrm>
        <a:graphic>
          <a:graphicData uri="http://schemas.openxmlformats.org/drawingml/2006/table">
            <a:tbl>
              <a:tblPr>
                <a:noFill/>
                <a:tableStyleId>{05CF1300-53F3-430B-9C35-424554A46B0A}</a:tableStyleId>
              </a:tblPr>
              <a:tblGrid>
                <a:gridCol w="995050"/>
                <a:gridCol w="952175"/>
              </a:tblGrid>
              <a:tr h="107925">
                <a:tc gridSpan="2">
                  <a:txBody>
                    <a:bodyPr/>
                    <a:lstStyle/>
                    <a:p>
                      <a:pPr indent="0" lvl="0" marL="0" rtl="0" algn="ctr">
                        <a:lnSpc>
                          <a:spcPct val="115000"/>
                        </a:lnSpc>
                        <a:spcBef>
                          <a:spcPts val="0"/>
                        </a:spcBef>
                        <a:spcAft>
                          <a:spcPts val="0"/>
                        </a:spcAft>
                        <a:buNone/>
                      </a:pPr>
                      <a:r>
                        <a:rPr b="1" lang="en" sz="700">
                          <a:solidFill>
                            <a:srgbClr val="FFFFFF"/>
                          </a:solidFill>
                        </a:rPr>
                        <a:t>Centrum Performance</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hMerge="1"/>
              </a:tr>
              <a:tr h="107925">
                <a:tc>
                  <a:txBody>
                    <a:bodyPr/>
                    <a:lstStyle/>
                    <a:p>
                      <a:pPr indent="0" lvl="0" marL="0" rtl="0" algn="ctr">
                        <a:lnSpc>
                          <a:spcPct val="115000"/>
                        </a:lnSpc>
                        <a:spcBef>
                          <a:spcPts val="0"/>
                        </a:spcBef>
                        <a:spcAft>
                          <a:spcPts val="0"/>
                        </a:spcAft>
                        <a:buNone/>
                      </a:pPr>
                      <a:r>
                        <a:rPr b="1" lang="en" sz="700"/>
                        <a:t>NMV</a:t>
                      </a:r>
                      <a:endParaRPr b="1"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6,633,267</a:t>
                      </a:r>
                      <a:endParaRPr b="1"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07925">
                <a:tc>
                  <a:txBody>
                    <a:bodyPr/>
                    <a:lstStyle/>
                    <a:p>
                      <a:pPr indent="0" lvl="0" marL="0" rtl="0" algn="ctr">
                        <a:lnSpc>
                          <a:spcPct val="115000"/>
                        </a:lnSpc>
                        <a:spcBef>
                          <a:spcPts val="0"/>
                        </a:spcBef>
                        <a:spcAft>
                          <a:spcPts val="0"/>
                        </a:spcAft>
                        <a:buNone/>
                      </a:pPr>
                      <a:r>
                        <a:rPr lang="en" sz="700"/>
                        <a:t>Commission</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393,572</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07925">
                <a:tc>
                  <a:txBody>
                    <a:bodyPr/>
                    <a:lstStyle/>
                    <a:p>
                      <a:pPr indent="0" lvl="0" marL="0" rtl="0" algn="ctr">
                        <a:lnSpc>
                          <a:spcPct val="115000"/>
                        </a:lnSpc>
                        <a:spcBef>
                          <a:spcPts val="0"/>
                        </a:spcBef>
                        <a:spcAft>
                          <a:spcPts val="0"/>
                        </a:spcAft>
                        <a:buNone/>
                      </a:pPr>
                      <a:r>
                        <a:rPr lang="en" sz="700"/>
                        <a:t>ROI</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16.9</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07925">
                <a:tc>
                  <a:txBody>
                    <a:bodyPr/>
                    <a:lstStyle/>
                    <a:p>
                      <a:pPr indent="0" lvl="0" marL="0" rtl="0" algn="ctr">
                        <a:lnSpc>
                          <a:spcPct val="115000"/>
                        </a:lnSpc>
                        <a:spcBef>
                          <a:spcPts val="0"/>
                        </a:spcBef>
                        <a:spcAft>
                          <a:spcPts val="0"/>
                        </a:spcAft>
                        <a:buNone/>
                      </a:pPr>
                      <a:r>
                        <a:rPr lang="en" sz="700"/>
                        <a:t>Cost Ratio</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5.93%</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07925">
                <a:tc>
                  <a:txBody>
                    <a:bodyPr/>
                    <a:lstStyle/>
                    <a:p>
                      <a:pPr indent="0" lvl="0" marL="0" rtl="0" algn="ctr">
                        <a:lnSpc>
                          <a:spcPct val="115000"/>
                        </a:lnSpc>
                        <a:spcBef>
                          <a:spcPts val="0"/>
                        </a:spcBef>
                        <a:spcAft>
                          <a:spcPts val="0"/>
                        </a:spcAft>
                        <a:buNone/>
                      </a:pPr>
                      <a:r>
                        <a:rPr lang="en" sz="700"/>
                        <a:t>Affiliate with Sales</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39</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pic>
        <p:nvPicPr>
          <p:cNvPr id="402" name="Google Shape;402;p50"/>
          <p:cNvPicPr preferRelativeResize="0"/>
          <p:nvPr/>
        </p:nvPicPr>
        <p:blipFill>
          <a:blip r:embed="rId4">
            <a:alphaModFix/>
          </a:blip>
          <a:stretch>
            <a:fillRect/>
          </a:stretch>
        </p:blipFill>
        <p:spPr>
          <a:xfrm>
            <a:off x="400450" y="1161225"/>
            <a:ext cx="3338600" cy="1994624"/>
          </a:xfrm>
          <a:prstGeom prst="rect">
            <a:avLst/>
          </a:prstGeom>
          <a:noFill/>
          <a:ln cap="flat" cmpd="sng" w="19050">
            <a:solidFill>
              <a:schemeClr val="lt2"/>
            </a:solidFill>
            <a:prstDash val="solid"/>
            <a:round/>
            <a:headEnd len="sm" w="sm" type="none"/>
            <a:tailEnd len="sm" w="sm" type="none"/>
          </a:ln>
        </p:spPr>
      </p:pic>
      <p:pic>
        <p:nvPicPr>
          <p:cNvPr id="403" name="Google Shape;403;p50"/>
          <p:cNvPicPr preferRelativeResize="0"/>
          <p:nvPr/>
        </p:nvPicPr>
        <p:blipFill>
          <a:blip r:embed="rId5">
            <a:alphaModFix/>
          </a:blip>
          <a:stretch>
            <a:fillRect/>
          </a:stretch>
        </p:blipFill>
        <p:spPr>
          <a:xfrm>
            <a:off x="174550" y="3288925"/>
            <a:ext cx="3790408" cy="1680475"/>
          </a:xfrm>
          <a:prstGeom prst="rect">
            <a:avLst/>
          </a:prstGeom>
          <a:noFill/>
          <a:ln cap="flat" cmpd="sng" w="19050">
            <a:solidFill>
              <a:schemeClr val="lt2"/>
            </a:solidFill>
            <a:prstDash val="solid"/>
            <a:round/>
            <a:headEnd len="sm" w="sm" type="none"/>
            <a:tailEnd len="sm" w="sm" type="none"/>
          </a:ln>
        </p:spPr>
      </p:pic>
      <p:sp>
        <p:nvSpPr>
          <p:cNvPr id="404" name="Google Shape;404;p50"/>
          <p:cNvSpPr/>
          <p:nvPr/>
        </p:nvSpPr>
        <p:spPr>
          <a:xfrm>
            <a:off x="7524900" y="1099250"/>
            <a:ext cx="704100" cy="895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50"/>
          <p:cNvSpPr/>
          <p:nvPr/>
        </p:nvSpPr>
        <p:spPr>
          <a:xfrm>
            <a:off x="2985175" y="4025700"/>
            <a:ext cx="912300" cy="552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1"/>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pic>
        <p:nvPicPr>
          <p:cNvPr id="411" name="Google Shape;411;p51"/>
          <p:cNvPicPr preferRelativeResize="0"/>
          <p:nvPr/>
        </p:nvPicPr>
        <p:blipFill rotWithShape="1">
          <a:blip r:embed="rId4">
            <a:alphaModFix/>
          </a:blip>
          <a:srcRect b="0" l="0" r="0" t="0"/>
          <a:stretch/>
        </p:blipFill>
        <p:spPr>
          <a:xfrm rot="10800000">
            <a:off x="-4151" y="0"/>
            <a:ext cx="9148151" cy="79825"/>
          </a:xfrm>
          <a:prstGeom prst="rect">
            <a:avLst/>
          </a:prstGeom>
          <a:noFill/>
          <a:ln>
            <a:noFill/>
          </a:ln>
        </p:spPr>
      </p:pic>
      <p:sp>
        <p:nvSpPr>
          <p:cNvPr id="412" name="Google Shape;412;p51"/>
          <p:cNvSpPr txBox="1"/>
          <p:nvPr>
            <p:ph type="ctrTitle"/>
          </p:nvPr>
        </p:nvSpPr>
        <p:spPr>
          <a:xfrm>
            <a:off x="174550" y="131975"/>
            <a:ext cx="8655600" cy="837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Monthly Review August 2026</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Shopee Affiliates Performance </a:t>
            </a:r>
            <a:r>
              <a:rPr i="1" lang="en">
                <a:solidFill>
                  <a:srgbClr val="3880C1"/>
                </a:solidFill>
                <a:latin typeface="Inter"/>
                <a:ea typeface="Inter"/>
                <a:cs typeface="Inter"/>
                <a:sym typeface="Inter"/>
              </a:rPr>
              <a:t>(Rank Up Program)</a:t>
            </a:r>
            <a:endParaRPr i="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93785"/>
              <a:buFont typeface="Calibri"/>
              <a:buNone/>
            </a:pPr>
            <a:r>
              <a:rPr i="1" lang="en" sz="1089">
                <a:solidFill>
                  <a:srgbClr val="3880C1"/>
                </a:solidFill>
                <a:latin typeface="Inter"/>
                <a:ea typeface="Inter"/>
                <a:cs typeface="Inter"/>
                <a:sym typeface="Inter"/>
              </a:rPr>
              <a:t>Top &amp; Rising tiers both grew solidly, with Scott's now holding 38% of Top-tier affiliates — but the New (Open) tier, the pipeline feeding tomorrow's Top/Rising, actually shrank.</a:t>
            </a:r>
            <a:endParaRPr i="1" sz="1089">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93785"/>
              <a:buFont typeface="Calibri"/>
              <a:buNone/>
            </a:pPr>
            <a:r>
              <a:t/>
            </a:r>
            <a:endParaRPr i="1" sz="1089">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t/>
            </a:r>
            <a:endParaRPr i="1" sz="1200">
              <a:solidFill>
                <a:srgbClr val="3880C1"/>
              </a:solidFill>
              <a:latin typeface="Inter"/>
              <a:ea typeface="Inter"/>
              <a:cs typeface="Inter"/>
              <a:sym typeface="Inter"/>
            </a:endParaRPr>
          </a:p>
        </p:txBody>
      </p:sp>
      <p:sp>
        <p:nvSpPr>
          <p:cNvPr id="413" name="Google Shape;413;p51"/>
          <p:cNvSpPr/>
          <p:nvPr/>
        </p:nvSpPr>
        <p:spPr>
          <a:xfrm>
            <a:off x="4159725" y="2854225"/>
            <a:ext cx="4716600" cy="2286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Inter"/>
                <a:ea typeface="Inter"/>
                <a:cs typeface="Inter"/>
                <a:sym typeface="Inter"/>
              </a:rPr>
              <a:t>Key Highlights</a:t>
            </a:r>
            <a:endParaRPr b="1" i="0" sz="1100" u="none" cap="none" strike="noStrike">
              <a:solidFill>
                <a:srgbClr val="FFFFFF"/>
              </a:solidFill>
              <a:latin typeface="Inter"/>
              <a:ea typeface="Inter"/>
              <a:cs typeface="Inter"/>
              <a:sym typeface="Inter"/>
            </a:endParaRPr>
          </a:p>
        </p:txBody>
      </p:sp>
      <p:sp>
        <p:nvSpPr>
          <p:cNvPr id="414" name="Google Shape;414;p51"/>
          <p:cNvSpPr txBox="1"/>
          <p:nvPr/>
        </p:nvSpPr>
        <p:spPr>
          <a:xfrm>
            <a:off x="3945775" y="3115955"/>
            <a:ext cx="4912800" cy="1655700"/>
          </a:xfrm>
          <a:prstGeom prst="rect">
            <a:avLst/>
          </a:prstGeom>
          <a:noFill/>
          <a:ln>
            <a:noFill/>
          </a:ln>
        </p:spPr>
        <p:txBody>
          <a:bodyPr anchorCtr="0" anchor="t" bIns="91425" lIns="91425" spcFirstLastPara="1" rIns="91425" wrap="square" tIns="91425">
            <a:noAutofit/>
          </a:bodyPr>
          <a:lstStyle/>
          <a:p>
            <a:pPr indent="-285750" lvl="0" marL="457200" rtl="0" algn="just">
              <a:lnSpc>
                <a:spcPct val="115000"/>
              </a:lnSpc>
              <a:spcBef>
                <a:spcPts val="0"/>
              </a:spcBef>
              <a:spcAft>
                <a:spcPts val="0"/>
              </a:spcAft>
              <a:buClr>
                <a:schemeClr val="dk1"/>
              </a:buClr>
              <a:buSzPts val="900"/>
              <a:buChar char="●"/>
            </a:pPr>
            <a:r>
              <a:rPr b="1" lang="en" sz="900">
                <a:solidFill>
                  <a:schemeClr val="dk1"/>
                </a:solidFill>
              </a:rPr>
              <a:t>Top tier grew +16% in count, +17% in NMV</a:t>
            </a:r>
            <a:r>
              <a:rPr lang="en" sz="900">
                <a:solidFill>
                  <a:schemeClr val="dk1"/>
                </a:solidFill>
              </a:rPr>
              <a:t> — Scott's now holds 38% of Top-tier affiliates (11 of 29), reflecting tonixzx's rise into the highest bracket.</a:t>
            </a:r>
            <a:endParaRPr sz="900">
              <a:solidFill>
                <a:schemeClr val="dk1"/>
              </a:solidFill>
            </a:endParaRPr>
          </a:p>
          <a:p>
            <a:pPr indent="-285750" lvl="0" marL="457200" rtl="0" algn="just">
              <a:lnSpc>
                <a:spcPct val="115000"/>
              </a:lnSpc>
              <a:spcBef>
                <a:spcPts val="0"/>
              </a:spcBef>
              <a:spcAft>
                <a:spcPts val="0"/>
              </a:spcAft>
              <a:buClr>
                <a:schemeClr val="dk1"/>
              </a:buClr>
              <a:buSzPts val="900"/>
              <a:buChar char="●"/>
            </a:pPr>
            <a:r>
              <a:rPr b="1" lang="en" sz="900">
                <a:solidFill>
                  <a:schemeClr val="dk1"/>
                </a:solidFill>
              </a:rPr>
              <a:t>Rising tier nearly matched Top's pace </a:t>
            </a:r>
            <a:r>
              <a:rPr lang="en" sz="900">
                <a:solidFill>
                  <a:schemeClr val="dk1"/>
                </a:solidFill>
              </a:rPr>
              <a:t>(+15% count, +17% NMV)</a:t>
            </a:r>
            <a:r>
              <a:rPr b="1" lang="en" sz="900">
                <a:solidFill>
                  <a:schemeClr val="dk1"/>
                </a:solidFill>
              </a:rPr>
              <a:t> </a:t>
            </a:r>
            <a:r>
              <a:rPr lang="en" sz="900">
                <a:solidFill>
                  <a:schemeClr val="dk1"/>
                </a:solidFill>
              </a:rPr>
              <a:t>— but it's unclear if this came from New-tier graduations or Top-tier affiliates sliding down.</a:t>
            </a:r>
            <a:endParaRPr sz="900">
              <a:solidFill>
                <a:schemeClr val="dk1"/>
              </a:solidFill>
            </a:endParaRPr>
          </a:p>
          <a:p>
            <a:pPr indent="-285750" lvl="0" marL="457200" rtl="0" algn="just">
              <a:lnSpc>
                <a:spcPct val="115000"/>
              </a:lnSpc>
              <a:spcBef>
                <a:spcPts val="0"/>
              </a:spcBef>
              <a:spcAft>
                <a:spcPts val="0"/>
              </a:spcAft>
              <a:buClr>
                <a:schemeClr val="dk1"/>
              </a:buClr>
              <a:buSzPts val="900"/>
              <a:buChar char="●"/>
            </a:pPr>
            <a:r>
              <a:rPr b="1" lang="en" sz="900">
                <a:solidFill>
                  <a:schemeClr val="dk1"/>
                </a:solidFill>
              </a:rPr>
              <a:t>New (Open) tier declined on both fronts</a:t>
            </a:r>
            <a:r>
              <a:rPr lang="en" sz="900">
                <a:solidFill>
                  <a:schemeClr val="dk1"/>
                </a:solidFill>
              </a:rPr>
              <a:t> (-8.8% count, -3.5% NMV) — the direct feeder into Rising, worth watching closely.</a:t>
            </a:r>
            <a:endParaRPr sz="900">
              <a:solidFill>
                <a:schemeClr val="dk1"/>
              </a:solidFill>
            </a:endParaRPr>
          </a:p>
          <a:p>
            <a:pPr indent="-285750" lvl="0" marL="457200" rtl="0" algn="just">
              <a:lnSpc>
                <a:spcPct val="115000"/>
              </a:lnSpc>
              <a:spcBef>
                <a:spcPts val="0"/>
              </a:spcBef>
              <a:spcAft>
                <a:spcPts val="0"/>
              </a:spcAft>
              <a:buClr>
                <a:schemeClr val="dk1"/>
              </a:buClr>
              <a:buSzPts val="900"/>
              <a:buChar char="●"/>
            </a:pPr>
            <a:r>
              <a:rPr b="1" lang="en" sz="900">
                <a:solidFill>
                  <a:schemeClr val="dk1"/>
                </a:solidFill>
              </a:rPr>
              <a:t>Polident holds just 3 of 29 Top-tier affiliates (10%)</a:t>
            </a:r>
            <a:r>
              <a:rPr lang="en" sz="900">
                <a:solidFill>
                  <a:schemeClr val="dk1"/>
                </a:solidFill>
              </a:rPr>
              <a:t> — the brand most at risk of losing relevance at the highest tier.</a:t>
            </a:r>
            <a:endParaRPr sz="900">
              <a:solidFill>
                <a:schemeClr val="dk1"/>
              </a:solidFill>
            </a:endParaRPr>
          </a:p>
        </p:txBody>
      </p:sp>
      <p:graphicFrame>
        <p:nvGraphicFramePr>
          <p:cNvPr id="415" name="Google Shape;415;p51"/>
          <p:cNvGraphicFramePr/>
          <p:nvPr/>
        </p:nvGraphicFramePr>
        <p:xfrm>
          <a:off x="3706175" y="1311288"/>
          <a:ext cx="3000000" cy="3000000"/>
        </p:xfrm>
        <a:graphic>
          <a:graphicData uri="http://schemas.openxmlformats.org/drawingml/2006/table">
            <a:tbl>
              <a:tblPr>
                <a:noFill/>
                <a:tableStyleId>{05CF1300-53F3-430B-9C35-424554A46B0A}</a:tableStyleId>
              </a:tblPr>
              <a:tblGrid>
                <a:gridCol w="657100"/>
                <a:gridCol w="692550"/>
                <a:gridCol w="606600"/>
                <a:gridCol w="404550"/>
                <a:gridCol w="432275"/>
                <a:gridCol w="517150"/>
                <a:gridCol w="648800"/>
                <a:gridCol w="686825"/>
                <a:gridCol w="478125"/>
              </a:tblGrid>
              <a:tr h="128675">
                <a:tc rowSpan="2">
                  <a:txBody>
                    <a:bodyPr/>
                    <a:lstStyle/>
                    <a:p>
                      <a:pPr indent="0" lvl="0" marL="0" rtl="0" algn="ctr">
                        <a:lnSpc>
                          <a:spcPct val="115000"/>
                        </a:lnSpc>
                        <a:spcBef>
                          <a:spcPts val="0"/>
                        </a:spcBef>
                        <a:spcAft>
                          <a:spcPts val="0"/>
                        </a:spcAft>
                        <a:buNone/>
                      </a:pPr>
                      <a:r>
                        <a:rPr b="1" lang="en" sz="700">
                          <a:solidFill>
                            <a:srgbClr val="FFFFFF"/>
                          </a:solidFill>
                        </a:rPr>
                        <a:t>Rank</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rowSpan="2">
                  <a:txBody>
                    <a:bodyPr/>
                    <a:lstStyle/>
                    <a:p>
                      <a:pPr indent="0" lvl="0" marL="0" rtl="0" algn="ctr">
                        <a:lnSpc>
                          <a:spcPct val="115000"/>
                        </a:lnSpc>
                        <a:spcBef>
                          <a:spcPts val="0"/>
                        </a:spcBef>
                        <a:spcAft>
                          <a:spcPts val="0"/>
                        </a:spcAft>
                        <a:buNone/>
                      </a:pPr>
                      <a:r>
                        <a:rPr b="1" lang="en" sz="700">
                          <a:solidFill>
                            <a:srgbClr val="FFFFFF"/>
                          </a:solidFill>
                        </a:rPr>
                        <a:t>Target Baseline</a:t>
                      </a:r>
                      <a:endParaRPr b="1" sz="700">
                        <a:solidFill>
                          <a:srgbClr val="FFFFFF"/>
                        </a:solidFill>
                      </a:endParaRPr>
                    </a:p>
                    <a:p>
                      <a:pPr indent="0" lvl="0" marL="0" rtl="0" algn="ctr">
                        <a:lnSpc>
                          <a:spcPct val="115000"/>
                        </a:lnSpc>
                        <a:spcBef>
                          <a:spcPts val="0"/>
                        </a:spcBef>
                        <a:spcAft>
                          <a:spcPts val="0"/>
                        </a:spcAft>
                        <a:buNone/>
                      </a:pPr>
                      <a:r>
                        <a:rPr b="1" lang="en" sz="700">
                          <a:solidFill>
                            <a:srgbClr val="FFFFFF"/>
                          </a:solidFill>
                        </a:rPr>
                        <a:t>(Start)</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rowSpan="2">
                  <a:txBody>
                    <a:bodyPr/>
                    <a:lstStyle/>
                    <a:p>
                      <a:pPr indent="0" lvl="0" marL="0" rtl="0" algn="ctr">
                        <a:lnSpc>
                          <a:spcPct val="115000"/>
                        </a:lnSpc>
                        <a:spcBef>
                          <a:spcPts val="0"/>
                        </a:spcBef>
                        <a:spcAft>
                          <a:spcPts val="0"/>
                        </a:spcAft>
                        <a:buNone/>
                      </a:pPr>
                      <a:r>
                        <a:rPr b="1" lang="en" sz="700">
                          <a:solidFill>
                            <a:srgbClr val="FFFFFF"/>
                          </a:solidFill>
                        </a:rPr>
                        <a:t>Target Baseline (End)</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gridSpan="3">
                  <a:txBody>
                    <a:bodyPr/>
                    <a:lstStyle/>
                    <a:p>
                      <a:pPr indent="0" lvl="0" marL="0" rtl="0" algn="ctr">
                        <a:lnSpc>
                          <a:spcPct val="115000"/>
                        </a:lnSpc>
                        <a:spcBef>
                          <a:spcPts val="0"/>
                        </a:spcBef>
                        <a:spcAft>
                          <a:spcPts val="0"/>
                        </a:spcAft>
                        <a:buNone/>
                      </a:pPr>
                      <a:r>
                        <a:rPr b="1" lang="en" sz="700">
                          <a:solidFill>
                            <a:srgbClr val="FFFFFF"/>
                          </a:solidFill>
                        </a:rPr>
                        <a:t>Affiliate with Sales</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hMerge="1"/>
                <a:tc hMerge="1"/>
                <a:tc gridSpan="3">
                  <a:txBody>
                    <a:bodyPr/>
                    <a:lstStyle/>
                    <a:p>
                      <a:pPr indent="0" lvl="0" marL="0" rtl="0" algn="ctr">
                        <a:lnSpc>
                          <a:spcPct val="115000"/>
                        </a:lnSpc>
                        <a:spcBef>
                          <a:spcPts val="0"/>
                        </a:spcBef>
                        <a:spcAft>
                          <a:spcPts val="0"/>
                        </a:spcAft>
                        <a:buNone/>
                      </a:pPr>
                      <a:r>
                        <a:rPr b="1" lang="en" sz="700">
                          <a:solidFill>
                            <a:srgbClr val="FFFFFF"/>
                          </a:solidFill>
                        </a:rPr>
                        <a:t>NMV</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hMerge="1"/>
                <a:tc hMerge="1"/>
              </a:tr>
              <a:tr h="222475">
                <a:tc vMerge="1"/>
                <a:tc vMerge="1"/>
                <a:tc vMerge="1"/>
                <a:tc>
                  <a:txBody>
                    <a:bodyPr/>
                    <a:lstStyle/>
                    <a:p>
                      <a:pPr indent="0" lvl="0" marL="0" rtl="0" algn="ctr">
                        <a:lnSpc>
                          <a:spcPct val="115000"/>
                        </a:lnSpc>
                        <a:spcBef>
                          <a:spcPts val="0"/>
                        </a:spcBef>
                        <a:spcAft>
                          <a:spcPts val="0"/>
                        </a:spcAft>
                        <a:buNone/>
                      </a:pPr>
                      <a:r>
                        <a:rPr b="1" lang="en" sz="700">
                          <a:solidFill>
                            <a:srgbClr val="FFFFFF"/>
                          </a:solidFill>
                        </a:rPr>
                        <a:t>Jul</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Aug</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Growth</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Jul</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Aug</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700">
                          <a:solidFill>
                            <a:srgbClr val="FFFFFF"/>
                          </a:solidFill>
                        </a:rPr>
                        <a:t>Growth</a:t>
                      </a:r>
                      <a:endParaRPr b="1" sz="700">
                        <a:solidFill>
                          <a:srgbClr val="FFFFFF"/>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285F4"/>
                    </a:solidFill>
                  </a:tcPr>
                </a:tc>
              </a:tr>
              <a:tr h="163475">
                <a:tc>
                  <a:txBody>
                    <a:bodyPr/>
                    <a:lstStyle/>
                    <a:p>
                      <a:pPr indent="0" lvl="0" marL="0" rtl="0" algn="ctr">
                        <a:lnSpc>
                          <a:spcPct val="115000"/>
                        </a:lnSpc>
                        <a:spcBef>
                          <a:spcPts val="0"/>
                        </a:spcBef>
                        <a:spcAft>
                          <a:spcPts val="0"/>
                        </a:spcAft>
                        <a:buNone/>
                      </a:pPr>
                      <a:r>
                        <a:rPr lang="en" sz="700"/>
                        <a:t>Top</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15,000,000</a:t>
                      </a:r>
                      <a:endParaRPr b="1"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1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25</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29</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16.00%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1,081,082,493</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1,266,378,817</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17.14%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8675">
                <a:tc>
                  <a:txBody>
                    <a:bodyPr/>
                    <a:lstStyle/>
                    <a:p>
                      <a:pPr indent="0" lvl="0" marL="0" rtl="0" algn="ctr">
                        <a:lnSpc>
                          <a:spcPct val="115000"/>
                        </a:lnSpc>
                        <a:spcBef>
                          <a:spcPts val="0"/>
                        </a:spcBef>
                        <a:spcAft>
                          <a:spcPts val="0"/>
                        </a:spcAft>
                        <a:buNone/>
                      </a:pPr>
                      <a:r>
                        <a:rPr lang="en" sz="700"/>
                        <a:t>Rising</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5,000,000</a:t>
                      </a:r>
                      <a:endParaRPr b="1"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14,999,999</a:t>
                      </a:r>
                      <a:endParaRPr b="1"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34</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39</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14.71%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303,764,608</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354,601,447</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16.74%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71625">
                <a:tc>
                  <a:txBody>
                    <a:bodyPr/>
                    <a:lstStyle/>
                    <a:p>
                      <a:pPr indent="0" lvl="0" marL="0" rtl="0" algn="ctr">
                        <a:lnSpc>
                          <a:spcPct val="115000"/>
                        </a:lnSpc>
                        <a:spcBef>
                          <a:spcPts val="0"/>
                        </a:spcBef>
                        <a:spcAft>
                          <a:spcPts val="0"/>
                        </a:spcAft>
                        <a:buNone/>
                      </a:pPr>
                      <a:r>
                        <a:rPr lang="en" sz="700"/>
                        <a:t>New (Open)</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1,000,000</a:t>
                      </a:r>
                      <a:endParaRPr b="1"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4,999,999</a:t>
                      </a:r>
                      <a:endParaRPr b="1"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171</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156</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chemeClr val="dk1"/>
                          </a:solidFill>
                        </a:rPr>
                        <a:t>-8.77% ▼</a:t>
                      </a:r>
                      <a:endParaRPr b="1" sz="700">
                        <a:solidFill>
                          <a:schemeClr val="dk1"/>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345,789,339</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333,605,947</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chemeClr val="dk1"/>
                          </a:solidFill>
                        </a:rPr>
                        <a:t>-3.52% ▼</a:t>
                      </a:r>
                      <a:endParaRPr b="1" sz="700">
                        <a:solidFill>
                          <a:schemeClr val="dk1"/>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8675">
                <a:tc>
                  <a:txBody>
                    <a:bodyPr/>
                    <a:lstStyle/>
                    <a:p>
                      <a:pPr indent="0" lvl="0" marL="0" rtl="0" algn="ctr">
                        <a:lnSpc>
                          <a:spcPct val="115000"/>
                        </a:lnSpc>
                        <a:spcBef>
                          <a:spcPts val="0"/>
                        </a:spcBef>
                        <a:spcAft>
                          <a:spcPts val="0"/>
                        </a:spcAft>
                        <a:buNone/>
                      </a:pPr>
                      <a:r>
                        <a:rPr lang="en" sz="700"/>
                        <a:t>Starter</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1</a:t>
                      </a:r>
                      <a:endParaRPr b="1"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t>999,999</a:t>
                      </a:r>
                      <a:endParaRPr b="1"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4,762</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4,725</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chemeClr val="dk1"/>
                          </a:solidFill>
                        </a:rPr>
                        <a:t>-0.78% ▼</a:t>
                      </a:r>
                      <a:endParaRPr b="1" sz="700">
                        <a:solidFill>
                          <a:schemeClr val="dk1"/>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557,142,580</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t>581,217,345</a:t>
                      </a:r>
                      <a:endParaRPr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700">
                          <a:solidFill>
                            <a:srgbClr val="339966"/>
                          </a:solidFill>
                        </a:rPr>
                        <a:t>4.32%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63475">
                <a:tc>
                  <a:txBody>
                    <a:bodyPr/>
                    <a:lstStyle/>
                    <a:p>
                      <a:pPr indent="0" lvl="0" marL="0" rtl="0" algn="ctr">
                        <a:lnSpc>
                          <a:spcPct val="115000"/>
                        </a:lnSpc>
                        <a:spcBef>
                          <a:spcPts val="0"/>
                        </a:spcBef>
                        <a:spcAft>
                          <a:spcPts val="0"/>
                        </a:spcAft>
                        <a:buNone/>
                      </a:pPr>
                      <a:r>
                        <a:rPr b="1" lang="en" sz="700"/>
                        <a:t>Overall</a:t>
                      </a:r>
                      <a:endParaRPr b="1"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11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t/>
                      </a:r>
                      <a:endParaRPr sz="11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sz="700"/>
                        <a:t>4,992</a:t>
                      </a:r>
                      <a:endParaRPr b="1"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sz="700"/>
                        <a:t>4,949</a:t>
                      </a:r>
                      <a:endParaRPr b="1"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sz="700">
                          <a:solidFill>
                            <a:schemeClr val="dk1"/>
                          </a:solidFill>
                        </a:rPr>
                        <a:t>-0.86% ▼</a:t>
                      </a:r>
                      <a:endParaRPr b="1" sz="700">
                        <a:solidFill>
                          <a:schemeClr val="dk1"/>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sz="700"/>
                        <a:t>2,287,779,020</a:t>
                      </a:r>
                      <a:endParaRPr b="1"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sz="700"/>
                        <a:t>2,535,803,556</a:t>
                      </a:r>
                      <a:endParaRPr b="1" sz="700"/>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2"/>
                    </a:solidFill>
                  </a:tcPr>
                </a:tc>
                <a:tc>
                  <a:txBody>
                    <a:bodyPr/>
                    <a:lstStyle/>
                    <a:p>
                      <a:pPr indent="0" lvl="0" marL="0" rtl="0" algn="ctr">
                        <a:lnSpc>
                          <a:spcPct val="115000"/>
                        </a:lnSpc>
                        <a:spcBef>
                          <a:spcPts val="0"/>
                        </a:spcBef>
                        <a:spcAft>
                          <a:spcPts val="0"/>
                        </a:spcAft>
                        <a:buNone/>
                      </a:pPr>
                      <a:r>
                        <a:rPr b="1" lang="en" sz="700">
                          <a:solidFill>
                            <a:srgbClr val="339966"/>
                          </a:solidFill>
                        </a:rPr>
                        <a:t>10.84% ▲</a:t>
                      </a:r>
                      <a:endParaRPr b="1" sz="700">
                        <a:solidFill>
                          <a:srgbClr val="339966"/>
                        </a:solidFill>
                      </a:endParaRPr>
                    </a:p>
                  </a:txBody>
                  <a:tcPr marT="19050" marB="19050" marR="28575" marL="2857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2"/>
                    </a:solidFill>
                  </a:tcPr>
                </a:tc>
              </a:tr>
            </a:tbl>
          </a:graphicData>
        </a:graphic>
      </p:graphicFrame>
      <p:pic>
        <p:nvPicPr>
          <p:cNvPr id="416" name="Google Shape;416;p51"/>
          <p:cNvPicPr preferRelativeResize="0"/>
          <p:nvPr/>
        </p:nvPicPr>
        <p:blipFill>
          <a:blip r:embed="rId5">
            <a:alphaModFix/>
          </a:blip>
          <a:stretch>
            <a:fillRect/>
          </a:stretch>
        </p:blipFill>
        <p:spPr>
          <a:xfrm>
            <a:off x="187900" y="1147525"/>
            <a:ext cx="3313175" cy="38588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2"/>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pic>
        <p:nvPicPr>
          <p:cNvPr id="422" name="Google Shape;422;p52"/>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sp>
        <p:nvSpPr>
          <p:cNvPr id="423" name="Google Shape;423;p52"/>
          <p:cNvSpPr txBox="1"/>
          <p:nvPr>
            <p:ph type="ctrTitle"/>
          </p:nvPr>
        </p:nvSpPr>
        <p:spPr>
          <a:xfrm>
            <a:off x="174550" y="131975"/>
            <a:ext cx="8655600" cy="837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Monthly Review August 2026</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Shopee Affiliates Performance </a:t>
            </a:r>
            <a:r>
              <a:rPr i="1" lang="en">
                <a:solidFill>
                  <a:srgbClr val="3880C1"/>
                </a:solidFill>
                <a:latin typeface="Inter"/>
                <a:ea typeface="Inter"/>
                <a:cs typeface="Inter"/>
                <a:sym typeface="Inter"/>
              </a:rPr>
              <a:t>(9.9 Performance)</a:t>
            </a:r>
            <a:endParaRPr i="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327166"/>
              <a:buFont typeface="Calibri"/>
              <a:buNone/>
            </a:pPr>
            <a:r>
              <a:rPr i="1" lang="en" sz="978">
                <a:solidFill>
                  <a:srgbClr val="3880C1"/>
                </a:solidFill>
                <a:latin typeface="Inter"/>
                <a:ea typeface="Inter"/>
                <a:cs typeface="Inter"/>
                <a:sym typeface="Inter"/>
              </a:rPr>
              <a:t>9.9 outperformed 8.8 overall, but Polident had a breakout day (+48%) while Scott's fell sharply (-27%).</a:t>
            </a:r>
            <a:endParaRPr i="1" sz="1089">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t/>
            </a:r>
            <a:endParaRPr i="1" sz="1200">
              <a:solidFill>
                <a:srgbClr val="3880C1"/>
              </a:solidFill>
              <a:latin typeface="Inter"/>
              <a:ea typeface="Inter"/>
              <a:cs typeface="Inter"/>
              <a:sym typeface="Inter"/>
            </a:endParaRPr>
          </a:p>
        </p:txBody>
      </p:sp>
      <p:graphicFrame>
        <p:nvGraphicFramePr>
          <p:cNvPr id="424" name="Google Shape;424;p52"/>
          <p:cNvGraphicFramePr/>
          <p:nvPr/>
        </p:nvGraphicFramePr>
        <p:xfrm>
          <a:off x="4407388" y="1266113"/>
          <a:ext cx="3000000" cy="3000000"/>
        </p:xfrm>
        <a:graphic>
          <a:graphicData uri="http://schemas.openxmlformats.org/drawingml/2006/table">
            <a:tbl>
              <a:tblPr>
                <a:noFill/>
                <a:tableStyleId>{05CF1300-53F3-430B-9C35-424554A46B0A}</a:tableStyleId>
              </a:tblPr>
              <a:tblGrid>
                <a:gridCol w="689400"/>
                <a:gridCol w="644050"/>
                <a:gridCol w="775625"/>
                <a:gridCol w="796400"/>
                <a:gridCol w="664825"/>
                <a:gridCol w="650975"/>
              </a:tblGrid>
              <a:tr h="215350">
                <a:tc>
                  <a:txBody>
                    <a:bodyPr/>
                    <a:lstStyle/>
                    <a:p>
                      <a:pPr indent="0" lvl="0" marL="0" rtl="0" algn="ctr">
                        <a:lnSpc>
                          <a:spcPct val="115000"/>
                        </a:lnSpc>
                        <a:spcBef>
                          <a:spcPts val="0"/>
                        </a:spcBef>
                        <a:spcAft>
                          <a:spcPts val="0"/>
                        </a:spcAft>
                        <a:buNone/>
                      </a:pPr>
                      <a:r>
                        <a:rPr b="1" lang="en" sz="800"/>
                        <a:t>Date</a:t>
                      </a:r>
                      <a:endParaRPr b="1" sz="800"/>
                    </a:p>
                  </a:txBody>
                  <a:tcPr marT="19050" marB="19050" marR="28575" marL="28575" anchor="ctr">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800"/>
                        <a:t>Affiliate NMV</a:t>
                      </a:r>
                      <a:endParaRPr b="1" sz="800"/>
                    </a:p>
                  </a:txBody>
                  <a:tcPr marT="19050" marB="19050" marR="28575" marL="28575" anchor="ctr">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800"/>
                        <a:t>Commission</a:t>
                      </a:r>
                      <a:endParaRPr b="1" sz="800"/>
                    </a:p>
                  </a:txBody>
                  <a:tcPr marT="19050" marB="19050" marR="28575" marL="28575" anchor="ctr">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800"/>
                        <a:t>ROI</a:t>
                      </a:r>
                      <a:endParaRPr b="1" sz="800"/>
                    </a:p>
                  </a:txBody>
                  <a:tcPr marT="19050" marB="19050" marR="28575" marL="28575" anchor="ctr">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800"/>
                        <a:t>Cost Ratio</a:t>
                      </a:r>
                      <a:endParaRPr b="1" sz="800"/>
                    </a:p>
                  </a:txBody>
                  <a:tcPr marT="19050" marB="19050" marR="28575" marL="28575" anchor="ctr">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0"/>
                        </a:spcBef>
                        <a:spcAft>
                          <a:spcPts val="0"/>
                        </a:spcAft>
                        <a:buNone/>
                      </a:pPr>
                      <a:r>
                        <a:rPr b="1" lang="en" sz="800"/>
                        <a:t>Affiliates with Sales</a:t>
                      </a:r>
                      <a:endParaRPr b="1" sz="800"/>
                    </a:p>
                  </a:txBody>
                  <a:tcPr marT="19050" marB="19050" marR="28575" marL="28575" anchor="ctr">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C9DAF8"/>
                    </a:solidFill>
                  </a:tcPr>
                </a:tc>
              </a:tr>
              <a:tr h="215350">
                <a:tc>
                  <a:txBody>
                    <a:bodyPr/>
                    <a:lstStyle/>
                    <a:p>
                      <a:pPr indent="0" lvl="0" marL="0" rtl="0" algn="ctr">
                        <a:lnSpc>
                          <a:spcPct val="115000"/>
                        </a:lnSpc>
                        <a:spcBef>
                          <a:spcPts val="0"/>
                        </a:spcBef>
                        <a:spcAft>
                          <a:spcPts val="0"/>
                        </a:spcAft>
                        <a:buNone/>
                      </a:pPr>
                      <a:r>
                        <a:rPr lang="en" sz="800"/>
                        <a:t>8.8</a:t>
                      </a:r>
                      <a:endParaRPr sz="8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363,247,772</a:t>
                      </a:r>
                      <a:endParaRPr sz="8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35,062,700</a:t>
                      </a:r>
                      <a:endParaRPr sz="8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10.36</a:t>
                      </a:r>
                      <a:endParaRPr sz="8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9.65%</a:t>
                      </a:r>
                      <a:endParaRPr sz="8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1,114</a:t>
                      </a:r>
                      <a:endParaRPr sz="8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215350">
                <a:tc>
                  <a:txBody>
                    <a:bodyPr/>
                    <a:lstStyle/>
                    <a:p>
                      <a:pPr indent="0" lvl="0" marL="0" rtl="0" algn="ctr">
                        <a:lnSpc>
                          <a:spcPct val="115000"/>
                        </a:lnSpc>
                        <a:spcBef>
                          <a:spcPts val="0"/>
                        </a:spcBef>
                        <a:spcAft>
                          <a:spcPts val="0"/>
                        </a:spcAft>
                        <a:buNone/>
                      </a:pPr>
                      <a:r>
                        <a:rPr lang="en" sz="800"/>
                        <a:t>9.9</a:t>
                      </a:r>
                      <a:endParaRPr sz="8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383,383,861</a:t>
                      </a:r>
                      <a:endParaRPr sz="8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38,769,267</a:t>
                      </a:r>
                      <a:endParaRPr sz="8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9.89</a:t>
                      </a:r>
                      <a:endParaRPr sz="8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10.11%</a:t>
                      </a:r>
                      <a:endParaRPr sz="8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800"/>
                        <a:t>1,286</a:t>
                      </a:r>
                      <a:endParaRPr sz="8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118450">
                <a:tc>
                  <a:txBody>
                    <a:bodyPr/>
                    <a:lstStyle/>
                    <a:p>
                      <a:pPr indent="0" lvl="0" marL="0" rtl="0" algn="ctr">
                        <a:lnSpc>
                          <a:spcPct val="115000"/>
                        </a:lnSpc>
                        <a:spcBef>
                          <a:spcPts val="0"/>
                        </a:spcBef>
                        <a:spcAft>
                          <a:spcPts val="0"/>
                        </a:spcAft>
                        <a:buNone/>
                      </a:pPr>
                      <a:r>
                        <a:rPr b="1" lang="en" sz="800"/>
                        <a:t>Growth</a:t>
                      </a:r>
                      <a:endParaRPr b="1" sz="800"/>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39966"/>
                          </a:solidFill>
                        </a:rPr>
                        <a:t>5.54% ▲</a:t>
                      </a:r>
                      <a:endParaRPr b="1" sz="800">
                        <a:solidFill>
                          <a:srgbClr val="339966"/>
                        </a:solidFill>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39966"/>
                          </a:solidFill>
                        </a:rPr>
                        <a:t>10.57% ▲</a:t>
                      </a:r>
                      <a:endParaRPr b="1" sz="800">
                        <a:solidFill>
                          <a:srgbClr val="339966"/>
                        </a:solidFill>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FF0000"/>
                          </a:solidFill>
                        </a:rPr>
                        <a:t>-4.55% ▼</a:t>
                      </a:r>
                      <a:endParaRPr b="1" sz="800">
                        <a:solidFill>
                          <a:srgbClr val="FF0000"/>
                        </a:solidFill>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39966"/>
                          </a:solidFill>
                        </a:rPr>
                        <a:t>4.76% ▲</a:t>
                      </a:r>
                      <a:endParaRPr b="1" sz="800">
                        <a:solidFill>
                          <a:srgbClr val="339966"/>
                        </a:solidFill>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800">
                          <a:solidFill>
                            <a:srgbClr val="339966"/>
                          </a:solidFill>
                        </a:rPr>
                        <a:t>15.44% ▲</a:t>
                      </a:r>
                      <a:endParaRPr b="1" sz="800">
                        <a:solidFill>
                          <a:srgbClr val="339966"/>
                        </a:solidFill>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bl>
          </a:graphicData>
        </a:graphic>
      </p:graphicFrame>
      <p:pic>
        <p:nvPicPr>
          <p:cNvPr id="425" name="Google Shape;425;p52"/>
          <p:cNvPicPr preferRelativeResize="0"/>
          <p:nvPr/>
        </p:nvPicPr>
        <p:blipFill>
          <a:blip r:embed="rId4">
            <a:alphaModFix/>
          </a:blip>
          <a:stretch>
            <a:fillRect/>
          </a:stretch>
        </p:blipFill>
        <p:spPr>
          <a:xfrm>
            <a:off x="293200" y="891325"/>
            <a:ext cx="3311699" cy="4115025"/>
          </a:xfrm>
          <a:prstGeom prst="rect">
            <a:avLst/>
          </a:prstGeom>
          <a:noFill/>
          <a:ln>
            <a:noFill/>
          </a:ln>
        </p:spPr>
      </p:pic>
      <p:sp>
        <p:nvSpPr>
          <p:cNvPr id="426" name="Google Shape;426;p52"/>
          <p:cNvSpPr/>
          <p:nvPr/>
        </p:nvSpPr>
        <p:spPr>
          <a:xfrm>
            <a:off x="4159725" y="2623975"/>
            <a:ext cx="4716600" cy="2286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Inter"/>
                <a:ea typeface="Inter"/>
                <a:cs typeface="Inter"/>
                <a:sym typeface="Inter"/>
              </a:rPr>
              <a:t>Key Highlights</a:t>
            </a:r>
            <a:endParaRPr b="1" i="0" sz="1100" u="none" cap="none" strike="noStrike">
              <a:solidFill>
                <a:srgbClr val="FFFFFF"/>
              </a:solidFill>
              <a:latin typeface="Inter"/>
              <a:ea typeface="Inter"/>
              <a:cs typeface="Inter"/>
              <a:sym typeface="Inter"/>
            </a:endParaRPr>
          </a:p>
        </p:txBody>
      </p:sp>
      <p:sp>
        <p:nvSpPr>
          <p:cNvPr id="427" name="Google Shape;427;p52"/>
          <p:cNvSpPr txBox="1"/>
          <p:nvPr/>
        </p:nvSpPr>
        <p:spPr>
          <a:xfrm>
            <a:off x="3945775" y="2885705"/>
            <a:ext cx="4912800" cy="1655700"/>
          </a:xfrm>
          <a:prstGeom prst="rect">
            <a:avLst/>
          </a:prstGeom>
          <a:noFill/>
          <a:ln>
            <a:noFill/>
          </a:ln>
        </p:spPr>
        <p:txBody>
          <a:bodyPr anchorCtr="0" anchor="t" bIns="91425" lIns="91425" spcFirstLastPara="1" rIns="91425" wrap="square" tIns="91425">
            <a:noAutofit/>
          </a:bodyPr>
          <a:lstStyle/>
          <a:p>
            <a:pPr indent="-285750" lvl="0" marL="457200" rtl="0" algn="just">
              <a:lnSpc>
                <a:spcPct val="115000"/>
              </a:lnSpc>
              <a:spcBef>
                <a:spcPts val="0"/>
              </a:spcBef>
              <a:spcAft>
                <a:spcPts val="0"/>
              </a:spcAft>
              <a:buClr>
                <a:schemeClr val="dk1"/>
              </a:buClr>
              <a:buSzPts val="900"/>
              <a:buChar char="●"/>
            </a:pPr>
            <a:r>
              <a:rPr b="1" lang="en" sz="900">
                <a:solidFill>
                  <a:schemeClr val="dk1"/>
                </a:solidFill>
              </a:rPr>
              <a:t>Overall NMV +5.54%</a:t>
            </a:r>
            <a:r>
              <a:rPr lang="en" sz="900">
                <a:solidFill>
                  <a:schemeClr val="dk1"/>
                </a:solidFill>
              </a:rPr>
              <a:t>, with Affiliates with Sales up a stronger +15.44% — more participants.</a:t>
            </a:r>
            <a:endParaRPr sz="900">
              <a:solidFill>
                <a:schemeClr val="dk1"/>
              </a:solidFill>
            </a:endParaRPr>
          </a:p>
          <a:p>
            <a:pPr indent="-285750" lvl="0" marL="457200" rtl="0" algn="just">
              <a:lnSpc>
                <a:spcPct val="115000"/>
              </a:lnSpc>
              <a:spcBef>
                <a:spcPts val="0"/>
              </a:spcBef>
              <a:spcAft>
                <a:spcPts val="0"/>
              </a:spcAft>
              <a:buClr>
                <a:schemeClr val="dk1"/>
              </a:buClr>
              <a:buSzPts val="900"/>
              <a:buChar char="●"/>
            </a:pPr>
            <a:r>
              <a:rPr b="1" lang="en" sz="900">
                <a:solidFill>
                  <a:schemeClr val="dk1"/>
                </a:solidFill>
              </a:rPr>
              <a:t>Polident had a breakout day (+48.18%) </a:t>
            </a:r>
            <a:r>
              <a:rPr lang="en" sz="900">
                <a:solidFill>
                  <a:schemeClr val="dk1"/>
                </a:solidFill>
              </a:rPr>
              <a:t>— a sharp reversal from its ongoing monthly decline, worth digging into for a repeatable fix.</a:t>
            </a:r>
            <a:endParaRPr sz="900">
              <a:solidFill>
                <a:schemeClr val="dk1"/>
              </a:solidFill>
            </a:endParaRPr>
          </a:p>
          <a:p>
            <a:pPr indent="-285750" lvl="0" marL="457200" rtl="0" algn="just">
              <a:lnSpc>
                <a:spcPct val="115000"/>
              </a:lnSpc>
              <a:spcBef>
                <a:spcPts val="0"/>
              </a:spcBef>
              <a:spcAft>
                <a:spcPts val="0"/>
              </a:spcAft>
              <a:buClr>
                <a:schemeClr val="dk1"/>
              </a:buClr>
              <a:buSzPts val="900"/>
              <a:buChar char="●"/>
            </a:pPr>
            <a:r>
              <a:rPr b="1" lang="en" sz="900">
                <a:solidFill>
                  <a:schemeClr val="dk1"/>
                </a:solidFill>
              </a:rPr>
              <a:t>Scott's fell -27.32%</a:t>
            </a:r>
            <a:r>
              <a:rPr lang="en" sz="900">
                <a:solidFill>
                  <a:schemeClr val="dk1"/>
                </a:solidFill>
              </a:rPr>
              <a:t>, likely because OOS on Scott’s original variant.</a:t>
            </a:r>
            <a:endParaRPr sz="900">
              <a:solidFill>
                <a:schemeClr val="dk1"/>
              </a:solidFill>
            </a:endParaRPr>
          </a:p>
          <a:p>
            <a:pPr indent="-285750" lvl="0" marL="457200" rtl="0" algn="just">
              <a:lnSpc>
                <a:spcPct val="115000"/>
              </a:lnSpc>
              <a:spcBef>
                <a:spcPts val="0"/>
              </a:spcBef>
              <a:spcAft>
                <a:spcPts val="0"/>
              </a:spcAft>
              <a:buClr>
                <a:schemeClr val="dk1"/>
              </a:buClr>
              <a:buSzPts val="900"/>
              <a:buChar char="●"/>
            </a:pPr>
            <a:r>
              <a:rPr b="1" lang="en" sz="900">
                <a:solidFill>
                  <a:schemeClr val="dk1"/>
                </a:solidFill>
              </a:rPr>
              <a:t>Live was the strongest funnel (+11.57%)</a:t>
            </a:r>
            <a:r>
              <a:rPr lang="en" sz="900">
                <a:solidFill>
                  <a:schemeClr val="dk1"/>
                </a:solidFill>
              </a:rPr>
              <a:t>, Video was flat (-1.99%), Share Link grew modestly (+2.63%)</a:t>
            </a:r>
            <a:endParaRPr sz="900">
              <a:solidFill>
                <a:schemeClr val="dk1"/>
              </a:solidFill>
            </a:endParaRPr>
          </a:p>
        </p:txBody>
      </p:sp>
      <p:sp>
        <p:nvSpPr>
          <p:cNvPr id="428" name="Google Shape;428;p52"/>
          <p:cNvSpPr/>
          <p:nvPr/>
        </p:nvSpPr>
        <p:spPr>
          <a:xfrm>
            <a:off x="817650" y="1815625"/>
            <a:ext cx="760800" cy="1014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52"/>
          <p:cNvSpPr/>
          <p:nvPr/>
        </p:nvSpPr>
        <p:spPr>
          <a:xfrm>
            <a:off x="752575" y="3875925"/>
            <a:ext cx="657900" cy="1014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52"/>
          <p:cNvSpPr/>
          <p:nvPr/>
        </p:nvSpPr>
        <p:spPr>
          <a:xfrm>
            <a:off x="2822750" y="3875925"/>
            <a:ext cx="657900" cy="1014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3"/>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pic>
        <p:nvPicPr>
          <p:cNvPr id="436" name="Google Shape;436;p53"/>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sp>
        <p:nvSpPr>
          <p:cNvPr id="437" name="Google Shape;437;p53"/>
          <p:cNvSpPr txBox="1"/>
          <p:nvPr>
            <p:ph type="ctrTitle"/>
          </p:nvPr>
        </p:nvSpPr>
        <p:spPr>
          <a:xfrm>
            <a:off x="174550" y="131975"/>
            <a:ext cx="8655600" cy="837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Monthly Review August 2026</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Shopee Affiliates Performance </a:t>
            </a:r>
            <a:r>
              <a:rPr i="1" lang="en">
                <a:solidFill>
                  <a:srgbClr val="3880C1"/>
                </a:solidFill>
                <a:latin typeface="Inter"/>
                <a:ea typeface="Inter"/>
                <a:cs typeface="Inter"/>
                <a:sym typeface="Inter"/>
              </a:rPr>
              <a:t>(Centrum Recap)</a:t>
            </a:r>
            <a:endParaRPr i="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93785"/>
              <a:buFont typeface="Calibri"/>
              <a:buNone/>
            </a:pPr>
            <a:r>
              <a:t/>
            </a:r>
            <a:endParaRPr i="1" sz="1089">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t/>
            </a:r>
            <a:endParaRPr i="1" sz="1200">
              <a:solidFill>
                <a:srgbClr val="3880C1"/>
              </a:solidFill>
              <a:latin typeface="Inter"/>
              <a:ea typeface="Inter"/>
              <a:cs typeface="Inter"/>
              <a:sym typeface="Inter"/>
            </a:endParaRPr>
          </a:p>
        </p:txBody>
      </p:sp>
      <p:sp>
        <p:nvSpPr>
          <p:cNvPr id="438" name="Google Shape;438;p53"/>
          <p:cNvSpPr/>
          <p:nvPr/>
        </p:nvSpPr>
        <p:spPr>
          <a:xfrm>
            <a:off x="4274575" y="1393400"/>
            <a:ext cx="4674900" cy="2286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Inter"/>
                <a:ea typeface="Inter"/>
                <a:cs typeface="Inter"/>
                <a:sym typeface="Inter"/>
              </a:rPr>
              <a:t>Key Highlights</a:t>
            </a:r>
            <a:endParaRPr b="1" i="0" sz="1100" u="none" cap="none" strike="noStrike">
              <a:solidFill>
                <a:srgbClr val="FFFFFF"/>
              </a:solidFill>
              <a:latin typeface="Inter"/>
              <a:ea typeface="Inter"/>
              <a:cs typeface="Inter"/>
              <a:sym typeface="Inter"/>
            </a:endParaRPr>
          </a:p>
        </p:txBody>
      </p:sp>
      <p:pic>
        <p:nvPicPr>
          <p:cNvPr id="439" name="Google Shape;439;p53" title="Screenshot 2026-09-17 122018.png"/>
          <p:cNvPicPr preferRelativeResize="0"/>
          <p:nvPr/>
        </p:nvPicPr>
        <p:blipFill>
          <a:blip r:embed="rId4">
            <a:alphaModFix/>
          </a:blip>
          <a:stretch>
            <a:fillRect/>
          </a:stretch>
        </p:blipFill>
        <p:spPr>
          <a:xfrm>
            <a:off x="310475" y="854275"/>
            <a:ext cx="1453575" cy="2588550"/>
          </a:xfrm>
          <a:prstGeom prst="rect">
            <a:avLst/>
          </a:prstGeom>
          <a:noFill/>
          <a:ln>
            <a:noFill/>
          </a:ln>
        </p:spPr>
      </p:pic>
      <p:sp>
        <p:nvSpPr>
          <p:cNvPr id="440" name="Google Shape;440;p53"/>
          <p:cNvSpPr txBox="1"/>
          <p:nvPr/>
        </p:nvSpPr>
        <p:spPr>
          <a:xfrm>
            <a:off x="452250" y="3599275"/>
            <a:ext cx="1170000" cy="1178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900">
                <a:solidFill>
                  <a:schemeClr val="dk1"/>
                </a:solidFill>
              </a:rPr>
              <a:t>Video with Sales</a:t>
            </a:r>
            <a:endParaRPr b="1" sz="900">
              <a:solidFill>
                <a:schemeClr val="dk1"/>
              </a:solidFill>
            </a:endParaRPr>
          </a:p>
          <a:p>
            <a:pPr indent="0" lvl="0" marL="0" rtl="0" algn="ctr">
              <a:lnSpc>
                <a:spcPct val="115000"/>
              </a:lnSpc>
              <a:spcBef>
                <a:spcPts val="0"/>
              </a:spcBef>
              <a:spcAft>
                <a:spcPts val="0"/>
              </a:spcAft>
              <a:buNone/>
            </a:pPr>
            <a:r>
              <a:rPr lang="en" sz="900">
                <a:solidFill>
                  <a:schemeClr val="dk1"/>
                </a:solidFill>
              </a:rPr>
              <a:t>Rp 171,000</a:t>
            </a:r>
            <a:endParaRPr sz="900">
              <a:solidFill>
                <a:schemeClr val="dk1"/>
              </a:solidFill>
            </a:endParaRPr>
          </a:p>
          <a:p>
            <a:pPr indent="0" lvl="0" marL="0" rtl="0" algn="ctr">
              <a:lnSpc>
                <a:spcPct val="115000"/>
              </a:lnSpc>
              <a:spcBef>
                <a:spcPts val="0"/>
              </a:spcBef>
              <a:spcAft>
                <a:spcPts val="0"/>
              </a:spcAft>
              <a:buNone/>
            </a:pPr>
            <a:r>
              <a:t/>
            </a:r>
            <a:endParaRPr sz="900">
              <a:solidFill>
                <a:schemeClr val="dk1"/>
              </a:solidFill>
            </a:endParaRPr>
          </a:p>
          <a:p>
            <a:pPr indent="0" lvl="0" marL="0" rtl="0" algn="ctr">
              <a:lnSpc>
                <a:spcPct val="115000"/>
              </a:lnSpc>
              <a:spcBef>
                <a:spcPts val="0"/>
              </a:spcBef>
              <a:spcAft>
                <a:spcPts val="0"/>
              </a:spcAft>
              <a:buNone/>
            </a:pPr>
            <a:r>
              <a:rPr b="1" lang="en" sz="900">
                <a:solidFill>
                  <a:schemeClr val="dk1"/>
                </a:solidFill>
              </a:rPr>
              <a:t>Views</a:t>
            </a:r>
            <a:endParaRPr b="1" sz="900">
              <a:solidFill>
                <a:schemeClr val="dk1"/>
              </a:solidFill>
            </a:endParaRPr>
          </a:p>
          <a:p>
            <a:pPr indent="0" lvl="0" marL="0" rtl="0" algn="ctr">
              <a:lnSpc>
                <a:spcPct val="115000"/>
              </a:lnSpc>
              <a:spcBef>
                <a:spcPts val="0"/>
              </a:spcBef>
              <a:spcAft>
                <a:spcPts val="0"/>
              </a:spcAft>
              <a:buNone/>
            </a:pPr>
            <a:r>
              <a:rPr lang="en" sz="900">
                <a:solidFill>
                  <a:schemeClr val="dk1"/>
                </a:solidFill>
              </a:rPr>
              <a:t>&gt; 2000</a:t>
            </a:r>
            <a:endParaRPr sz="900">
              <a:solidFill>
                <a:schemeClr val="dk1"/>
              </a:solidFill>
            </a:endParaRPr>
          </a:p>
        </p:txBody>
      </p:sp>
      <p:pic>
        <p:nvPicPr>
          <p:cNvPr id="441" name="Google Shape;441;p53" title="Screenshot 2026-09-17 122542.png"/>
          <p:cNvPicPr preferRelativeResize="0"/>
          <p:nvPr/>
        </p:nvPicPr>
        <p:blipFill>
          <a:blip r:embed="rId5">
            <a:alphaModFix/>
          </a:blip>
          <a:stretch>
            <a:fillRect/>
          </a:stretch>
        </p:blipFill>
        <p:spPr>
          <a:xfrm>
            <a:off x="2477562" y="854275"/>
            <a:ext cx="1397225" cy="3013450"/>
          </a:xfrm>
          <a:prstGeom prst="rect">
            <a:avLst/>
          </a:prstGeom>
          <a:noFill/>
          <a:ln>
            <a:noFill/>
          </a:ln>
        </p:spPr>
      </p:pic>
      <p:sp>
        <p:nvSpPr>
          <p:cNvPr id="442" name="Google Shape;442;p53"/>
          <p:cNvSpPr txBox="1"/>
          <p:nvPr/>
        </p:nvSpPr>
        <p:spPr>
          <a:xfrm>
            <a:off x="2591163" y="3923750"/>
            <a:ext cx="1170000" cy="1178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900">
                <a:solidFill>
                  <a:schemeClr val="dk1"/>
                </a:solidFill>
              </a:rPr>
              <a:t>Live Streaming session</a:t>
            </a:r>
            <a:endParaRPr sz="900">
              <a:solidFill>
                <a:schemeClr val="dk1"/>
              </a:solidFill>
            </a:endParaRPr>
          </a:p>
        </p:txBody>
      </p:sp>
      <p:sp>
        <p:nvSpPr>
          <p:cNvPr id="443" name="Google Shape;443;p53"/>
          <p:cNvSpPr txBox="1"/>
          <p:nvPr/>
        </p:nvSpPr>
        <p:spPr>
          <a:xfrm>
            <a:off x="4155625" y="1873743"/>
            <a:ext cx="4912800" cy="16557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1200"/>
              </a:spcBef>
              <a:spcAft>
                <a:spcPts val="0"/>
              </a:spcAft>
              <a:buClr>
                <a:schemeClr val="dk1"/>
              </a:buClr>
              <a:buSzPts val="1000"/>
              <a:buChar char="●"/>
            </a:pPr>
            <a:r>
              <a:rPr b="1" lang="en" sz="1000">
                <a:solidFill>
                  <a:schemeClr val="dk1"/>
                </a:solidFill>
              </a:rPr>
              <a:t>Top-Selling Video:</a:t>
            </a:r>
            <a:r>
              <a:rPr lang="en" sz="1000">
                <a:solidFill>
                  <a:schemeClr val="dk1"/>
                </a:solidFill>
              </a:rPr>
              <a:t> Centrum’s highest-performing sales video was driven by a </a:t>
            </a:r>
            <a:r>
              <a:rPr b="1" lang="en" sz="1000">
                <a:solidFill>
                  <a:schemeClr val="dk1"/>
                </a:solidFill>
              </a:rPr>
              <a:t>Product Knowledge-focused content approach</a:t>
            </a:r>
            <a:r>
              <a:rPr lang="en" sz="1000">
                <a:solidFill>
                  <a:schemeClr val="dk1"/>
                </a:solidFill>
              </a:rPr>
              <a:t>, highlighting product benefits and information to support purchase consideration.</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Shopee Video Performance:</a:t>
            </a:r>
            <a:r>
              <a:rPr lang="en" sz="1000">
                <a:solidFill>
                  <a:schemeClr val="dk1"/>
                </a:solidFill>
              </a:rPr>
              <a:t> The video generated </a:t>
            </a:r>
            <a:r>
              <a:rPr b="1" lang="en" sz="1000">
                <a:solidFill>
                  <a:schemeClr val="dk1"/>
                </a:solidFill>
              </a:rPr>
              <a:t>Rp171K in sales</a:t>
            </a:r>
            <a:r>
              <a:rPr lang="en" sz="1000">
                <a:solidFill>
                  <a:schemeClr val="dk1"/>
                </a:solidFill>
              </a:rPr>
              <a:t> with </a:t>
            </a:r>
            <a:r>
              <a:rPr b="1" lang="en" sz="1000">
                <a:solidFill>
                  <a:schemeClr val="dk1"/>
                </a:solidFill>
              </a:rPr>
              <a:t>2,000+ views</a:t>
            </a:r>
            <a:r>
              <a:rPr lang="en" sz="1000">
                <a:solidFill>
                  <a:schemeClr val="dk1"/>
                </a:solidFill>
              </a:rPr>
              <a:t>, showing potential for product education content to drive conversion.</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en" sz="1000">
                <a:solidFill>
                  <a:schemeClr val="dk1"/>
                </a:solidFill>
              </a:rPr>
              <a:t>Live Streaming:</a:t>
            </a:r>
            <a:r>
              <a:rPr lang="en" sz="1000">
                <a:solidFill>
                  <a:schemeClr val="dk1"/>
                </a:solidFill>
              </a:rPr>
              <a:t> Centrum was also included in </a:t>
            </a:r>
            <a:r>
              <a:rPr b="1" lang="en" sz="1000">
                <a:solidFill>
                  <a:schemeClr val="dk1"/>
                </a:solidFill>
              </a:rPr>
              <a:t>HSL (Haleon Super Live)</a:t>
            </a:r>
            <a:r>
              <a:rPr lang="en" sz="1000">
                <a:solidFill>
                  <a:schemeClr val="dk1"/>
                </a:solidFill>
              </a:rPr>
              <a:t> sessions to increase product exposure and leverage live commerce opportunities.</a:t>
            </a:r>
            <a:endParaRPr b="1" sz="8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4"/>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pic>
        <p:nvPicPr>
          <p:cNvPr id="449" name="Google Shape;449;p54"/>
          <p:cNvPicPr preferRelativeResize="0"/>
          <p:nvPr/>
        </p:nvPicPr>
        <p:blipFill rotWithShape="1">
          <a:blip r:embed="rId4">
            <a:alphaModFix/>
          </a:blip>
          <a:srcRect b="0" l="0" r="0" t="0"/>
          <a:stretch/>
        </p:blipFill>
        <p:spPr>
          <a:xfrm rot="10800000">
            <a:off x="-4151" y="0"/>
            <a:ext cx="9148151" cy="79825"/>
          </a:xfrm>
          <a:prstGeom prst="rect">
            <a:avLst/>
          </a:prstGeom>
          <a:noFill/>
          <a:ln>
            <a:noFill/>
          </a:ln>
        </p:spPr>
      </p:pic>
      <p:pic>
        <p:nvPicPr>
          <p:cNvPr id="450" name="Google Shape;450;p54"/>
          <p:cNvPicPr preferRelativeResize="0"/>
          <p:nvPr/>
        </p:nvPicPr>
        <p:blipFill rotWithShape="1">
          <a:blip r:embed="rId5">
            <a:alphaModFix/>
          </a:blip>
          <a:srcRect b="0" l="0" r="0" t="12564"/>
          <a:stretch/>
        </p:blipFill>
        <p:spPr>
          <a:xfrm>
            <a:off x="7406900" y="121550"/>
            <a:ext cx="634924" cy="451775"/>
          </a:xfrm>
          <a:prstGeom prst="rect">
            <a:avLst/>
          </a:prstGeom>
          <a:noFill/>
          <a:ln>
            <a:noFill/>
          </a:ln>
        </p:spPr>
      </p:pic>
      <p:sp>
        <p:nvSpPr>
          <p:cNvPr id="451" name="Google Shape;451;p54"/>
          <p:cNvSpPr txBox="1"/>
          <p:nvPr>
            <p:ph type="ctrTitle"/>
          </p:nvPr>
        </p:nvSpPr>
        <p:spPr>
          <a:xfrm>
            <a:off x="174550" y="131975"/>
            <a:ext cx="8655600" cy="695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B2B Overview</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Overall Performance</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rPr i="1" lang="en" sz="1200">
                <a:solidFill>
                  <a:srgbClr val="3880C1"/>
                </a:solidFill>
                <a:latin typeface="Inter"/>
                <a:ea typeface="Inter"/>
                <a:cs typeface="Inter"/>
                <a:sym typeface="Inter"/>
              </a:rPr>
              <a:t>Overall achievement at 70%, month-on-month growth -46% (-Rp1.85 bio)</a:t>
            </a:r>
            <a:endParaRPr i="1" sz="1200">
              <a:solidFill>
                <a:srgbClr val="3880C1"/>
              </a:solidFill>
              <a:latin typeface="Inter"/>
              <a:ea typeface="Inter"/>
              <a:cs typeface="Inter"/>
              <a:sym typeface="Inter"/>
            </a:endParaRPr>
          </a:p>
        </p:txBody>
      </p:sp>
      <p:sp>
        <p:nvSpPr>
          <p:cNvPr id="452" name="Google Shape;452;p54"/>
          <p:cNvSpPr/>
          <p:nvPr/>
        </p:nvSpPr>
        <p:spPr>
          <a:xfrm>
            <a:off x="4460650" y="991975"/>
            <a:ext cx="4491600" cy="219300"/>
          </a:xfrm>
          <a:prstGeom prst="rect">
            <a:avLst/>
          </a:prstGeom>
          <a:solidFill>
            <a:srgbClr val="0B5394"/>
          </a:solidFill>
          <a:ln>
            <a:noFill/>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Clr>
                <a:schemeClr val="dk1"/>
              </a:buClr>
              <a:buSzPts val="1000"/>
              <a:buFont typeface="Arial"/>
              <a:buNone/>
            </a:pPr>
            <a:r>
              <a:rPr b="1" i="0" lang="en" sz="1000" u="none" cap="none" strike="noStrike">
                <a:solidFill>
                  <a:schemeClr val="lt1"/>
                </a:solidFill>
                <a:latin typeface="Inter"/>
                <a:ea typeface="Inter"/>
                <a:cs typeface="Inter"/>
                <a:sym typeface="Inter"/>
              </a:rPr>
              <a:t>Sales Contribution on Brand Level</a:t>
            </a:r>
            <a:endParaRPr b="1" i="0" sz="1000" u="none" cap="none" strike="noStrike">
              <a:solidFill>
                <a:srgbClr val="FFFFFF"/>
              </a:solidFill>
              <a:latin typeface="Inter"/>
              <a:ea typeface="Inter"/>
              <a:cs typeface="Inter"/>
              <a:sym typeface="Inter"/>
            </a:endParaRPr>
          </a:p>
        </p:txBody>
      </p:sp>
      <p:sp>
        <p:nvSpPr>
          <p:cNvPr id="453" name="Google Shape;453;p54"/>
          <p:cNvSpPr/>
          <p:nvPr/>
        </p:nvSpPr>
        <p:spPr>
          <a:xfrm>
            <a:off x="4460650" y="3702775"/>
            <a:ext cx="4491600" cy="219300"/>
          </a:xfrm>
          <a:prstGeom prst="rect">
            <a:avLst/>
          </a:prstGeom>
          <a:solidFill>
            <a:srgbClr val="0B5394"/>
          </a:solidFill>
          <a:ln>
            <a:noFill/>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Clr>
                <a:schemeClr val="dk1"/>
              </a:buClr>
              <a:buSzPts val="1000"/>
              <a:buFont typeface="Arial"/>
              <a:buNone/>
            </a:pPr>
            <a:r>
              <a:rPr b="1" i="0" lang="en" sz="1000" u="none" cap="none" strike="noStrike">
                <a:solidFill>
                  <a:schemeClr val="lt1"/>
                </a:solidFill>
                <a:latin typeface="Inter"/>
                <a:ea typeface="Inter"/>
                <a:cs typeface="Inter"/>
                <a:sym typeface="Inter"/>
              </a:rPr>
              <a:t>Key Insights</a:t>
            </a:r>
            <a:endParaRPr b="1" i="0" sz="1000" u="none" cap="none" strike="noStrike">
              <a:solidFill>
                <a:srgbClr val="FFFFFF"/>
              </a:solidFill>
              <a:latin typeface="Inter"/>
              <a:ea typeface="Inter"/>
              <a:cs typeface="Inter"/>
              <a:sym typeface="Inter"/>
            </a:endParaRPr>
          </a:p>
        </p:txBody>
      </p:sp>
      <p:sp>
        <p:nvSpPr>
          <p:cNvPr id="454" name="Google Shape;454;p54"/>
          <p:cNvSpPr txBox="1"/>
          <p:nvPr/>
        </p:nvSpPr>
        <p:spPr>
          <a:xfrm>
            <a:off x="4377280" y="4348375"/>
            <a:ext cx="1447800" cy="4164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700"/>
              <a:buFont typeface="Arial"/>
              <a:buNone/>
            </a:pPr>
            <a:r>
              <a:rPr b="0" i="0" lang="en" sz="700" u="none" cap="none" strike="noStrike">
                <a:solidFill>
                  <a:srgbClr val="000000"/>
                </a:solidFill>
                <a:latin typeface="Inter"/>
                <a:ea typeface="Inter"/>
                <a:cs typeface="Inter"/>
                <a:sym typeface="Inter"/>
              </a:rPr>
              <a:t>Month-on-month decreased. Compared </a:t>
            </a:r>
            <a:r>
              <a:rPr lang="en" sz="700">
                <a:latin typeface="Inter"/>
                <a:ea typeface="Inter"/>
                <a:cs typeface="Inter"/>
                <a:sym typeface="Inter"/>
              </a:rPr>
              <a:t>July</a:t>
            </a:r>
            <a:r>
              <a:rPr b="0" i="0" lang="en" sz="700" u="none" cap="none" strike="noStrike">
                <a:solidFill>
                  <a:srgbClr val="000000"/>
                </a:solidFill>
                <a:latin typeface="Inter"/>
                <a:ea typeface="Inter"/>
                <a:cs typeface="Inter"/>
                <a:sym typeface="Inter"/>
              </a:rPr>
              <a:t> at Rp</a:t>
            </a:r>
            <a:r>
              <a:rPr lang="en" sz="700">
                <a:latin typeface="Inter"/>
                <a:ea typeface="Inter"/>
                <a:cs typeface="Inter"/>
                <a:sym typeface="Inter"/>
              </a:rPr>
              <a:t>3.6 B</a:t>
            </a:r>
            <a:r>
              <a:rPr b="0" i="0" lang="en" sz="700" u="none" cap="none" strike="noStrike">
                <a:solidFill>
                  <a:srgbClr val="000000"/>
                </a:solidFill>
                <a:latin typeface="Inter"/>
                <a:ea typeface="Inter"/>
                <a:cs typeface="Inter"/>
                <a:sym typeface="Inter"/>
              </a:rPr>
              <a:t>io</a:t>
            </a:r>
            <a:endParaRPr b="0" i="0" sz="700" u="none" cap="none" strike="noStrike">
              <a:solidFill>
                <a:srgbClr val="000000"/>
              </a:solidFill>
              <a:latin typeface="Inter"/>
              <a:ea typeface="Inter"/>
              <a:cs typeface="Inter"/>
              <a:sym typeface="Inter"/>
            </a:endParaRPr>
          </a:p>
        </p:txBody>
      </p:sp>
      <p:sp>
        <p:nvSpPr>
          <p:cNvPr id="455" name="Google Shape;455;p54"/>
          <p:cNvSpPr txBox="1"/>
          <p:nvPr/>
        </p:nvSpPr>
        <p:spPr>
          <a:xfrm>
            <a:off x="5769623" y="4348376"/>
            <a:ext cx="1649400" cy="4164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700"/>
              <a:buFont typeface="Arial"/>
              <a:buNone/>
            </a:pPr>
            <a:r>
              <a:rPr b="0" i="0" lang="en" sz="700" u="none" cap="none" strike="noStrike">
                <a:solidFill>
                  <a:srgbClr val="000000"/>
                </a:solidFill>
                <a:latin typeface="Inter"/>
                <a:ea typeface="Inter"/>
                <a:cs typeface="Inter"/>
                <a:sym typeface="Inter"/>
              </a:rPr>
              <a:t>Sensodyne remains the main sales contributor at 7</a:t>
            </a:r>
            <a:r>
              <a:rPr lang="en" sz="700">
                <a:latin typeface="Inter"/>
                <a:ea typeface="Inter"/>
                <a:cs typeface="Inter"/>
                <a:sym typeface="Inter"/>
              </a:rPr>
              <a:t>1</a:t>
            </a:r>
            <a:r>
              <a:rPr b="0" i="0" lang="en" sz="700" u="none" cap="none" strike="noStrike">
                <a:solidFill>
                  <a:srgbClr val="000000"/>
                </a:solidFill>
                <a:latin typeface="Inter"/>
                <a:ea typeface="Inter"/>
                <a:cs typeface="Inter"/>
                <a:sym typeface="Inter"/>
              </a:rPr>
              <a:t>%.</a:t>
            </a:r>
            <a:endParaRPr b="0" i="0" sz="700" u="none" cap="none" strike="noStrike">
              <a:solidFill>
                <a:srgbClr val="000000"/>
              </a:solidFill>
              <a:latin typeface="Inter"/>
              <a:ea typeface="Inter"/>
              <a:cs typeface="Inter"/>
              <a:sym typeface="Inter"/>
            </a:endParaRPr>
          </a:p>
        </p:txBody>
      </p:sp>
      <p:sp>
        <p:nvSpPr>
          <p:cNvPr id="456" name="Google Shape;456;p54"/>
          <p:cNvSpPr txBox="1"/>
          <p:nvPr/>
        </p:nvSpPr>
        <p:spPr>
          <a:xfrm>
            <a:off x="4453150" y="3957050"/>
            <a:ext cx="12669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200"/>
              <a:buFont typeface="Arial"/>
              <a:buNone/>
            </a:pPr>
            <a:r>
              <a:rPr b="1" lang="en" sz="2200">
                <a:solidFill>
                  <a:srgbClr val="EA4335"/>
                </a:solidFill>
                <a:latin typeface="Inter"/>
                <a:ea typeface="Inter"/>
                <a:cs typeface="Inter"/>
                <a:sym typeface="Inter"/>
              </a:rPr>
              <a:t>-46%</a:t>
            </a:r>
            <a:endParaRPr b="1" i="0" sz="2200" u="none" cap="none" strike="noStrike">
              <a:solidFill>
                <a:srgbClr val="EA4335"/>
              </a:solidFill>
              <a:latin typeface="Inter"/>
              <a:ea typeface="Inter"/>
              <a:cs typeface="Inter"/>
              <a:sym typeface="Inter"/>
            </a:endParaRPr>
          </a:p>
        </p:txBody>
      </p:sp>
      <p:pic>
        <p:nvPicPr>
          <p:cNvPr id="457" name="Google Shape;457;p54"/>
          <p:cNvPicPr preferRelativeResize="0"/>
          <p:nvPr/>
        </p:nvPicPr>
        <p:blipFill rotWithShape="1">
          <a:blip r:embed="rId6">
            <a:alphaModFix/>
          </a:blip>
          <a:srcRect b="34907" l="0" r="0" t="35784"/>
          <a:stretch/>
        </p:blipFill>
        <p:spPr>
          <a:xfrm>
            <a:off x="6039820" y="4037475"/>
            <a:ext cx="1225175" cy="362350"/>
          </a:xfrm>
          <a:prstGeom prst="rect">
            <a:avLst/>
          </a:prstGeom>
          <a:noFill/>
          <a:ln>
            <a:noFill/>
          </a:ln>
        </p:spPr>
      </p:pic>
      <p:sp>
        <p:nvSpPr>
          <p:cNvPr id="458" name="Google Shape;458;p54"/>
          <p:cNvSpPr txBox="1"/>
          <p:nvPr/>
        </p:nvSpPr>
        <p:spPr>
          <a:xfrm>
            <a:off x="7413369" y="4348375"/>
            <a:ext cx="1687800" cy="4164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700"/>
              <a:buFont typeface="Arial"/>
              <a:buNone/>
            </a:pPr>
            <a:r>
              <a:rPr lang="en" sz="700">
                <a:latin typeface="Inter"/>
                <a:ea typeface="Inter"/>
                <a:cs typeface="Inter"/>
                <a:sym typeface="Inter"/>
              </a:rPr>
              <a:t>Vitamin Discount sell in continue to increase month over month.</a:t>
            </a:r>
            <a:endParaRPr b="0" i="0" sz="700" u="none" cap="none" strike="noStrike">
              <a:solidFill>
                <a:srgbClr val="000000"/>
              </a:solidFill>
              <a:latin typeface="Inter"/>
              <a:ea typeface="Inter"/>
              <a:cs typeface="Inter"/>
              <a:sym typeface="Inter"/>
            </a:endParaRPr>
          </a:p>
        </p:txBody>
      </p:sp>
      <p:pic>
        <p:nvPicPr>
          <p:cNvPr id="459" name="Google Shape;459;p54" title="Chart"/>
          <p:cNvPicPr preferRelativeResize="0"/>
          <p:nvPr/>
        </p:nvPicPr>
        <p:blipFill>
          <a:blip r:embed="rId7">
            <a:alphaModFix/>
          </a:blip>
          <a:stretch>
            <a:fillRect/>
          </a:stretch>
        </p:blipFill>
        <p:spPr>
          <a:xfrm>
            <a:off x="4851634" y="1338925"/>
            <a:ext cx="3536442" cy="2186700"/>
          </a:xfrm>
          <a:prstGeom prst="rect">
            <a:avLst/>
          </a:prstGeom>
          <a:noFill/>
          <a:ln>
            <a:noFill/>
          </a:ln>
        </p:spPr>
      </p:pic>
      <p:graphicFrame>
        <p:nvGraphicFramePr>
          <p:cNvPr id="460" name="Google Shape;460;p54"/>
          <p:cNvGraphicFramePr/>
          <p:nvPr/>
        </p:nvGraphicFramePr>
        <p:xfrm>
          <a:off x="224800" y="1011704"/>
          <a:ext cx="3000000" cy="3000000"/>
        </p:xfrm>
        <a:graphic>
          <a:graphicData uri="http://schemas.openxmlformats.org/drawingml/2006/table">
            <a:tbl>
              <a:tblPr>
                <a:noFill/>
                <a:tableStyleId>{05CF1300-53F3-430B-9C35-424554A46B0A}</a:tableStyleId>
              </a:tblPr>
              <a:tblGrid>
                <a:gridCol w="1493650"/>
                <a:gridCol w="1090925"/>
                <a:gridCol w="858775"/>
                <a:gridCol w="709125"/>
              </a:tblGrid>
              <a:tr h="234350">
                <a:tc gridSpan="4">
                  <a:txBody>
                    <a:bodyPr/>
                    <a:lstStyle/>
                    <a:p>
                      <a:pPr indent="0" lvl="0" marL="0" rtl="0" algn="ctr">
                        <a:lnSpc>
                          <a:spcPct val="115000"/>
                        </a:lnSpc>
                        <a:spcBef>
                          <a:spcPts val="0"/>
                        </a:spcBef>
                        <a:spcAft>
                          <a:spcPts val="0"/>
                        </a:spcAft>
                        <a:buNone/>
                      </a:pPr>
                      <a:r>
                        <a:rPr b="1" lang="en" sz="1000">
                          <a:solidFill>
                            <a:srgbClr val="FFFFFF"/>
                          </a:solidFill>
                        </a:rPr>
                        <a:t>Platform Performance</a:t>
                      </a:r>
                      <a:endParaRPr b="1" sz="1000">
                        <a:solidFill>
                          <a:srgbClr val="FFFFFF"/>
                        </a:solidFill>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B5394"/>
                    </a:solidFill>
                  </a:tcPr>
                </a:tc>
                <a:tc hMerge="1"/>
                <a:tc hMerge="1"/>
                <a:tc hMerge="1"/>
              </a:tr>
              <a:tr h="189750">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Platform</a:t>
                      </a:r>
                      <a:endParaRPr b="1" sz="800">
                        <a:solidFill>
                          <a:srgbClr val="FFFFFF"/>
                        </a:solidFill>
                        <a:latin typeface="Inter"/>
                        <a:ea typeface="Inter"/>
                        <a:cs typeface="Inter"/>
                        <a:sym typeface="Inter"/>
                      </a:endParaRPr>
                    </a:p>
                  </a:txBody>
                  <a:tcPr marT="19050" marB="19050" marR="28575" marL="2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A86E8"/>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Target</a:t>
                      </a:r>
                      <a:endParaRPr b="1" sz="800">
                        <a:solidFill>
                          <a:srgbClr val="FFFFFF"/>
                        </a:solidFill>
                        <a:latin typeface="Inter"/>
                        <a:ea typeface="Inter"/>
                        <a:cs typeface="Inter"/>
                        <a:sym typeface="Inter"/>
                      </a:endParaRPr>
                    </a:p>
                  </a:txBody>
                  <a:tcPr marT="19050" marB="19050" marR="28575" marL="2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A86E8"/>
                    </a:solidFill>
                  </a:tcPr>
                </a:tc>
                <a:tc>
                  <a:txBody>
                    <a:bodyPr/>
                    <a:lstStyle/>
                    <a:p>
                      <a:pPr indent="0" lvl="0" marL="0" rtl="0" algn="ctr">
                        <a:lnSpc>
                          <a:spcPct val="115000"/>
                        </a:lnSpc>
                        <a:spcBef>
                          <a:spcPts val="0"/>
                        </a:spcBef>
                        <a:spcAft>
                          <a:spcPts val="0"/>
                        </a:spcAft>
                        <a:buNone/>
                      </a:pPr>
                      <a:r>
                        <a:rPr b="1" lang="en" sz="800">
                          <a:solidFill>
                            <a:srgbClr val="FFFFFF"/>
                          </a:solidFill>
                          <a:latin typeface="Inter"/>
                          <a:ea typeface="Inter"/>
                          <a:cs typeface="Inter"/>
                          <a:sym typeface="Inter"/>
                        </a:rPr>
                        <a:t>Actual PO</a:t>
                      </a:r>
                      <a:endParaRPr b="1" sz="800">
                        <a:solidFill>
                          <a:srgbClr val="FFFFFF"/>
                        </a:solidFill>
                        <a:latin typeface="Inter"/>
                        <a:ea typeface="Inter"/>
                        <a:cs typeface="Inter"/>
                        <a:sym typeface="Inter"/>
                      </a:endParaRPr>
                    </a:p>
                  </a:txBody>
                  <a:tcPr marT="19050" marB="19050" marR="28575" marL="2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A86E8"/>
                    </a:solidFill>
                  </a:tcPr>
                </a:tc>
                <a:tc>
                  <a:txBody>
                    <a:bodyPr/>
                    <a:lstStyle/>
                    <a:p>
                      <a:pPr indent="0" lvl="0" marL="0" rtl="0" algn="l">
                        <a:lnSpc>
                          <a:spcPct val="115000"/>
                        </a:lnSpc>
                        <a:spcBef>
                          <a:spcPts val="0"/>
                        </a:spcBef>
                        <a:spcAft>
                          <a:spcPts val="0"/>
                        </a:spcAft>
                        <a:buNone/>
                      </a:pPr>
                      <a:r>
                        <a:rPr b="1" lang="en" sz="800">
                          <a:solidFill>
                            <a:srgbClr val="FFFFFF"/>
                          </a:solidFill>
                          <a:latin typeface="Inter"/>
                          <a:ea typeface="Inter"/>
                          <a:cs typeface="Inter"/>
                          <a:sym typeface="Inter"/>
                        </a:rPr>
                        <a:t>       Ach (%)</a:t>
                      </a:r>
                      <a:endParaRPr b="1" sz="800">
                        <a:solidFill>
                          <a:srgbClr val="FFFFFF"/>
                        </a:solidFill>
                        <a:latin typeface="Inter"/>
                        <a:ea typeface="Inter"/>
                        <a:cs typeface="Inter"/>
                        <a:sym typeface="Inter"/>
                      </a:endParaRPr>
                    </a:p>
                  </a:txBody>
                  <a:tcPr marT="19050" marB="19050" marR="28575" marL="285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A86E8"/>
                    </a:solidFill>
                  </a:tcPr>
                </a:tc>
              </a:tr>
              <a:tr h="189750">
                <a:tc>
                  <a:txBody>
                    <a:bodyPr/>
                    <a:lstStyle/>
                    <a:p>
                      <a:pPr indent="0" lvl="0" marL="0" rtl="0" algn="l">
                        <a:lnSpc>
                          <a:spcPct val="115000"/>
                        </a:lnSpc>
                        <a:spcBef>
                          <a:spcPts val="0"/>
                        </a:spcBef>
                        <a:spcAft>
                          <a:spcPts val="0"/>
                        </a:spcAft>
                        <a:buNone/>
                      </a:pPr>
                      <a:r>
                        <a:rPr lang="en" sz="700">
                          <a:latin typeface="Inter"/>
                          <a:ea typeface="Inter"/>
                          <a:cs typeface="Inter"/>
                          <a:sym typeface="Inter"/>
                        </a:rPr>
                        <a:t>ALLO FRESH</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7A8"/>
                    </a:solidFill>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4,000,000</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7A8"/>
                    </a:solidFill>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8,578,080</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en" sz="700">
                          <a:latin typeface="Inter"/>
                          <a:ea typeface="Inter"/>
                          <a:cs typeface="Inter"/>
                          <a:sym typeface="Inter"/>
                        </a:rPr>
                        <a:t>214%</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7A8"/>
                    </a:solidFill>
                  </a:tcPr>
                </a:tc>
              </a:tr>
              <a:tr h="189750">
                <a:tc>
                  <a:txBody>
                    <a:bodyPr/>
                    <a:lstStyle/>
                    <a:p>
                      <a:pPr indent="0" lvl="0" marL="0" rtl="0" algn="l">
                        <a:lnSpc>
                          <a:spcPct val="115000"/>
                        </a:lnSpc>
                        <a:spcBef>
                          <a:spcPts val="0"/>
                        </a:spcBef>
                        <a:spcAft>
                          <a:spcPts val="0"/>
                        </a:spcAft>
                        <a:buNone/>
                      </a:pPr>
                      <a:r>
                        <a:rPr lang="en" sz="700">
                          <a:latin typeface="Inter"/>
                          <a:ea typeface="Inter"/>
                          <a:cs typeface="Inter"/>
                          <a:sym typeface="Inter"/>
                        </a:rPr>
                        <a:t>LAZADA</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7A8"/>
                    </a:solidFill>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45,000,000</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7A8"/>
                    </a:solidFill>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66,970,296</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en" sz="700">
                          <a:latin typeface="Inter"/>
                          <a:ea typeface="Inter"/>
                          <a:cs typeface="Inter"/>
                          <a:sym typeface="Inter"/>
                        </a:rPr>
                        <a:t>149%</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7A8"/>
                    </a:solidFill>
                  </a:tcPr>
                </a:tc>
              </a:tr>
              <a:tr h="189750">
                <a:tc>
                  <a:txBody>
                    <a:bodyPr/>
                    <a:lstStyle/>
                    <a:p>
                      <a:pPr indent="0" lvl="0" marL="0" rtl="0" algn="l">
                        <a:lnSpc>
                          <a:spcPct val="115000"/>
                        </a:lnSpc>
                        <a:spcBef>
                          <a:spcPts val="0"/>
                        </a:spcBef>
                        <a:spcAft>
                          <a:spcPts val="0"/>
                        </a:spcAft>
                        <a:buNone/>
                      </a:pPr>
                      <a:r>
                        <a:rPr lang="en" sz="700">
                          <a:latin typeface="Inter"/>
                          <a:ea typeface="Inter"/>
                          <a:cs typeface="Inter"/>
                          <a:sym typeface="Inter"/>
                        </a:rPr>
                        <a:t>BLIBLI</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7A8"/>
                    </a:solidFill>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50,000,000</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7A8"/>
                    </a:solidFill>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60,969,630</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en" sz="700">
                          <a:latin typeface="Inter"/>
                          <a:ea typeface="Inter"/>
                          <a:cs typeface="Inter"/>
                          <a:sym typeface="Inter"/>
                        </a:rPr>
                        <a:t>122%</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7A8"/>
                    </a:solidFill>
                  </a:tcPr>
                </a:tc>
              </a:tr>
              <a:tr h="189750">
                <a:tc>
                  <a:txBody>
                    <a:bodyPr/>
                    <a:lstStyle/>
                    <a:p>
                      <a:pPr indent="0" lvl="0" marL="0" rtl="0" algn="l">
                        <a:lnSpc>
                          <a:spcPct val="115000"/>
                        </a:lnSpc>
                        <a:spcBef>
                          <a:spcPts val="0"/>
                        </a:spcBef>
                        <a:spcAft>
                          <a:spcPts val="0"/>
                        </a:spcAft>
                        <a:buNone/>
                      </a:pPr>
                      <a:r>
                        <a:rPr lang="en" sz="700">
                          <a:latin typeface="Inter"/>
                          <a:ea typeface="Inter"/>
                          <a:cs typeface="Inter"/>
                          <a:sym typeface="Inter"/>
                        </a:rPr>
                        <a:t>GRAB MART</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7A8"/>
                    </a:solidFill>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24,000,000</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7A8"/>
                    </a:solidFill>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27,834,320</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en" sz="700">
                          <a:latin typeface="Inter"/>
                          <a:ea typeface="Inter"/>
                          <a:cs typeface="Inter"/>
                          <a:sym typeface="Inter"/>
                        </a:rPr>
                        <a:t>116%</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7A8"/>
                    </a:solidFill>
                  </a:tcPr>
                </a:tc>
              </a:tr>
              <a:tr h="189750">
                <a:tc>
                  <a:txBody>
                    <a:bodyPr/>
                    <a:lstStyle/>
                    <a:p>
                      <a:pPr indent="0" lvl="0" marL="0" rtl="0" algn="l">
                        <a:lnSpc>
                          <a:spcPct val="115000"/>
                        </a:lnSpc>
                        <a:spcBef>
                          <a:spcPts val="0"/>
                        </a:spcBef>
                        <a:spcAft>
                          <a:spcPts val="0"/>
                        </a:spcAft>
                        <a:buNone/>
                      </a:pPr>
                      <a:r>
                        <a:rPr lang="en" sz="700">
                          <a:latin typeface="Inter"/>
                          <a:ea typeface="Inter"/>
                          <a:cs typeface="Inter"/>
                          <a:sym typeface="Inter"/>
                        </a:rPr>
                        <a:t>SEGARI</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40,000,000</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38,652,885</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latin typeface="Inter"/>
                          <a:ea typeface="Inter"/>
                          <a:cs typeface="Inter"/>
                          <a:sym typeface="Inter"/>
                        </a:rPr>
                        <a:t>97%</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89750">
                <a:tc>
                  <a:txBody>
                    <a:bodyPr/>
                    <a:lstStyle/>
                    <a:p>
                      <a:pPr indent="0" lvl="0" marL="0" rtl="0" algn="l">
                        <a:lnSpc>
                          <a:spcPct val="115000"/>
                        </a:lnSpc>
                        <a:spcBef>
                          <a:spcPts val="0"/>
                        </a:spcBef>
                        <a:spcAft>
                          <a:spcPts val="0"/>
                        </a:spcAft>
                        <a:buNone/>
                      </a:pPr>
                      <a:r>
                        <a:rPr lang="en" sz="700">
                          <a:latin typeface="Inter"/>
                          <a:ea typeface="Inter"/>
                          <a:cs typeface="Inter"/>
                          <a:sym typeface="Inter"/>
                        </a:rPr>
                        <a:t>VITAMIN DISKON</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30,000,000</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26,159,653</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latin typeface="Inter"/>
                          <a:ea typeface="Inter"/>
                          <a:cs typeface="Inter"/>
                          <a:sym typeface="Inter"/>
                        </a:rPr>
                        <a:t>87%</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89750">
                <a:tc>
                  <a:txBody>
                    <a:bodyPr/>
                    <a:lstStyle/>
                    <a:p>
                      <a:pPr indent="0" lvl="0" marL="0" rtl="0" algn="l">
                        <a:lnSpc>
                          <a:spcPct val="115000"/>
                        </a:lnSpc>
                        <a:spcBef>
                          <a:spcPts val="0"/>
                        </a:spcBef>
                        <a:spcAft>
                          <a:spcPts val="0"/>
                        </a:spcAft>
                        <a:buNone/>
                      </a:pPr>
                      <a:r>
                        <a:rPr lang="en" sz="700">
                          <a:latin typeface="Inter"/>
                          <a:ea typeface="Inter"/>
                          <a:cs typeface="Inter"/>
                          <a:sym typeface="Inter"/>
                        </a:rPr>
                        <a:t>FARMAKU</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1,062,815,679</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878,665,668</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latin typeface="Inter"/>
                          <a:ea typeface="Inter"/>
                          <a:cs typeface="Inter"/>
                          <a:sym typeface="Inter"/>
                        </a:rPr>
                        <a:t>83%</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89750">
                <a:tc>
                  <a:txBody>
                    <a:bodyPr/>
                    <a:lstStyle/>
                    <a:p>
                      <a:pPr indent="0" lvl="0" marL="0" rtl="0" algn="l">
                        <a:lnSpc>
                          <a:spcPct val="115000"/>
                        </a:lnSpc>
                        <a:spcBef>
                          <a:spcPts val="0"/>
                        </a:spcBef>
                        <a:spcAft>
                          <a:spcPts val="0"/>
                        </a:spcAft>
                        <a:buNone/>
                      </a:pPr>
                      <a:r>
                        <a:rPr lang="en" sz="700">
                          <a:latin typeface="Inter"/>
                          <a:ea typeface="Inter"/>
                          <a:cs typeface="Inter"/>
                          <a:sym typeface="Inter"/>
                        </a:rPr>
                        <a:t>SAYURBOX</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5,000,000</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3,702,960</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latin typeface="Inter"/>
                          <a:ea typeface="Inter"/>
                          <a:cs typeface="Inter"/>
                          <a:sym typeface="Inter"/>
                        </a:rPr>
                        <a:t>74%</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89750">
                <a:tc>
                  <a:txBody>
                    <a:bodyPr/>
                    <a:lstStyle/>
                    <a:p>
                      <a:pPr indent="0" lvl="0" marL="0" rtl="0" algn="l">
                        <a:lnSpc>
                          <a:spcPct val="115000"/>
                        </a:lnSpc>
                        <a:spcBef>
                          <a:spcPts val="0"/>
                        </a:spcBef>
                        <a:spcAft>
                          <a:spcPts val="0"/>
                        </a:spcAft>
                        <a:buNone/>
                      </a:pPr>
                      <a:r>
                        <a:rPr lang="en" sz="700">
                          <a:latin typeface="Inter"/>
                          <a:ea typeface="Inter"/>
                          <a:cs typeface="Inter"/>
                          <a:sym typeface="Inter"/>
                        </a:rPr>
                        <a:t>KAP</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50,000,000</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36,607,516</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latin typeface="Inter"/>
                          <a:ea typeface="Inter"/>
                          <a:cs typeface="Inter"/>
                          <a:sym typeface="Inter"/>
                        </a:rPr>
                        <a:t>73%</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89750">
                <a:tc>
                  <a:txBody>
                    <a:bodyPr/>
                    <a:lstStyle/>
                    <a:p>
                      <a:pPr indent="0" lvl="0" marL="0" rtl="0" algn="l">
                        <a:lnSpc>
                          <a:spcPct val="115000"/>
                        </a:lnSpc>
                        <a:spcBef>
                          <a:spcPts val="0"/>
                        </a:spcBef>
                        <a:spcAft>
                          <a:spcPts val="0"/>
                        </a:spcAft>
                        <a:buNone/>
                      </a:pPr>
                      <a:r>
                        <a:rPr lang="en" sz="700">
                          <a:latin typeface="Inter"/>
                          <a:ea typeface="Inter"/>
                          <a:cs typeface="Inter"/>
                          <a:sym typeface="Inter"/>
                        </a:rPr>
                        <a:t>PYRIDAM</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3,000,000</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2,111,220</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latin typeface="Inter"/>
                          <a:ea typeface="Inter"/>
                          <a:cs typeface="Inter"/>
                          <a:sym typeface="Inter"/>
                        </a:rPr>
                        <a:t>70%</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89750">
                <a:tc>
                  <a:txBody>
                    <a:bodyPr/>
                    <a:lstStyle/>
                    <a:p>
                      <a:pPr indent="0" lvl="0" marL="0" rtl="0" algn="l">
                        <a:lnSpc>
                          <a:spcPct val="115000"/>
                        </a:lnSpc>
                        <a:spcBef>
                          <a:spcPts val="0"/>
                        </a:spcBef>
                        <a:spcAft>
                          <a:spcPts val="0"/>
                        </a:spcAft>
                        <a:buNone/>
                      </a:pPr>
                      <a:r>
                        <a:rPr lang="en" sz="700">
                          <a:latin typeface="Inter"/>
                          <a:ea typeface="Inter"/>
                          <a:cs typeface="Inter"/>
                          <a:sym typeface="Inter"/>
                        </a:rPr>
                        <a:t>ASTRO</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700,000,000</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424,770,134</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latin typeface="Inter"/>
                          <a:ea typeface="Inter"/>
                          <a:cs typeface="Inter"/>
                          <a:sym typeface="Inter"/>
                        </a:rPr>
                        <a:t>61%</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89750">
                <a:tc>
                  <a:txBody>
                    <a:bodyPr/>
                    <a:lstStyle/>
                    <a:p>
                      <a:pPr indent="0" lvl="0" marL="0" rtl="0" algn="l">
                        <a:lnSpc>
                          <a:spcPct val="115000"/>
                        </a:lnSpc>
                        <a:spcBef>
                          <a:spcPts val="0"/>
                        </a:spcBef>
                        <a:spcAft>
                          <a:spcPts val="0"/>
                        </a:spcAft>
                        <a:buNone/>
                      </a:pPr>
                      <a:r>
                        <a:rPr lang="en" sz="700">
                          <a:latin typeface="Inter"/>
                          <a:ea typeface="Inter"/>
                          <a:cs typeface="Inter"/>
                          <a:sym typeface="Inter"/>
                        </a:rPr>
                        <a:t>SHOPEE</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694,184,321</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220,054,392</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latin typeface="Inter"/>
                          <a:ea typeface="Inter"/>
                          <a:cs typeface="Inter"/>
                          <a:sym typeface="Inter"/>
                        </a:rPr>
                        <a:t>32%</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89750">
                <a:tc>
                  <a:txBody>
                    <a:bodyPr/>
                    <a:lstStyle/>
                    <a:p>
                      <a:pPr indent="0" lvl="0" marL="0" rtl="0" algn="l">
                        <a:lnSpc>
                          <a:spcPct val="115000"/>
                        </a:lnSpc>
                        <a:spcBef>
                          <a:spcPts val="0"/>
                        </a:spcBef>
                        <a:spcAft>
                          <a:spcPts val="0"/>
                        </a:spcAft>
                        <a:buNone/>
                      </a:pPr>
                      <a:r>
                        <a:rPr b="1" lang="en" sz="700">
                          <a:latin typeface="Inter"/>
                          <a:ea typeface="Inter"/>
                          <a:cs typeface="Inter"/>
                          <a:sym typeface="Inter"/>
                        </a:rPr>
                        <a:t>Non OTC</a:t>
                      </a:r>
                      <a:endParaRPr b="1"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 sz="700">
                          <a:latin typeface="Inter"/>
                          <a:ea typeface="Inter"/>
                          <a:cs typeface="Inter"/>
                          <a:sym typeface="Inter"/>
                        </a:rPr>
                        <a:t>2,708,000,000</a:t>
                      </a:r>
                      <a:endParaRPr b="1"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 sz="700">
                          <a:latin typeface="Inter"/>
                          <a:ea typeface="Inter"/>
                          <a:cs typeface="Inter"/>
                          <a:sym typeface="Inter"/>
                        </a:rPr>
                        <a:t>1,795,076,755</a:t>
                      </a:r>
                      <a:endParaRPr b="1"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700">
                          <a:latin typeface="Inter"/>
                          <a:ea typeface="Inter"/>
                          <a:cs typeface="Inter"/>
                          <a:sym typeface="Inter"/>
                        </a:rPr>
                        <a:t>66</a:t>
                      </a:r>
                      <a:r>
                        <a:rPr b="1" lang="en" sz="700">
                          <a:latin typeface="Inter"/>
                          <a:ea typeface="Inter"/>
                          <a:cs typeface="Inter"/>
                          <a:sym typeface="Inter"/>
                        </a:rPr>
                        <a:t>%</a:t>
                      </a:r>
                      <a:endParaRPr b="1"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r>
              <a:tr h="189750">
                <a:tc>
                  <a:txBody>
                    <a:bodyPr/>
                    <a:lstStyle/>
                    <a:p>
                      <a:pPr indent="0" lvl="0" marL="0" rtl="0" algn="l">
                        <a:lnSpc>
                          <a:spcPct val="115000"/>
                        </a:lnSpc>
                        <a:spcBef>
                          <a:spcPts val="0"/>
                        </a:spcBef>
                        <a:spcAft>
                          <a:spcPts val="0"/>
                        </a:spcAft>
                        <a:buNone/>
                      </a:pPr>
                      <a:r>
                        <a:rPr lang="en" sz="700">
                          <a:latin typeface="Inter"/>
                          <a:ea typeface="Inter"/>
                          <a:cs typeface="Inter"/>
                          <a:sym typeface="Inter"/>
                        </a:rPr>
                        <a:t>ASTRO</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7A8"/>
                    </a:solidFill>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270,000,000</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7A8"/>
                    </a:solidFill>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289,221,269</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7A8"/>
                    </a:solidFill>
                  </a:tcPr>
                </a:tc>
                <a:tc>
                  <a:txBody>
                    <a:bodyPr/>
                    <a:lstStyle/>
                    <a:p>
                      <a:pPr indent="0" lvl="0" marL="0" rtl="0" algn="ctr">
                        <a:lnSpc>
                          <a:spcPct val="115000"/>
                        </a:lnSpc>
                        <a:spcBef>
                          <a:spcPts val="0"/>
                        </a:spcBef>
                        <a:spcAft>
                          <a:spcPts val="0"/>
                        </a:spcAft>
                        <a:buNone/>
                      </a:pPr>
                      <a:r>
                        <a:rPr lang="en" sz="700">
                          <a:latin typeface="Inter"/>
                          <a:ea typeface="Inter"/>
                          <a:cs typeface="Inter"/>
                          <a:sym typeface="Inter"/>
                        </a:rPr>
                        <a:t>107%</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6D7A8"/>
                    </a:solidFill>
                  </a:tcPr>
                </a:tc>
              </a:tr>
              <a:tr h="189750">
                <a:tc>
                  <a:txBody>
                    <a:bodyPr/>
                    <a:lstStyle/>
                    <a:p>
                      <a:pPr indent="0" lvl="0" marL="0" rtl="0" algn="l">
                        <a:lnSpc>
                          <a:spcPct val="115000"/>
                        </a:lnSpc>
                        <a:spcBef>
                          <a:spcPts val="0"/>
                        </a:spcBef>
                        <a:spcAft>
                          <a:spcPts val="0"/>
                        </a:spcAft>
                        <a:buNone/>
                      </a:pPr>
                      <a:r>
                        <a:rPr lang="en" sz="700">
                          <a:latin typeface="Inter"/>
                          <a:ea typeface="Inter"/>
                          <a:cs typeface="Inter"/>
                          <a:sym typeface="Inter"/>
                        </a:rPr>
                        <a:t>SEGARI</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20,000,000</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700">
                          <a:latin typeface="Inter"/>
                          <a:ea typeface="Inter"/>
                          <a:cs typeface="Inter"/>
                          <a:sym typeface="Inter"/>
                        </a:rPr>
                        <a:t>11,188,217</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700">
                          <a:latin typeface="Inter"/>
                          <a:ea typeface="Inter"/>
                          <a:cs typeface="Inter"/>
                          <a:sym typeface="Inter"/>
                        </a:rPr>
                        <a:t>56%</a:t>
                      </a:r>
                      <a:endParaRPr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89750">
                <a:tc>
                  <a:txBody>
                    <a:bodyPr/>
                    <a:lstStyle/>
                    <a:p>
                      <a:pPr indent="0" lvl="0" marL="0" rtl="0" algn="l">
                        <a:lnSpc>
                          <a:spcPct val="115000"/>
                        </a:lnSpc>
                        <a:spcBef>
                          <a:spcPts val="0"/>
                        </a:spcBef>
                        <a:spcAft>
                          <a:spcPts val="0"/>
                        </a:spcAft>
                        <a:buNone/>
                      </a:pPr>
                      <a:r>
                        <a:rPr b="1" lang="en" sz="700">
                          <a:latin typeface="Inter"/>
                          <a:ea typeface="Inter"/>
                          <a:cs typeface="Inter"/>
                          <a:sym typeface="Inter"/>
                        </a:rPr>
                        <a:t>OTC</a:t>
                      </a:r>
                      <a:endParaRPr b="1"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FF00"/>
                    </a:solidFill>
                  </a:tcPr>
                </a:tc>
                <a:tc>
                  <a:txBody>
                    <a:bodyPr/>
                    <a:lstStyle/>
                    <a:p>
                      <a:pPr indent="0" lvl="0" marL="0" rtl="0" algn="l">
                        <a:lnSpc>
                          <a:spcPct val="115000"/>
                        </a:lnSpc>
                        <a:spcBef>
                          <a:spcPts val="0"/>
                        </a:spcBef>
                        <a:spcAft>
                          <a:spcPts val="0"/>
                        </a:spcAft>
                        <a:buNone/>
                      </a:pPr>
                      <a:r>
                        <a:rPr b="1" lang="en" sz="700">
                          <a:latin typeface="Inter"/>
                          <a:ea typeface="Inter"/>
                          <a:cs typeface="Inter"/>
                          <a:sym typeface="Inter"/>
                        </a:rPr>
                        <a:t>290,000,000</a:t>
                      </a:r>
                      <a:endParaRPr b="1"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FF00"/>
                    </a:solidFill>
                  </a:tcPr>
                </a:tc>
                <a:tc>
                  <a:txBody>
                    <a:bodyPr/>
                    <a:lstStyle/>
                    <a:p>
                      <a:pPr indent="0" lvl="0" marL="0" rtl="0" algn="l">
                        <a:lnSpc>
                          <a:spcPct val="115000"/>
                        </a:lnSpc>
                        <a:spcBef>
                          <a:spcPts val="0"/>
                        </a:spcBef>
                        <a:spcAft>
                          <a:spcPts val="0"/>
                        </a:spcAft>
                        <a:buNone/>
                      </a:pPr>
                      <a:r>
                        <a:rPr b="1" lang="en" sz="700">
                          <a:latin typeface="Inter"/>
                          <a:ea typeface="Inter"/>
                          <a:cs typeface="Inter"/>
                          <a:sym typeface="Inter"/>
                        </a:rPr>
                        <a:t>300,409,486</a:t>
                      </a:r>
                      <a:endParaRPr b="1"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FF00"/>
                    </a:solidFill>
                  </a:tcPr>
                </a:tc>
                <a:tc>
                  <a:txBody>
                    <a:bodyPr/>
                    <a:lstStyle/>
                    <a:p>
                      <a:pPr indent="0" lvl="0" marL="0" rtl="0" algn="ctr">
                        <a:lnSpc>
                          <a:spcPct val="115000"/>
                        </a:lnSpc>
                        <a:spcBef>
                          <a:spcPts val="0"/>
                        </a:spcBef>
                        <a:spcAft>
                          <a:spcPts val="0"/>
                        </a:spcAft>
                        <a:buNone/>
                      </a:pPr>
                      <a:r>
                        <a:rPr b="1" lang="en" sz="700">
                          <a:latin typeface="Inter"/>
                          <a:ea typeface="Inter"/>
                          <a:cs typeface="Inter"/>
                          <a:sym typeface="Inter"/>
                        </a:rPr>
                        <a:t>104</a:t>
                      </a:r>
                      <a:r>
                        <a:rPr b="1" lang="en" sz="700">
                          <a:latin typeface="Inter"/>
                          <a:ea typeface="Inter"/>
                          <a:cs typeface="Inter"/>
                          <a:sym typeface="Inter"/>
                        </a:rPr>
                        <a:t>%</a:t>
                      </a:r>
                      <a:endParaRPr b="1"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FF00"/>
                    </a:solidFill>
                  </a:tcPr>
                </a:tc>
              </a:tr>
              <a:tr h="197625">
                <a:tc>
                  <a:txBody>
                    <a:bodyPr/>
                    <a:lstStyle/>
                    <a:p>
                      <a:pPr indent="0" lvl="0" marL="0" rtl="0" algn="l">
                        <a:lnSpc>
                          <a:spcPct val="115000"/>
                        </a:lnSpc>
                        <a:spcBef>
                          <a:spcPts val="0"/>
                        </a:spcBef>
                        <a:spcAft>
                          <a:spcPts val="0"/>
                        </a:spcAft>
                        <a:buNone/>
                      </a:pPr>
                      <a:r>
                        <a:rPr b="1" lang="en" sz="700">
                          <a:latin typeface="Inter"/>
                          <a:ea typeface="Inter"/>
                          <a:cs typeface="Inter"/>
                          <a:sym typeface="Inter"/>
                        </a:rPr>
                        <a:t>HALEON TOTAL</a:t>
                      </a:r>
                      <a:endParaRPr b="1"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 sz="700">
                          <a:latin typeface="Inter"/>
                          <a:ea typeface="Inter"/>
                          <a:cs typeface="Inter"/>
                          <a:sym typeface="Inter"/>
                        </a:rPr>
                        <a:t>2,998,000,000</a:t>
                      </a:r>
                      <a:endParaRPr b="1"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rtl="0" algn="l">
                        <a:lnSpc>
                          <a:spcPct val="115000"/>
                        </a:lnSpc>
                        <a:spcBef>
                          <a:spcPts val="0"/>
                        </a:spcBef>
                        <a:spcAft>
                          <a:spcPts val="0"/>
                        </a:spcAft>
                        <a:buNone/>
                      </a:pPr>
                      <a:r>
                        <a:rPr b="1" lang="en" sz="700">
                          <a:latin typeface="Inter"/>
                          <a:ea typeface="Inter"/>
                          <a:cs typeface="Inter"/>
                          <a:sym typeface="Inter"/>
                        </a:rPr>
                        <a:t>2,095,486,241</a:t>
                      </a:r>
                      <a:endParaRPr b="1"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b="1" lang="en" sz="700">
                          <a:latin typeface="Inter"/>
                          <a:ea typeface="Inter"/>
                          <a:cs typeface="Inter"/>
                          <a:sym typeface="Inter"/>
                        </a:rPr>
                        <a:t>70%</a:t>
                      </a:r>
                      <a:endParaRPr b="1" sz="7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r>
            </a:tbl>
          </a:graphicData>
        </a:graphic>
      </p:graphicFrame>
      <p:pic>
        <p:nvPicPr>
          <p:cNvPr id="461" name="Google Shape;461;p54"/>
          <p:cNvPicPr preferRelativeResize="0"/>
          <p:nvPr/>
        </p:nvPicPr>
        <p:blipFill rotWithShape="1">
          <a:blip r:embed="rId8">
            <a:alphaModFix/>
          </a:blip>
          <a:srcRect b="0" l="0" r="41911" t="0"/>
          <a:stretch/>
        </p:blipFill>
        <p:spPr>
          <a:xfrm>
            <a:off x="7768500" y="4054480"/>
            <a:ext cx="901350" cy="29472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5"/>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pic>
        <p:nvPicPr>
          <p:cNvPr id="467" name="Google Shape;467;p55"/>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sp>
        <p:nvSpPr>
          <p:cNvPr id="468" name="Google Shape;468;p55"/>
          <p:cNvSpPr txBox="1"/>
          <p:nvPr>
            <p:ph type="ctrTitle"/>
          </p:nvPr>
        </p:nvSpPr>
        <p:spPr>
          <a:xfrm>
            <a:off x="174550" y="121550"/>
            <a:ext cx="8655600" cy="695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B2B Overview</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Top 10 SKU August (Revenue Driver)</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t/>
            </a:r>
            <a:endParaRPr i="1" sz="1200">
              <a:solidFill>
                <a:srgbClr val="3880C1"/>
              </a:solidFill>
              <a:latin typeface="Inter"/>
              <a:ea typeface="Inter"/>
              <a:cs typeface="Inter"/>
              <a:sym typeface="Inter"/>
            </a:endParaRPr>
          </a:p>
        </p:txBody>
      </p:sp>
      <p:pic>
        <p:nvPicPr>
          <p:cNvPr id="469" name="Google Shape;469;p55"/>
          <p:cNvPicPr preferRelativeResize="0"/>
          <p:nvPr/>
        </p:nvPicPr>
        <p:blipFill rotWithShape="1">
          <a:blip r:embed="rId4">
            <a:alphaModFix/>
          </a:blip>
          <a:srcRect b="0" l="0" r="0" t="12564"/>
          <a:stretch/>
        </p:blipFill>
        <p:spPr>
          <a:xfrm>
            <a:off x="7406900" y="121550"/>
            <a:ext cx="634924" cy="451775"/>
          </a:xfrm>
          <a:prstGeom prst="rect">
            <a:avLst/>
          </a:prstGeom>
          <a:noFill/>
          <a:ln>
            <a:noFill/>
          </a:ln>
        </p:spPr>
      </p:pic>
      <p:sp>
        <p:nvSpPr>
          <p:cNvPr id="470" name="Google Shape;470;p55"/>
          <p:cNvSpPr/>
          <p:nvPr/>
        </p:nvSpPr>
        <p:spPr>
          <a:xfrm>
            <a:off x="297175" y="3874975"/>
            <a:ext cx="1188900" cy="836100"/>
          </a:xfrm>
          <a:prstGeom prst="rect">
            <a:avLst/>
          </a:prstGeom>
          <a:solidFill>
            <a:srgbClr val="0B5394"/>
          </a:solidFill>
          <a:ln>
            <a:noFill/>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Clr>
                <a:srgbClr val="000000"/>
              </a:buClr>
              <a:buSzPts val="1000"/>
              <a:buFont typeface="Arial"/>
              <a:buNone/>
            </a:pPr>
            <a:r>
              <a:rPr b="1" i="0" lang="en" sz="1000" u="none" cap="none" strike="noStrike">
                <a:solidFill>
                  <a:srgbClr val="FFFFFF"/>
                </a:solidFill>
                <a:latin typeface="Inter"/>
                <a:ea typeface="Inter"/>
                <a:cs typeface="Inter"/>
                <a:sym typeface="Inter"/>
              </a:rPr>
              <a:t>Key Insights</a:t>
            </a:r>
            <a:endParaRPr b="0" i="0" sz="1000" u="none" cap="none" strike="noStrike">
              <a:solidFill>
                <a:srgbClr val="FFFFFF"/>
              </a:solidFill>
              <a:latin typeface="Inter"/>
              <a:ea typeface="Inter"/>
              <a:cs typeface="Inter"/>
              <a:sym typeface="Inter"/>
            </a:endParaRPr>
          </a:p>
        </p:txBody>
      </p:sp>
      <p:sp>
        <p:nvSpPr>
          <p:cNvPr id="471" name="Google Shape;471;p55"/>
          <p:cNvSpPr txBox="1"/>
          <p:nvPr/>
        </p:nvSpPr>
        <p:spPr>
          <a:xfrm>
            <a:off x="2361739" y="3892525"/>
            <a:ext cx="1416300" cy="73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800"/>
              <a:buFont typeface="Arial"/>
              <a:buNone/>
            </a:pPr>
            <a:r>
              <a:rPr b="0" i="0" lang="en" sz="800" u="none" cap="none" strike="noStrike">
                <a:solidFill>
                  <a:srgbClr val="000000"/>
                </a:solidFill>
                <a:latin typeface="Inter"/>
                <a:ea typeface="Inter"/>
                <a:cs typeface="Inter"/>
                <a:sym typeface="Inter"/>
              </a:rPr>
              <a:t>Sensodyne SRP </a:t>
            </a:r>
            <a:r>
              <a:rPr lang="en" sz="800">
                <a:latin typeface="Inter"/>
                <a:ea typeface="Inter"/>
                <a:cs typeface="Inter"/>
                <a:sym typeface="Inter"/>
              </a:rPr>
              <a:t>&amp; Essensial</a:t>
            </a:r>
            <a:r>
              <a:rPr b="0" i="0" lang="en" sz="800" u="none" cap="none" strike="noStrike">
                <a:solidFill>
                  <a:srgbClr val="000000"/>
                </a:solidFill>
                <a:latin typeface="Inter"/>
                <a:ea typeface="Inter"/>
                <a:cs typeface="Inter"/>
                <a:sym typeface="Inter"/>
              </a:rPr>
              <a:t> become top </a:t>
            </a:r>
            <a:r>
              <a:rPr lang="en" sz="800">
                <a:latin typeface="Inter"/>
                <a:ea typeface="Inter"/>
                <a:cs typeface="Inter"/>
                <a:sym typeface="Inter"/>
              </a:rPr>
              <a:t>5</a:t>
            </a:r>
            <a:r>
              <a:rPr b="0" i="0" lang="en" sz="800" u="none" cap="none" strike="noStrike">
                <a:solidFill>
                  <a:srgbClr val="000000"/>
                </a:solidFill>
                <a:latin typeface="Inter"/>
                <a:ea typeface="Inter"/>
                <a:cs typeface="Inter"/>
                <a:sym typeface="Inter"/>
              </a:rPr>
              <a:t> due to the huge demand coming from Farmaku.</a:t>
            </a:r>
            <a:endParaRPr b="0" i="0" sz="800" u="none" cap="none" strike="noStrike">
              <a:solidFill>
                <a:srgbClr val="000000"/>
              </a:solidFill>
              <a:latin typeface="Inter"/>
              <a:ea typeface="Inter"/>
              <a:cs typeface="Inter"/>
              <a:sym typeface="Inter"/>
            </a:endParaRPr>
          </a:p>
        </p:txBody>
      </p:sp>
      <p:sp>
        <p:nvSpPr>
          <p:cNvPr id="472" name="Google Shape;472;p55"/>
          <p:cNvSpPr/>
          <p:nvPr/>
        </p:nvSpPr>
        <p:spPr>
          <a:xfrm flipH="1">
            <a:off x="3834779" y="3947593"/>
            <a:ext cx="1200" cy="726300"/>
          </a:xfrm>
          <a:prstGeom prst="rect">
            <a:avLst/>
          </a:prstGeom>
          <a:solidFill>
            <a:srgbClr val="EEEEEE"/>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55"/>
          <p:cNvSpPr txBox="1"/>
          <p:nvPr/>
        </p:nvSpPr>
        <p:spPr>
          <a:xfrm>
            <a:off x="4566982" y="4017533"/>
            <a:ext cx="1870800" cy="482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900"/>
              <a:buFont typeface="Arial"/>
              <a:buNone/>
            </a:pPr>
            <a:r>
              <a:rPr b="0" i="0" lang="en" sz="900" u="none" cap="none" strike="noStrike">
                <a:solidFill>
                  <a:srgbClr val="000000"/>
                </a:solidFill>
                <a:latin typeface="Inter"/>
                <a:ea typeface="Inter"/>
                <a:cs typeface="Inter"/>
                <a:sym typeface="Inter"/>
              </a:rPr>
              <a:t>Out of 46 SKUs, these 10 SKUs covered </a:t>
            </a:r>
            <a:r>
              <a:rPr lang="en" sz="900">
                <a:latin typeface="Inter"/>
                <a:ea typeface="Inter"/>
                <a:cs typeface="Inter"/>
                <a:sym typeface="Inter"/>
              </a:rPr>
              <a:t>74</a:t>
            </a:r>
            <a:r>
              <a:rPr b="0" i="0" lang="en" sz="900" u="none" cap="none" strike="noStrike">
                <a:solidFill>
                  <a:srgbClr val="000000"/>
                </a:solidFill>
                <a:latin typeface="Inter"/>
                <a:ea typeface="Inter"/>
                <a:cs typeface="Inter"/>
                <a:sym typeface="Inter"/>
              </a:rPr>
              <a:t>% of the Revenue. </a:t>
            </a:r>
            <a:endParaRPr b="0" i="0" sz="900" u="none" cap="none" strike="noStrike">
              <a:solidFill>
                <a:srgbClr val="000000"/>
              </a:solidFill>
              <a:latin typeface="Inter"/>
              <a:ea typeface="Inter"/>
              <a:cs typeface="Inter"/>
              <a:sym typeface="Inter"/>
            </a:endParaRPr>
          </a:p>
        </p:txBody>
      </p:sp>
      <p:sp>
        <p:nvSpPr>
          <p:cNvPr id="474" name="Google Shape;474;p55"/>
          <p:cNvSpPr/>
          <p:nvPr/>
        </p:nvSpPr>
        <p:spPr>
          <a:xfrm flipH="1">
            <a:off x="6542696" y="3947593"/>
            <a:ext cx="1200" cy="726300"/>
          </a:xfrm>
          <a:prstGeom prst="rect">
            <a:avLst/>
          </a:prstGeom>
          <a:solidFill>
            <a:srgbClr val="EEEEEE"/>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5" name="Google Shape;475;p55"/>
          <p:cNvPicPr preferRelativeResize="0"/>
          <p:nvPr/>
        </p:nvPicPr>
        <p:blipFill rotWithShape="1">
          <a:blip r:embed="rId5">
            <a:alphaModFix/>
          </a:blip>
          <a:srcRect b="13076" l="13932" r="12082" t="14439"/>
          <a:stretch/>
        </p:blipFill>
        <p:spPr>
          <a:xfrm>
            <a:off x="6708473" y="4024431"/>
            <a:ext cx="381775" cy="374000"/>
          </a:xfrm>
          <a:prstGeom prst="rect">
            <a:avLst/>
          </a:prstGeom>
          <a:noFill/>
          <a:ln>
            <a:noFill/>
          </a:ln>
        </p:spPr>
      </p:pic>
      <p:pic>
        <p:nvPicPr>
          <p:cNvPr id="476" name="Google Shape;476;p55"/>
          <p:cNvPicPr preferRelativeResize="0"/>
          <p:nvPr/>
        </p:nvPicPr>
        <p:blipFill rotWithShape="1">
          <a:blip r:embed="rId6">
            <a:alphaModFix/>
          </a:blip>
          <a:srcRect b="0" l="0" r="0" t="0"/>
          <a:stretch/>
        </p:blipFill>
        <p:spPr>
          <a:xfrm>
            <a:off x="6708473" y="4019948"/>
            <a:ext cx="419451" cy="382976"/>
          </a:xfrm>
          <a:prstGeom prst="rect">
            <a:avLst/>
          </a:prstGeom>
          <a:noFill/>
          <a:ln>
            <a:noFill/>
          </a:ln>
        </p:spPr>
      </p:pic>
      <p:sp>
        <p:nvSpPr>
          <p:cNvPr id="477" name="Google Shape;477;p55"/>
          <p:cNvSpPr txBox="1"/>
          <p:nvPr/>
        </p:nvSpPr>
        <p:spPr>
          <a:xfrm>
            <a:off x="7580096" y="3830405"/>
            <a:ext cx="1472700" cy="960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900"/>
              <a:buFont typeface="Arial"/>
              <a:buNone/>
            </a:pPr>
            <a:r>
              <a:rPr lang="en" sz="900">
                <a:latin typeface="Inter"/>
                <a:ea typeface="Inter"/>
                <a:cs typeface="Inter"/>
                <a:sym typeface="Inter"/>
              </a:rPr>
              <a:t>Sensodyne</a:t>
            </a:r>
            <a:r>
              <a:rPr b="0" i="0" lang="en" sz="900" u="none" cap="none" strike="noStrike">
                <a:solidFill>
                  <a:srgbClr val="000000"/>
                </a:solidFill>
                <a:latin typeface="Inter"/>
                <a:ea typeface="Inter"/>
                <a:cs typeface="Inter"/>
                <a:sym typeface="Inter"/>
              </a:rPr>
              <a:t>, Scott’s, and Panadol became the top</a:t>
            </a:r>
            <a:r>
              <a:rPr lang="en" sz="900">
                <a:latin typeface="Inter"/>
                <a:ea typeface="Inter"/>
                <a:cs typeface="Inter"/>
                <a:sym typeface="Inter"/>
              </a:rPr>
              <a:t> brand revenue drivers from</a:t>
            </a:r>
            <a:r>
              <a:rPr b="0" i="0" lang="en" sz="900" u="none" cap="none" strike="noStrike">
                <a:solidFill>
                  <a:srgbClr val="000000"/>
                </a:solidFill>
                <a:latin typeface="Inter"/>
                <a:ea typeface="Inter"/>
                <a:cs typeface="Inter"/>
                <a:sym typeface="Inter"/>
              </a:rPr>
              <a:t> 10 main revenue driver skus.</a:t>
            </a:r>
            <a:endParaRPr b="0" i="0" sz="900" u="none" cap="none" strike="noStrike">
              <a:solidFill>
                <a:srgbClr val="000000"/>
              </a:solidFill>
              <a:latin typeface="Inter"/>
              <a:ea typeface="Inter"/>
              <a:cs typeface="Inter"/>
              <a:sym typeface="Inter"/>
            </a:endParaRPr>
          </a:p>
        </p:txBody>
      </p:sp>
      <p:pic>
        <p:nvPicPr>
          <p:cNvPr id="478" name="Google Shape;478;p55"/>
          <p:cNvPicPr preferRelativeResize="0"/>
          <p:nvPr/>
        </p:nvPicPr>
        <p:blipFill rotWithShape="1">
          <a:blip r:embed="rId7">
            <a:alphaModFix/>
          </a:blip>
          <a:srcRect b="0" l="0" r="0" t="0"/>
          <a:stretch/>
        </p:blipFill>
        <p:spPr>
          <a:xfrm>
            <a:off x="3977547" y="4011812"/>
            <a:ext cx="597875" cy="597875"/>
          </a:xfrm>
          <a:prstGeom prst="rect">
            <a:avLst/>
          </a:prstGeom>
          <a:noFill/>
          <a:ln>
            <a:noFill/>
          </a:ln>
        </p:spPr>
      </p:pic>
      <p:pic>
        <p:nvPicPr>
          <p:cNvPr id="479" name="Google Shape;479;p55"/>
          <p:cNvPicPr preferRelativeResize="0"/>
          <p:nvPr/>
        </p:nvPicPr>
        <p:blipFill rotWithShape="1">
          <a:blip r:embed="rId5">
            <a:alphaModFix/>
          </a:blip>
          <a:srcRect b="13076" l="13932" r="12082" t="14439"/>
          <a:stretch/>
        </p:blipFill>
        <p:spPr>
          <a:xfrm>
            <a:off x="7226709" y="4002214"/>
            <a:ext cx="291425" cy="285516"/>
          </a:xfrm>
          <a:prstGeom prst="rect">
            <a:avLst/>
          </a:prstGeom>
          <a:noFill/>
          <a:ln>
            <a:noFill/>
          </a:ln>
        </p:spPr>
      </p:pic>
      <p:pic>
        <p:nvPicPr>
          <p:cNvPr id="480" name="Google Shape;480;p55"/>
          <p:cNvPicPr preferRelativeResize="0"/>
          <p:nvPr/>
        </p:nvPicPr>
        <p:blipFill rotWithShape="1">
          <a:blip r:embed="rId8">
            <a:alphaModFix/>
          </a:blip>
          <a:srcRect b="34907" l="0" r="0" t="35784"/>
          <a:stretch/>
        </p:blipFill>
        <p:spPr>
          <a:xfrm>
            <a:off x="1541049" y="4111850"/>
            <a:ext cx="772941" cy="228600"/>
          </a:xfrm>
          <a:prstGeom prst="rect">
            <a:avLst/>
          </a:prstGeom>
          <a:noFill/>
          <a:ln>
            <a:noFill/>
          </a:ln>
        </p:spPr>
      </p:pic>
      <p:graphicFrame>
        <p:nvGraphicFramePr>
          <p:cNvPr id="481" name="Google Shape;481;p55"/>
          <p:cNvGraphicFramePr/>
          <p:nvPr/>
        </p:nvGraphicFramePr>
        <p:xfrm>
          <a:off x="297175" y="756600"/>
          <a:ext cx="3000000" cy="3000000"/>
        </p:xfrm>
        <a:graphic>
          <a:graphicData uri="http://schemas.openxmlformats.org/drawingml/2006/table">
            <a:tbl>
              <a:tblPr>
                <a:noFill/>
                <a:tableStyleId>{05CF1300-53F3-430B-9C35-424554A46B0A}</a:tableStyleId>
              </a:tblPr>
              <a:tblGrid>
                <a:gridCol w="435450"/>
                <a:gridCol w="5469400"/>
                <a:gridCol w="1166950"/>
                <a:gridCol w="816025"/>
              </a:tblGrid>
              <a:tr h="209650">
                <a:tc>
                  <a:txBody>
                    <a:bodyPr/>
                    <a:lstStyle/>
                    <a:p>
                      <a:pPr indent="0" lvl="0" marL="0" rtl="0" algn="ctr">
                        <a:lnSpc>
                          <a:spcPct val="115000"/>
                        </a:lnSpc>
                        <a:spcBef>
                          <a:spcPts val="0"/>
                        </a:spcBef>
                        <a:spcAft>
                          <a:spcPts val="0"/>
                        </a:spcAft>
                        <a:buNone/>
                      </a:pPr>
                      <a:r>
                        <a:rPr b="1" lang="en" sz="1000">
                          <a:solidFill>
                            <a:srgbClr val="FFFFFF"/>
                          </a:solidFill>
                          <a:latin typeface="Inter"/>
                          <a:ea typeface="Inter"/>
                          <a:cs typeface="Inter"/>
                          <a:sym typeface="Inter"/>
                        </a:rPr>
                        <a:t>Rank</a:t>
                      </a:r>
                      <a:endParaRPr b="1" sz="1000">
                        <a:solidFill>
                          <a:srgbClr val="FFFFFF"/>
                        </a:solidFill>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A86E8"/>
                    </a:solidFill>
                  </a:tcPr>
                </a:tc>
                <a:tc>
                  <a:txBody>
                    <a:bodyPr/>
                    <a:lstStyle/>
                    <a:p>
                      <a:pPr indent="0" lvl="0" marL="0" rtl="0" algn="ctr">
                        <a:lnSpc>
                          <a:spcPct val="115000"/>
                        </a:lnSpc>
                        <a:spcBef>
                          <a:spcPts val="0"/>
                        </a:spcBef>
                        <a:spcAft>
                          <a:spcPts val="0"/>
                        </a:spcAft>
                        <a:buNone/>
                      </a:pPr>
                      <a:r>
                        <a:rPr b="1" lang="en" sz="1000">
                          <a:solidFill>
                            <a:srgbClr val="FFFFFF"/>
                          </a:solidFill>
                          <a:latin typeface="Inter"/>
                          <a:ea typeface="Inter"/>
                          <a:cs typeface="Inter"/>
                          <a:sym typeface="Inter"/>
                        </a:rPr>
                        <a:t>Product Name</a:t>
                      </a:r>
                      <a:endParaRPr b="1" sz="1000">
                        <a:solidFill>
                          <a:srgbClr val="FFFFFF"/>
                        </a:solidFill>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A86E8"/>
                    </a:solidFill>
                  </a:tcPr>
                </a:tc>
                <a:tc>
                  <a:txBody>
                    <a:bodyPr/>
                    <a:lstStyle/>
                    <a:p>
                      <a:pPr indent="0" lvl="0" marL="0" rtl="0" algn="ctr">
                        <a:lnSpc>
                          <a:spcPct val="115000"/>
                        </a:lnSpc>
                        <a:spcBef>
                          <a:spcPts val="0"/>
                        </a:spcBef>
                        <a:spcAft>
                          <a:spcPts val="0"/>
                        </a:spcAft>
                        <a:buNone/>
                      </a:pPr>
                      <a:r>
                        <a:rPr b="1" lang="en" sz="1000">
                          <a:solidFill>
                            <a:srgbClr val="FFFFFF"/>
                          </a:solidFill>
                          <a:latin typeface="Inter"/>
                          <a:ea typeface="Inter"/>
                          <a:cs typeface="Inter"/>
                          <a:sym typeface="Inter"/>
                        </a:rPr>
                        <a:t>Revenue</a:t>
                      </a:r>
                      <a:endParaRPr b="1" sz="1000">
                        <a:solidFill>
                          <a:srgbClr val="FFFFFF"/>
                        </a:solidFill>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A86E8"/>
                    </a:solidFill>
                  </a:tcPr>
                </a:tc>
                <a:tc>
                  <a:txBody>
                    <a:bodyPr/>
                    <a:lstStyle/>
                    <a:p>
                      <a:pPr indent="0" lvl="0" marL="0" rtl="0" algn="ctr">
                        <a:lnSpc>
                          <a:spcPct val="115000"/>
                        </a:lnSpc>
                        <a:spcBef>
                          <a:spcPts val="0"/>
                        </a:spcBef>
                        <a:spcAft>
                          <a:spcPts val="0"/>
                        </a:spcAft>
                        <a:buNone/>
                      </a:pPr>
                      <a:r>
                        <a:rPr b="1" lang="en" sz="1000">
                          <a:solidFill>
                            <a:srgbClr val="FFFFFF"/>
                          </a:solidFill>
                          <a:latin typeface="Inter"/>
                          <a:ea typeface="Inter"/>
                          <a:cs typeface="Inter"/>
                          <a:sym typeface="Inter"/>
                        </a:rPr>
                        <a:t>Contr (%)</a:t>
                      </a:r>
                      <a:endParaRPr b="1" sz="1000">
                        <a:solidFill>
                          <a:srgbClr val="FFFFFF"/>
                        </a:solidFill>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A86E8"/>
                    </a:solidFill>
                  </a:tcPr>
                </a:tc>
              </a:tr>
              <a:tr h="209650">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Sensodyne Sensitif Repair&amp;Protect Advanced Care Whitening 100gr</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Inter"/>
                          <a:ea typeface="Inter"/>
                          <a:cs typeface="Inter"/>
                          <a:sym typeface="Inter"/>
                        </a:rPr>
                        <a:t>585,289,612</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Inter"/>
                          <a:ea typeface="Inter"/>
                          <a:cs typeface="Inter"/>
                          <a:sym typeface="Inter"/>
                        </a:rPr>
                        <a:t>27.93%</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09650">
                <a:tc>
                  <a:txBody>
                    <a:bodyPr/>
                    <a:lstStyle/>
                    <a:p>
                      <a:pPr indent="0" lvl="0" marL="0" rtl="0" algn="ctr">
                        <a:lnSpc>
                          <a:spcPct val="115000"/>
                        </a:lnSpc>
                        <a:spcBef>
                          <a:spcPts val="0"/>
                        </a:spcBef>
                        <a:spcAft>
                          <a:spcPts val="0"/>
                        </a:spcAft>
                        <a:buNone/>
                      </a:pPr>
                      <a:r>
                        <a:rPr lang="en" sz="1000">
                          <a:latin typeface="Inter"/>
                          <a:ea typeface="Inter"/>
                          <a:cs typeface="Inter"/>
                          <a:sym typeface="Inter"/>
                        </a:rPr>
                        <a:t>2</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Sensodyne Pasta Gigi Sensitif Essensial Care Whitening 100gr</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Inter"/>
                          <a:ea typeface="Inter"/>
                          <a:cs typeface="Inter"/>
                          <a:sym typeface="Inter"/>
                        </a:rPr>
                        <a:t>203,434,434</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Inter"/>
                          <a:ea typeface="Inter"/>
                          <a:cs typeface="Inter"/>
                          <a:sym typeface="Inter"/>
                        </a:rPr>
                        <a:t>9.71%</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09650">
                <a:tc>
                  <a:txBody>
                    <a:bodyPr/>
                    <a:lstStyle/>
                    <a:p>
                      <a:pPr indent="0" lvl="0" marL="0" rtl="0" algn="ctr">
                        <a:lnSpc>
                          <a:spcPct val="115000"/>
                        </a:lnSpc>
                        <a:spcBef>
                          <a:spcPts val="0"/>
                        </a:spcBef>
                        <a:spcAft>
                          <a:spcPts val="0"/>
                        </a:spcAft>
                        <a:buNone/>
                      </a:pPr>
                      <a:r>
                        <a:rPr lang="en" sz="1000">
                          <a:latin typeface="Inter"/>
                          <a:ea typeface="Inter"/>
                          <a:cs typeface="Inter"/>
                          <a:sym typeface="Inter"/>
                        </a:rPr>
                        <a:t>3</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Sensodyne Pasta Gigi Sensitif Repair and Protect Original 100g</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Inter"/>
                          <a:ea typeface="Inter"/>
                          <a:cs typeface="Inter"/>
                          <a:sym typeface="Inter"/>
                        </a:rPr>
                        <a:t>139,171,474</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Inter"/>
                          <a:ea typeface="Inter"/>
                          <a:cs typeface="Inter"/>
                          <a:sym typeface="Inter"/>
                        </a:rPr>
                        <a:t>6.64%</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09650">
                <a:tc>
                  <a:txBody>
                    <a:bodyPr/>
                    <a:lstStyle/>
                    <a:p>
                      <a:pPr indent="0" lvl="0" marL="0" rtl="0" algn="ctr">
                        <a:lnSpc>
                          <a:spcPct val="115000"/>
                        </a:lnSpc>
                        <a:spcBef>
                          <a:spcPts val="0"/>
                        </a:spcBef>
                        <a:spcAft>
                          <a:spcPts val="0"/>
                        </a:spcAft>
                        <a:buNone/>
                      </a:pPr>
                      <a:r>
                        <a:rPr lang="en" sz="1000">
                          <a:latin typeface="Inter"/>
                          <a:ea typeface="Inter"/>
                          <a:cs typeface="Inter"/>
                          <a:sym typeface="Inter"/>
                        </a:rPr>
                        <a:t>4</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Sensodyne Sensitif Repair&amp;Protect Advanced Care Extra Fresh 100gr</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Inter"/>
                          <a:ea typeface="Inter"/>
                          <a:cs typeface="Inter"/>
                          <a:sym typeface="Inter"/>
                        </a:rPr>
                        <a:t>126,903,654</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Inter"/>
                          <a:ea typeface="Inter"/>
                          <a:cs typeface="Inter"/>
                          <a:sym typeface="Inter"/>
                        </a:rPr>
                        <a:t>6.06%</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09650">
                <a:tc>
                  <a:txBody>
                    <a:bodyPr/>
                    <a:lstStyle/>
                    <a:p>
                      <a:pPr indent="0" lvl="0" marL="0" rtl="0" algn="ctr">
                        <a:lnSpc>
                          <a:spcPct val="115000"/>
                        </a:lnSpc>
                        <a:spcBef>
                          <a:spcPts val="0"/>
                        </a:spcBef>
                        <a:spcAft>
                          <a:spcPts val="0"/>
                        </a:spcAft>
                        <a:buNone/>
                      </a:pPr>
                      <a:r>
                        <a:rPr lang="en" sz="1000">
                          <a:latin typeface="Inter"/>
                          <a:ea typeface="Inter"/>
                          <a:cs typeface="Inter"/>
                          <a:sym typeface="Inter"/>
                        </a:rPr>
                        <a:t>5</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SCOTTS EMUL ORIG X400ML_HIGHLANDER ID</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Inter"/>
                          <a:ea typeface="Inter"/>
                          <a:cs typeface="Inter"/>
                          <a:sym typeface="Inter"/>
                        </a:rPr>
                        <a:t>125,350,524</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Inter"/>
                          <a:ea typeface="Inter"/>
                          <a:cs typeface="Inter"/>
                          <a:sym typeface="Inter"/>
                        </a:rPr>
                        <a:t>5.98%</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09650">
                <a:tc>
                  <a:txBody>
                    <a:bodyPr/>
                    <a:lstStyle/>
                    <a:p>
                      <a:pPr indent="0" lvl="0" marL="0" rtl="0" algn="ctr">
                        <a:lnSpc>
                          <a:spcPct val="115000"/>
                        </a:lnSpc>
                        <a:spcBef>
                          <a:spcPts val="0"/>
                        </a:spcBef>
                        <a:spcAft>
                          <a:spcPts val="0"/>
                        </a:spcAft>
                        <a:buNone/>
                      </a:pPr>
                      <a:r>
                        <a:rPr lang="en" sz="1000">
                          <a:latin typeface="Inter"/>
                          <a:ea typeface="Inter"/>
                          <a:cs typeface="Inter"/>
                          <a:sym typeface="Inter"/>
                        </a:rPr>
                        <a:t>6</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PANADOL EXTRA TABLET 65/500MG 10X10</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Inter"/>
                          <a:ea typeface="Inter"/>
                          <a:cs typeface="Inter"/>
                          <a:sym typeface="Inter"/>
                        </a:rPr>
                        <a:t>98,628,109</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Inter"/>
                          <a:ea typeface="Inter"/>
                          <a:cs typeface="Inter"/>
                          <a:sym typeface="Inter"/>
                        </a:rPr>
                        <a:t>4.71%</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09650">
                <a:tc>
                  <a:txBody>
                    <a:bodyPr/>
                    <a:lstStyle/>
                    <a:p>
                      <a:pPr indent="0" lvl="0" marL="0" rtl="0" algn="ctr">
                        <a:lnSpc>
                          <a:spcPct val="115000"/>
                        </a:lnSpc>
                        <a:spcBef>
                          <a:spcPts val="0"/>
                        </a:spcBef>
                        <a:spcAft>
                          <a:spcPts val="0"/>
                        </a:spcAft>
                        <a:buNone/>
                      </a:pPr>
                      <a:r>
                        <a:rPr lang="en" sz="1000">
                          <a:latin typeface="Inter"/>
                          <a:ea typeface="Inter"/>
                          <a:cs typeface="Inter"/>
                          <a:sym typeface="Inter"/>
                        </a:rPr>
                        <a:t>7</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PANADOL TABLET 500MG 1X100</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Inter"/>
                          <a:ea typeface="Inter"/>
                          <a:cs typeface="Inter"/>
                          <a:sym typeface="Inter"/>
                        </a:rPr>
                        <a:t>88,334,879</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Inter"/>
                          <a:ea typeface="Inter"/>
                          <a:cs typeface="Inter"/>
                          <a:sym typeface="Inter"/>
                        </a:rPr>
                        <a:t>4.22%</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09650">
                <a:tc>
                  <a:txBody>
                    <a:bodyPr/>
                    <a:lstStyle/>
                    <a:p>
                      <a:pPr indent="0" lvl="0" marL="0" rtl="0" algn="ctr">
                        <a:lnSpc>
                          <a:spcPct val="115000"/>
                        </a:lnSpc>
                        <a:spcBef>
                          <a:spcPts val="0"/>
                        </a:spcBef>
                        <a:spcAft>
                          <a:spcPts val="0"/>
                        </a:spcAft>
                        <a:buNone/>
                      </a:pPr>
                      <a:r>
                        <a:rPr lang="en" sz="1000">
                          <a:latin typeface="Inter"/>
                          <a:ea typeface="Inter"/>
                          <a:cs typeface="Inter"/>
                          <a:sym typeface="Inter"/>
                        </a:rPr>
                        <a:t>8</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Sensodyne Pasta Gigi Sensitif Essensial Care Fresh Mint 100gr</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Inter"/>
                          <a:ea typeface="Inter"/>
                          <a:cs typeface="Inter"/>
                          <a:sym typeface="Inter"/>
                        </a:rPr>
                        <a:t>77,438,959</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Inter"/>
                          <a:ea typeface="Inter"/>
                          <a:cs typeface="Inter"/>
                          <a:sym typeface="Inter"/>
                        </a:rPr>
                        <a:t>3.70%</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09650">
                <a:tc>
                  <a:txBody>
                    <a:bodyPr/>
                    <a:lstStyle/>
                    <a:p>
                      <a:pPr indent="0" lvl="0" marL="0" rtl="0" algn="ctr">
                        <a:lnSpc>
                          <a:spcPct val="115000"/>
                        </a:lnSpc>
                        <a:spcBef>
                          <a:spcPts val="0"/>
                        </a:spcBef>
                        <a:spcAft>
                          <a:spcPts val="0"/>
                        </a:spcAft>
                        <a:buNone/>
                      </a:pPr>
                      <a:r>
                        <a:rPr lang="en" sz="1000">
                          <a:latin typeface="Inter"/>
                          <a:ea typeface="Inter"/>
                          <a:cs typeface="Inter"/>
                          <a:sym typeface="Inter"/>
                        </a:rPr>
                        <a:t>9</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PANADOL COLD&amp;FLU CAPLET 1X100</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Inter"/>
                          <a:ea typeface="Inter"/>
                          <a:cs typeface="Inter"/>
                          <a:sym typeface="Inter"/>
                        </a:rPr>
                        <a:t>70,617,645</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Inter"/>
                          <a:ea typeface="Inter"/>
                          <a:cs typeface="Inter"/>
                          <a:sym typeface="Inter"/>
                        </a:rPr>
                        <a:t>3.37%</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09650">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10</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Inter"/>
                          <a:ea typeface="Inter"/>
                          <a:cs typeface="Inter"/>
                          <a:sym typeface="Inter"/>
                        </a:rPr>
                        <a:t>Sensodyne Pasta Gigi Sensitif Essensial Care Multi Action 100gr</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Inter"/>
                          <a:ea typeface="Inter"/>
                          <a:cs typeface="Inter"/>
                          <a:sym typeface="Inter"/>
                        </a:rPr>
                        <a:t>51,860,580</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Inter"/>
                          <a:ea typeface="Inter"/>
                          <a:cs typeface="Inter"/>
                          <a:sym typeface="Inter"/>
                        </a:rPr>
                        <a:t>2.47%</a:t>
                      </a:r>
                      <a:endParaRPr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09650">
                <a:tc gridSpan="2">
                  <a:txBody>
                    <a:bodyPr/>
                    <a:lstStyle/>
                    <a:p>
                      <a:pPr indent="0" lvl="0" marL="0" rtl="0" algn="l">
                        <a:lnSpc>
                          <a:spcPct val="115000"/>
                        </a:lnSpc>
                        <a:spcBef>
                          <a:spcPts val="0"/>
                        </a:spcBef>
                        <a:spcAft>
                          <a:spcPts val="0"/>
                        </a:spcAft>
                        <a:buNone/>
                      </a:pPr>
                      <a:r>
                        <a:rPr b="1" lang="en" sz="1000">
                          <a:solidFill>
                            <a:srgbClr val="FFFFFF"/>
                          </a:solidFill>
                          <a:latin typeface="Inter"/>
                          <a:ea typeface="Inter"/>
                          <a:cs typeface="Inter"/>
                          <a:sym typeface="Inter"/>
                        </a:rPr>
                        <a:t>TOTAL REVENUE TOP 10 SKU</a:t>
                      </a:r>
                      <a:endParaRPr b="1" sz="1000">
                        <a:solidFill>
                          <a:srgbClr val="FFFFFF"/>
                        </a:solidFill>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A86E8"/>
                    </a:solidFill>
                  </a:tcPr>
                </a:tc>
                <a:tc hMerge="1"/>
                <a:tc gridSpan="2">
                  <a:txBody>
                    <a:bodyPr/>
                    <a:lstStyle/>
                    <a:p>
                      <a:pPr indent="0" lvl="0" marL="0" rtl="0" algn="ctr">
                        <a:lnSpc>
                          <a:spcPct val="115000"/>
                        </a:lnSpc>
                        <a:spcBef>
                          <a:spcPts val="0"/>
                        </a:spcBef>
                        <a:spcAft>
                          <a:spcPts val="0"/>
                        </a:spcAft>
                        <a:buNone/>
                      </a:pPr>
                      <a:r>
                        <a:rPr b="1" lang="en" sz="1000">
                          <a:latin typeface="Inter"/>
                          <a:ea typeface="Inter"/>
                          <a:cs typeface="Inter"/>
                          <a:sym typeface="Inter"/>
                        </a:rPr>
                        <a:t>1,567,029,870</a:t>
                      </a:r>
                      <a:endParaRPr b="1"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D9D9"/>
                    </a:solidFill>
                  </a:tcPr>
                </a:tc>
                <a:tc hMerge="1"/>
              </a:tr>
              <a:tr h="209650">
                <a:tc gridSpan="2">
                  <a:txBody>
                    <a:bodyPr/>
                    <a:lstStyle/>
                    <a:p>
                      <a:pPr indent="0" lvl="0" marL="0" rtl="0" algn="l">
                        <a:lnSpc>
                          <a:spcPct val="115000"/>
                        </a:lnSpc>
                        <a:spcBef>
                          <a:spcPts val="0"/>
                        </a:spcBef>
                        <a:spcAft>
                          <a:spcPts val="0"/>
                        </a:spcAft>
                        <a:buNone/>
                      </a:pPr>
                      <a:r>
                        <a:rPr b="1" lang="en" sz="1000">
                          <a:solidFill>
                            <a:srgbClr val="FFFFFF"/>
                          </a:solidFill>
                          <a:latin typeface="Inter"/>
                          <a:ea typeface="Inter"/>
                          <a:cs typeface="Inter"/>
                          <a:sym typeface="Inter"/>
                        </a:rPr>
                        <a:t>GMV August</a:t>
                      </a:r>
                      <a:endParaRPr b="1" sz="1000">
                        <a:solidFill>
                          <a:srgbClr val="FFFFFF"/>
                        </a:solidFill>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A86E8"/>
                    </a:solidFill>
                  </a:tcPr>
                </a:tc>
                <a:tc hMerge="1"/>
                <a:tc gridSpan="2">
                  <a:txBody>
                    <a:bodyPr/>
                    <a:lstStyle/>
                    <a:p>
                      <a:pPr indent="0" lvl="0" marL="0" rtl="0" algn="ctr">
                        <a:lnSpc>
                          <a:spcPct val="115000"/>
                        </a:lnSpc>
                        <a:spcBef>
                          <a:spcPts val="0"/>
                        </a:spcBef>
                        <a:spcAft>
                          <a:spcPts val="0"/>
                        </a:spcAft>
                        <a:buNone/>
                      </a:pPr>
                      <a:r>
                        <a:rPr b="1" lang="en" sz="1000">
                          <a:latin typeface="Inter"/>
                          <a:ea typeface="Inter"/>
                          <a:cs typeface="Inter"/>
                          <a:sym typeface="Inter"/>
                        </a:rPr>
                        <a:t>2,095,486,266</a:t>
                      </a:r>
                      <a:endParaRPr b="1"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D9D9D9"/>
                    </a:solidFill>
                  </a:tcPr>
                </a:tc>
                <a:tc hMerge="1"/>
              </a:tr>
              <a:tr h="209650">
                <a:tc gridSpan="2">
                  <a:txBody>
                    <a:bodyPr/>
                    <a:lstStyle/>
                    <a:p>
                      <a:pPr indent="0" lvl="0" marL="0" rtl="0" algn="l">
                        <a:lnSpc>
                          <a:spcPct val="115000"/>
                        </a:lnSpc>
                        <a:spcBef>
                          <a:spcPts val="0"/>
                        </a:spcBef>
                        <a:spcAft>
                          <a:spcPts val="0"/>
                        </a:spcAft>
                        <a:buNone/>
                      </a:pPr>
                      <a:r>
                        <a:rPr b="1" lang="en" sz="1000">
                          <a:solidFill>
                            <a:srgbClr val="FFFFFF"/>
                          </a:solidFill>
                          <a:latin typeface="Inter"/>
                          <a:ea typeface="Inter"/>
                          <a:cs typeface="Inter"/>
                          <a:sym typeface="Inter"/>
                        </a:rPr>
                        <a:t>CONTRIBUTION TOP 10 SKU</a:t>
                      </a:r>
                      <a:endParaRPr b="1" sz="1000">
                        <a:solidFill>
                          <a:srgbClr val="FFFFFF"/>
                        </a:solidFill>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4A86E8"/>
                    </a:solidFill>
                  </a:tcPr>
                </a:tc>
                <a:tc hMerge="1"/>
                <a:tc gridSpan="2">
                  <a:txBody>
                    <a:bodyPr/>
                    <a:lstStyle/>
                    <a:p>
                      <a:pPr indent="0" lvl="0" marL="0" rtl="0" algn="ctr">
                        <a:lnSpc>
                          <a:spcPct val="115000"/>
                        </a:lnSpc>
                        <a:spcBef>
                          <a:spcPts val="0"/>
                        </a:spcBef>
                        <a:spcAft>
                          <a:spcPts val="0"/>
                        </a:spcAft>
                        <a:buNone/>
                      </a:pPr>
                      <a:r>
                        <a:rPr b="1" lang="en" sz="1000">
                          <a:latin typeface="Inter"/>
                          <a:ea typeface="Inter"/>
                          <a:cs typeface="Inter"/>
                          <a:sym typeface="Inter"/>
                        </a:rPr>
                        <a:t>74.79%</a:t>
                      </a:r>
                      <a:endParaRPr b="1" sz="1000">
                        <a:latin typeface="Inter"/>
                        <a:ea typeface="Inter"/>
                        <a:cs typeface="Inter"/>
                        <a:sym typeface="Inter"/>
                      </a:endParaRPr>
                    </a:p>
                  </a:txBody>
                  <a:tcPr marT="19050" marB="19050" marR="28575" marL="28575"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CCCC"/>
                    </a:solidFill>
                  </a:tcPr>
                </a:tc>
                <a:tc hMerge="1"/>
              </a:tr>
            </a:tbl>
          </a:graphicData>
        </a:graphic>
      </p:graphicFrame>
      <p:pic>
        <p:nvPicPr>
          <p:cNvPr id="482" name="Google Shape;482;p55"/>
          <p:cNvPicPr preferRelativeResize="0"/>
          <p:nvPr/>
        </p:nvPicPr>
        <p:blipFill rotWithShape="1">
          <a:blip r:embed="rId8">
            <a:alphaModFix/>
          </a:blip>
          <a:srcRect b="34907" l="0" r="0" t="35784"/>
          <a:stretch/>
        </p:blipFill>
        <p:spPr>
          <a:xfrm>
            <a:off x="6807162" y="4368475"/>
            <a:ext cx="772941" cy="228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6"/>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pic>
        <p:nvPicPr>
          <p:cNvPr id="488" name="Google Shape;488;p56"/>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pic>
        <p:nvPicPr>
          <p:cNvPr id="489" name="Google Shape;489;p56"/>
          <p:cNvPicPr preferRelativeResize="0"/>
          <p:nvPr/>
        </p:nvPicPr>
        <p:blipFill rotWithShape="1">
          <a:blip r:embed="rId4">
            <a:alphaModFix/>
          </a:blip>
          <a:srcRect b="0" l="0" r="0" t="12564"/>
          <a:stretch/>
        </p:blipFill>
        <p:spPr>
          <a:xfrm>
            <a:off x="7406900" y="121550"/>
            <a:ext cx="634924" cy="451775"/>
          </a:xfrm>
          <a:prstGeom prst="rect">
            <a:avLst/>
          </a:prstGeom>
          <a:noFill/>
          <a:ln>
            <a:noFill/>
          </a:ln>
        </p:spPr>
      </p:pic>
      <p:sp>
        <p:nvSpPr>
          <p:cNvPr id="490" name="Google Shape;490;p56"/>
          <p:cNvSpPr txBox="1"/>
          <p:nvPr>
            <p:ph type="ctrTitle"/>
          </p:nvPr>
        </p:nvSpPr>
        <p:spPr>
          <a:xfrm>
            <a:off x="174550" y="131975"/>
            <a:ext cx="8655600" cy="695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B2B Overview</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B2B Fulfillment August</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rPr i="1" lang="en" sz="1200">
                <a:solidFill>
                  <a:srgbClr val="3880C1"/>
                </a:solidFill>
                <a:latin typeface="Inter"/>
                <a:ea typeface="Inter"/>
                <a:cs typeface="Inter"/>
                <a:sym typeface="Inter"/>
              </a:rPr>
              <a:t>A month-on-month improvement in SLA from AnyMind to Platforms.</a:t>
            </a:r>
            <a:endParaRPr i="1" sz="1200">
              <a:solidFill>
                <a:srgbClr val="3880C1"/>
              </a:solidFill>
              <a:latin typeface="Inter"/>
              <a:ea typeface="Inter"/>
              <a:cs typeface="Inter"/>
              <a:sym typeface="Inter"/>
            </a:endParaRPr>
          </a:p>
        </p:txBody>
      </p:sp>
      <p:sp>
        <p:nvSpPr>
          <p:cNvPr id="491" name="Google Shape;491;p56"/>
          <p:cNvSpPr/>
          <p:nvPr/>
        </p:nvSpPr>
        <p:spPr>
          <a:xfrm>
            <a:off x="275400" y="1015294"/>
            <a:ext cx="3154200" cy="281400"/>
          </a:xfrm>
          <a:prstGeom prst="rect">
            <a:avLst/>
          </a:prstGeom>
          <a:solidFill>
            <a:srgbClr val="0B5394"/>
          </a:solidFill>
          <a:ln>
            <a:noFill/>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Clr>
                <a:srgbClr val="000000"/>
              </a:buClr>
              <a:buSzPts val="1000"/>
              <a:buFont typeface="Arial"/>
              <a:buNone/>
            </a:pPr>
            <a:r>
              <a:rPr b="1" i="0" lang="en" sz="1000" u="none" cap="none" strike="noStrike">
                <a:solidFill>
                  <a:srgbClr val="FFFFFF"/>
                </a:solidFill>
                <a:latin typeface="Inter"/>
                <a:ea typeface="Inter"/>
                <a:cs typeface="Inter"/>
                <a:sym typeface="Inter"/>
              </a:rPr>
              <a:t>SLA from PPG to AnyMind</a:t>
            </a:r>
            <a:endParaRPr b="0" i="0" sz="1000" u="none" cap="none" strike="noStrike">
              <a:solidFill>
                <a:srgbClr val="FFFFFF"/>
              </a:solidFill>
              <a:latin typeface="Inter"/>
              <a:ea typeface="Inter"/>
              <a:cs typeface="Inter"/>
              <a:sym typeface="Inter"/>
            </a:endParaRPr>
          </a:p>
        </p:txBody>
      </p:sp>
      <p:sp>
        <p:nvSpPr>
          <p:cNvPr id="492" name="Google Shape;492;p56"/>
          <p:cNvSpPr/>
          <p:nvPr/>
        </p:nvSpPr>
        <p:spPr>
          <a:xfrm>
            <a:off x="275400" y="2561618"/>
            <a:ext cx="3154200" cy="281400"/>
          </a:xfrm>
          <a:prstGeom prst="rect">
            <a:avLst/>
          </a:prstGeom>
          <a:solidFill>
            <a:srgbClr val="0B5394"/>
          </a:solidFill>
          <a:ln>
            <a:noFill/>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Clr>
                <a:srgbClr val="000000"/>
              </a:buClr>
              <a:buSzPts val="1000"/>
              <a:buFont typeface="Arial"/>
              <a:buNone/>
            </a:pPr>
            <a:r>
              <a:rPr b="1" i="0" lang="en" sz="1000" u="none" cap="none" strike="noStrike">
                <a:solidFill>
                  <a:srgbClr val="FFFFFF"/>
                </a:solidFill>
                <a:latin typeface="Inter"/>
                <a:ea typeface="Inter"/>
                <a:cs typeface="Inter"/>
                <a:sym typeface="Inter"/>
              </a:rPr>
              <a:t>SLA from AnyMind to Platforms</a:t>
            </a:r>
            <a:endParaRPr b="0" i="0" sz="1000" u="none" cap="none" strike="noStrike">
              <a:solidFill>
                <a:srgbClr val="FFFFFF"/>
              </a:solidFill>
              <a:latin typeface="Inter"/>
              <a:ea typeface="Inter"/>
              <a:cs typeface="Inter"/>
              <a:sym typeface="Inter"/>
            </a:endParaRPr>
          </a:p>
        </p:txBody>
      </p:sp>
      <p:sp>
        <p:nvSpPr>
          <p:cNvPr id="493" name="Google Shape;493;p56"/>
          <p:cNvSpPr/>
          <p:nvPr/>
        </p:nvSpPr>
        <p:spPr>
          <a:xfrm>
            <a:off x="3780200" y="1015300"/>
            <a:ext cx="5049900" cy="281400"/>
          </a:xfrm>
          <a:prstGeom prst="rect">
            <a:avLst/>
          </a:prstGeom>
          <a:solidFill>
            <a:srgbClr val="0B5394"/>
          </a:solidFill>
          <a:ln>
            <a:noFill/>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Clr>
                <a:srgbClr val="000000"/>
              </a:buClr>
              <a:buSzPts val="1000"/>
              <a:buFont typeface="Arial"/>
              <a:buNone/>
            </a:pPr>
            <a:r>
              <a:rPr b="1" i="0" lang="en" sz="1000" u="none" cap="none" strike="noStrike">
                <a:solidFill>
                  <a:srgbClr val="FFFFFF"/>
                </a:solidFill>
                <a:latin typeface="Inter"/>
                <a:ea typeface="Inter"/>
                <a:cs typeface="Inter"/>
                <a:sym typeface="Inter"/>
              </a:rPr>
              <a:t>List of Unfulfilled SKUs (PPG to AnyMind)</a:t>
            </a:r>
            <a:endParaRPr b="0" i="0" sz="1000" u="none" cap="none" strike="noStrike">
              <a:solidFill>
                <a:srgbClr val="FFFFFF"/>
              </a:solidFill>
              <a:latin typeface="Inter"/>
              <a:ea typeface="Inter"/>
              <a:cs typeface="Inter"/>
              <a:sym typeface="Inter"/>
            </a:endParaRPr>
          </a:p>
        </p:txBody>
      </p:sp>
      <p:sp>
        <p:nvSpPr>
          <p:cNvPr id="494" name="Google Shape;494;p56"/>
          <p:cNvSpPr/>
          <p:nvPr/>
        </p:nvSpPr>
        <p:spPr>
          <a:xfrm rot="10800000">
            <a:off x="1120950" y="2248116"/>
            <a:ext cx="1463100" cy="189300"/>
          </a:xfrm>
          <a:prstGeom prst="triangle">
            <a:avLst>
              <a:gd fmla="val 50005" name="adj"/>
            </a:avLst>
          </a:prstGeom>
          <a:solidFill>
            <a:srgbClr val="0B539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495" name="Google Shape;495;p56"/>
          <p:cNvGraphicFramePr/>
          <p:nvPr/>
        </p:nvGraphicFramePr>
        <p:xfrm>
          <a:off x="414225" y="2949912"/>
          <a:ext cx="3000000" cy="3000000"/>
        </p:xfrm>
        <a:graphic>
          <a:graphicData uri="http://schemas.openxmlformats.org/drawingml/2006/table">
            <a:tbl>
              <a:tblPr>
                <a:noFill/>
                <a:tableStyleId>{C7B0113B-ABCC-46DA-BDED-68E34227E8D4}</a:tableStyleId>
              </a:tblPr>
              <a:tblGrid>
                <a:gridCol w="990600"/>
                <a:gridCol w="1000125"/>
                <a:gridCol w="885825"/>
              </a:tblGrid>
              <a:tr h="347550">
                <a:tc>
                  <a:txBody>
                    <a:bodyPr/>
                    <a:lstStyle/>
                    <a:p>
                      <a:pPr indent="0" lvl="0" marL="0" marR="0" rtl="0" algn="ctr">
                        <a:lnSpc>
                          <a:spcPct val="115000"/>
                        </a:lnSpc>
                        <a:spcBef>
                          <a:spcPts val="0"/>
                        </a:spcBef>
                        <a:spcAft>
                          <a:spcPts val="0"/>
                        </a:spcAft>
                        <a:buClr>
                          <a:srgbClr val="000000"/>
                        </a:buClr>
                        <a:buSzPts val="1000"/>
                        <a:buFont typeface="Arial"/>
                        <a:buNone/>
                      </a:pPr>
                      <a:r>
                        <a:rPr b="1" lang="en" sz="1000">
                          <a:solidFill>
                            <a:srgbClr val="FFFFFF"/>
                          </a:solidFill>
                          <a:latin typeface="Inter"/>
                          <a:ea typeface="Inter"/>
                          <a:cs typeface="Inter"/>
                          <a:sym typeface="Inter"/>
                        </a:rPr>
                        <a:t>July</a:t>
                      </a:r>
                      <a:endParaRPr b="1" sz="1000" u="none" cap="none" strike="noStrike">
                        <a:solidFill>
                          <a:srgbClr val="FFFFFF"/>
                        </a:solidFill>
                        <a:latin typeface="Inter"/>
                        <a:ea typeface="Inter"/>
                        <a:cs typeface="Inter"/>
                        <a:sym typeface="Inte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285F4"/>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a:solidFill>
                            <a:srgbClr val="FFFFFF"/>
                          </a:solidFill>
                          <a:latin typeface="Inter"/>
                          <a:ea typeface="Inter"/>
                          <a:cs typeface="Inter"/>
                          <a:sym typeface="Inter"/>
                        </a:rPr>
                        <a:t>August</a:t>
                      </a:r>
                      <a:endParaRPr b="1" sz="1000" u="none" cap="none" strike="noStrike">
                        <a:solidFill>
                          <a:srgbClr val="FFFFFF"/>
                        </a:solidFill>
                        <a:latin typeface="Inter"/>
                        <a:ea typeface="Inter"/>
                        <a:cs typeface="Inter"/>
                        <a:sym typeface="Inte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285F4"/>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rgbClr val="FFFFFF"/>
                          </a:solidFill>
                          <a:latin typeface="Inter"/>
                          <a:ea typeface="Inter"/>
                          <a:cs typeface="Inter"/>
                          <a:sym typeface="Inter"/>
                        </a:rPr>
                        <a:t>Growth</a:t>
                      </a:r>
                      <a:endParaRPr b="1" sz="1000" u="none" cap="none" strike="noStrike">
                        <a:solidFill>
                          <a:srgbClr val="FFFFFF"/>
                        </a:solidFill>
                        <a:latin typeface="Inter"/>
                        <a:ea typeface="Inter"/>
                        <a:cs typeface="Inter"/>
                        <a:sym typeface="Inte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285F4"/>
                    </a:solidFill>
                  </a:tcPr>
                </a:tc>
              </a:tr>
              <a:tr h="34755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latin typeface="Inter"/>
                          <a:ea typeface="Inter"/>
                          <a:cs typeface="Inter"/>
                          <a:sym typeface="Inter"/>
                        </a:rPr>
                        <a:t>           9</a:t>
                      </a:r>
                      <a:r>
                        <a:rPr b="1" lang="en" sz="1000">
                          <a:latin typeface="Inter"/>
                          <a:ea typeface="Inter"/>
                          <a:cs typeface="Inter"/>
                          <a:sym typeface="Inter"/>
                        </a:rPr>
                        <a:t>9</a:t>
                      </a:r>
                      <a:r>
                        <a:rPr b="1" lang="en" sz="1000" u="none" cap="none" strike="noStrike">
                          <a:latin typeface="Inter"/>
                          <a:ea typeface="Inter"/>
                          <a:cs typeface="Inter"/>
                          <a:sym typeface="Inter"/>
                        </a:rPr>
                        <a:t>%</a:t>
                      </a:r>
                      <a:endParaRPr b="1" sz="1000" u="none" cap="none" strike="noStrike">
                        <a:latin typeface="Inter"/>
                        <a:ea typeface="Inter"/>
                        <a:cs typeface="Inter"/>
                        <a:sym typeface="Inte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latin typeface="Inter"/>
                          <a:ea typeface="Inter"/>
                          <a:cs typeface="Inter"/>
                          <a:sym typeface="Inter"/>
                        </a:rPr>
                        <a:t>           99%</a:t>
                      </a:r>
                      <a:endParaRPr b="1" sz="1000" u="none" cap="none" strike="noStrike">
                        <a:latin typeface="Inter"/>
                        <a:ea typeface="Inter"/>
                        <a:cs typeface="Inter"/>
                        <a:sym typeface="Inte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latin typeface="Inter"/>
                          <a:ea typeface="Inter"/>
                          <a:cs typeface="Inter"/>
                          <a:sym typeface="Inter"/>
                        </a:rPr>
                        <a:t>       </a:t>
                      </a:r>
                      <a:r>
                        <a:rPr b="1" lang="en" sz="1000">
                          <a:latin typeface="Inter"/>
                          <a:ea typeface="Inter"/>
                          <a:cs typeface="Inter"/>
                          <a:sym typeface="Inter"/>
                        </a:rPr>
                        <a:t>+0</a:t>
                      </a:r>
                      <a:r>
                        <a:rPr b="1" lang="en" sz="1000" u="none" cap="none" strike="noStrike">
                          <a:latin typeface="Inter"/>
                          <a:ea typeface="Inter"/>
                          <a:cs typeface="Inter"/>
                          <a:sym typeface="Inter"/>
                        </a:rPr>
                        <a:t>pp</a:t>
                      </a:r>
                      <a:endParaRPr b="1" sz="1000" u="none" cap="none" strike="noStrike">
                        <a:latin typeface="Inter"/>
                        <a:ea typeface="Inter"/>
                        <a:cs typeface="Inter"/>
                        <a:sym typeface="Inte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496" name="Google Shape;496;p56"/>
          <p:cNvGraphicFramePr/>
          <p:nvPr/>
        </p:nvGraphicFramePr>
        <p:xfrm>
          <a:off x="414225" y="1422019"/>
          <a:ext cx="3000000" cy="3000000"/>
        </p:xfrm>
        <a:graphic>
          <a:graphicData uri="http://schemas.openxmlformats.org/drawingml/2006/table">
            <a:tbl>
              <a:tblPr>
                <a:noFill/>
                <a:tableStyleId>{C7B0113B-ABCC-46DA-BDED-68E34227E8D4}</a:tableStyleId>
              </a:tblPr>
              <a:tblGrid>
                <a:gridCol w="990600"/>
                <a:gridCol w="1000125"/>
                <a:gridCol w="885825"/>
              </a:tblGrid>
              <a:tr h="347550">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rgbClr val="FFFFFF"/>
                          </a:solidFill>
                          <a:latin typeface="Inter"/>
                          <a:ea typeface="Inter"/>
                          <a:cs typeface="Inter"/>
                          <a:sym typeface="Inter"/>
                        </a:rPr>
                        <a:t>Ju</a:t>
                      </a:r>
                      <a:r>
                        <a:rPr b="1" lang="en" sz="1000">
                          <a:solidFill>
                            <a:srgbClr val="FFFFFF"/>
                          </a:solidFill>
                          <a:latin typeface="Inter"/>
                          <a:ea typeface="Inter"/>
                          <a:cs typeface="Inter"/>
                          <a:sym typeface="Inter"/>
                        </a:rPr>
                        <a:t>ly</a:t>
                      </a:r>
                      <a:endParaRPr b="1" sz="1000" u="none" cap="none" strike="noStrike">
                        <a:solidFill>
                          <a:srgbClr val="FFFFFF"/>
                        </a:solidFill>
                        <a:latin typeface="Inter"/>
                        <a:ea typeface="Inter"/>
                        <a:cs typeface="Inter"/>
                        <a:sym typeface="Inte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285F4"/>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a:solidFill>
                            <a:srgbClr val="FFFFFF"/>
                          </a:solidFill>
                          <a:latin typeface="Inter"/>
                          <a:ea typeface="Inter"/>
                          <a:cs typeface="Inter"/>
                          <a:sym typeface="Inter"/>
                        </a:rPr>
                        <a:t>August</a:t>
                      </a:r>
                      <a:endParaRPr b="1" sz="1000" u="none" cap="none" strike="noStrike">
                        <a:solidFill>
                          <a:srgbClr val="FFFFFF"/>
                        </a:solidFill>
                        <a:latin typeface="Inter"/>
                        <a:ea typeface="Inter"/>
                        <a:cs typeface="Inter"/>
                        <a:sym typeface="Inte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285F4"/>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rgbClr val="FFFFFF"/>
                          </a:solidFill>
                          <a:latin typeface="Inter"/>
                          <a:ea typeface="Inter"/>
                          <a:cs typeface="Inter"/>
                          <a:sym typeface="Inter"/>
                        </a:rPr>
                        <a:t>Growth</a:t>
                      </a:r>
                      <a:endParaRPr b="1" sz="1000" u="none" cap="none" strike="noStrike">
                        <a:solidFill>
                          <a:srgbClr val="FFFFFF"/>
                        </a:solidFill>
                        <a:latin typeface="Inter"/>
                        <a:ea typeface="Inter"/>
                        <a:cs typeface="Inter"/>
                        <a:sym typeface="Inte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285F4"/>
                    </a:solidFill>
                  </a:tcPr>
                </a:tc>
              </a:tr>
              <a:tr h="347550">
                <a:tc>
                  <a:txBody>
                    <a:bodyPr/>
                    <a:lstStyle/>
                    <a:p>
                      <a:pPr indent="0" lvl="0" marL="0" marR="0" rtl="0" algn="ctr">
                        <a:lnSpc>
                          <a:spcPct val="115000"/>
                        </a:lnSpc>
                        <a:spcBef>
                          <a:spcPts val="0"/>
                        </a:spcBef>
                        <a:spcAft>
                          <a:spcPts val="0"/>
                        </a:spcAft>
                        <a:buClr>
                          <a:srgbClr val="000000"/>
                        </a:buClr>
                        <a:buSzPts val="1000"/>
                        <a:buFont typeface="Arial"/>
                        <a:buNone/>
                      </a:pPr>
                      <a:r>
                        <a:rPr b="1" lang="en" sz="1000">
                          <a:latin typeface="Inter"/>
                          <a:ea typeface="Inter"/>
                          <a:cs typeface="Inter"/>
                          <a:sym typeface="Inter"/>
                        </a:rPr>
                        <a:t>74</a:t>
                      </a:r>
                      <a:r>
                        <a:rPr b="1" lang="en" sz="1000" u="none" cap="none" strike="noStrike">
                          <a:latin typeface="Inter"/>
                          <a:ea typeface="Inter"/>
                          <a:cs typeface="Inter"/>
                          <a:sym typeface="Inter"/>
                        </a:rPr>
                        <a:t>%</a:t>
                      </a:r>
                      <a:endParaRPr b="1" sz="1000" u="none" cap="none" strike="noStrike">
                        <a:solidFill>
                          <a:srgbClr val="E69138"/>
                        </a:solidFill>
                        <a:latin typeface="Inter"/>
                        <a:ea typeface="Inter"/>
                        <a:cs typeface="Inter"/>
                        <a:sym typeface="Inte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latin typeface="Inter"/>
                          <a:ea typeface="Inter"/>
                          <a:cs typeface="Inter"/>
                          <a:sym typeface="Inter"/>
                        </a:rPr>
                        <a:t>7</a:t>
                      </a:r>
                      <a:r>
                        <a:rPr b="1" lang="en" sz="1000">
                          <a:latin typeface="Inter"/>
                          <a:ea typeface="Inter"/>
                          <a:cs typeface="Inter"/>
                          <a:sym typeface="Inter"/>
                        </a:rPr>
                        <a:t>7</a:t>
                      </a:r>
                      <a:r>
                        <a:rPr b="1" lang="en" sz="1000" u="none" cap="none" strike="noStrike">
                          <a:latin typeface="Inter"/>
                          <a:ea typeface="Inter"/>
                          <a:cs typeface="Inter"/>
                          <a:sym typeface="Inter"/>
                        </a:rPr>
                        <a:t>%</a:t>
                      </a:r>
                      <a:endParaRPr b="1" sz="1000" u="none" cap="none" strike="noStrike">
                        <a:latin typeface="Inter"/>
                        <a:ea typeface="Inter"/>
                        <a:cs typeface="Inter"/>
                        <a:sym typeface="Inte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a:latin typeface="Inter"/>
                          <a:ea typeface="Inter"/>
                          <a:cs typeface="Inter"/>
                          <a:sym typeface="Inter"/>
                        </a:rPr>
                        <a:t>+3</a:t>
                      </a:r>
                      <a:r>
                        <a:rPr b="1" lang="en" sz="1000" u="none" cap="none" strike="noStrike">
                          <a:latin typeface="Inter"/>
                          <a:ea typeface="Inter"/>
                          <a:cs typeface="Inter"/>
                          <a:sym typeface="Inter"/>
                        </a:rPr>
                        <a:t>pp</a:t>
                      </a:r>
                      <a:endParaRPr b="1" sz="1000" u="none" cap="none" strike="noStrike">
                        <a:solidFill>
                          <a:srgbClr val="E06666"/>
                        </a:solidFill>
                        <a:latin typeface="Inter"/>
                        <a:ea typeface="Inter"/>
                        <a:cs typeface="Inter"/>
                        <a:sym typeface="Inter"/>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497" name="Google Shape;497;p56"/>
          <p:cNvSpPr/>
          <p:nvPr/>
        </p:nvSpPr>
        <p:spPr>
          <a:xfrm flipH="1">
            <a:off x="6314215" y="3947593"/>
            <a:ext cx="1200" cy="726300"/>
          </a:xfrm>
          <a:prstGeom prst="rect">
            <a:avLst/>
          </a:prstGeom>
          <a:solidFill>
            <a:srgbClr val="EEEEEE"/>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98" name="Google Shape;498;p56"/>
          <p:cNvPicPr preferRelativeResize="0"/>
          <p:nvPr/>
        </p:nvPicPr>
        <p:blipFill rotWithShape="1">
          <a:blip r:embed="rId5">
            <a:alphaModFix/>
          </a:blip>
          <a:srcRect b="0" l="0" r="0" t="0"/>
          <a:stretch/>
        </p:blipFill>
        <p:spPr>
          <a:xfrm>
            <a:off x="6509386" y="3887550"/>
            <a:ext cx="651651" cy="651651"/>
          </a:xfrm>
          <a:prstGeom prst="rect">
            <a:avLst/>
          </a:prstGeom>
          <a:noFill/>
          <a:ln>
            <a:noFill/>
          </a:ln>
        </p:spPr>
      </p:pic>
      <p:sp>
        <p:nvSpPr>
          <p:cNvPr id="499" name="Google Shape;499;p56"/>
          <p:cNvSpPr txBox="1"/>
          <p:nvPr/>
        </p:nvSpPr>
        <p:spPr>
          <a:xfrm>
            <a:off x="1602438" y="3858475"/>
            <a:ext cx="1416300" cy="912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700"/>
              <a:buFont typeface="Arial"/>
              <a:buNone/>
            </a:pPr>
            <a:r>
              <a:rPr b="0" i="0" lang="en" sz="700" u="none" cap="none" strike="noStrike">
                <a:solidFill>
                  <a:srgbClr val="000000"/>
                </a:solidFill>
                <a:latin typeface="Inter"/>
                <a:ea typeface="Inter"/>
                <a:cs typeface="Inter"/>
                <a:sym typeface="Inter"/>
              </a:rPr>
              <a:t>AnyMind achieved its highest customer SLA fulfillment rate in July - </a:t>
            </a:r>
            <a:r>
              <a:rPr lang="en" sz="700">
                <a:latin typeface="Inter"/>
                <a:ea typeface="Inter"/>
                <a:cs typeface="Inter"/>
                <a:sym typeface="Inter"/>
              </a:rPr>
              <a:t>Aug</a:t>
            </a:r>
            <a:r>
              <a:rPr b="0" i="0" lang="en" sz="700" u="none" cap="none" strike="noStrike">
                <a:solidFill>
                  <a:srgbClr val="000000"/>
                </a:solidFill>
                <a:latin typeface="Inter"/>
                <a:ea typeface="Inter"/>
                <a:cs typeface="Inter"/>
                <a:sym typeface="Inter"/>
              </a:rPr>
              <a:t> 2026 at 99%, driven by strategic stock buffering and customer demand forecasting.</a:t>
            </a:r>
            <a:endParaRPr b="0" i="0" sz="700" u="none" cap="none" strike="noStrike">
              <a:solidFill>
                <a:srgbClr val="000000"/>
              </a:solidFill>
              <a:latin typeface="Inter"/>
              <a:ea typeface="Inter"/>
              <a:cs typeface="Inter"/>
              <a:sym typeface="Inter"/>
            </a:endParaRPr>
          </a:p>
        </p:txBody>
      </p:sp>
      <p:sp>
        <p:nvSpPr>
          <p:cNvPr id="500" name="Google Shape;500;p56"/>
          <p:cNvSpPr/>
          <p:nvPr/>
        </p:nvSpPr>
        <p:spPr>
          <a:xfrm flipH="1">
            <a:off x="3892290" y="3961693"/>
            <a:ext cx="1200" cy="726300"/>
          </a:xfrm>
          <a:prstGeom prst="rect">
            <a:avLst/>
          </a:prstGeom>
          <a:solidFill>
            <a:srgbClr val="EEEEEE"/>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56"/>
          <p:cNvSpPr/>
          <p:nvPr/>
        </p:nvSpPr>
        <p:spPr>
          <a:xfrm>
            <a:off x="297175" y="3874975"/>
            <a:ext cx="1188900" cy="836100"/>
          </a:xfrm>
          <a:prstGeom prst="rect">
            <a:avLst/>
          </a:prstGeom>
          <a:solidFill>
            <a:srgbClr val="0B5394"/>
          </a:solidFill>
          <a:ln>
            <a:noFill/>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Clr>
                <a:srgbClr val="000000"/>
              </a:buClr>
              <a:buSzPts val="1000"/>
              <a:buFont typeface="Arial"/>
              <a:buNone/>
            </a:pPr>
            <a:r>
              <a:rPr b="1" i="0" lang="en" sz="1000" u="none" cap="none" strike="noStrike">
                <a:solidFill>
                  <a:srgbClr val="FFFFFF"/>
                </a:solidFill>
                <a:latin typeface="Inter"/>
                <a:ea typeface="Inter"/>
                <a:cs typeface="Inter"/>
                <a:sym typeface="Inter"/>
              </a:rPr>
              <a:t>Key Insights</a:t>
            </a:r>
            <a:endParaRPr b="0" i="0" sz="1000" u="none" cap="none" strike="noStrike">
              <a:solidFill>
                <a:srgbClr val="FFFFFF"/>
              </a:solidFill>
              <a:latin typeface="Inter"/>
              <a:ea typeface="Inter"/>
              <a:cs typeface="Inter"/>
              <a:sym typeface="Inter"/>
            </a:endParaRPr>
          </a:p>
        </p:txBody>
      </p:sp>
      <p:sp>
        <p:nvSpPr>
          <p:cNvPr id="502" name="Google Shape;502;p56"/>
          <p:cNvSpPr txBox="1"/>
          <p:nvPr/>
        </p:nvSpPr>
        <p:spPr>
          <a:xfrm>
            <a:off x="4882200" y="3892525"/>
            <a:ext cx="1416300" cy="64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900"/>
              <a:buFont typeface="Arial"/>
              <a:buNone/>
            </a:pPr>
            <a:r>
              <a:rPr lang="en" sz="900">
                <a:latin typeface="Inter"/>
                <a:ea typeface="Inter"/>
                <a:cs typeface="Inter"/>
                <a:sym typeface="Inter"/>
              </a:rPr>
              <a:t>Stable</a:t>
            </a:r>
            <a:r>
              <a:rPr b="0" i="0" lang="en" sz="900" u="none" cap="none" strike="noStrike">
                <a:solidFill>
                  <a:srgbClr val="000000"/>
                </a:solidFill>
                <a:latin typeface="Inter"/>
                <a:ea typeface="Inter"/>
                <a:cs typeface="Inter"/>
                <a:sym typeface="Inter"/>
              </a:rPr>
              <a:t> in fulfillment rate from Any</a:t>
            </a:r>
            <a:r>
              <a:rPr lang="en" sz="900">
                <a:latin typeface="Inter"/>
                <a:ea typeface="Inter"/>
                <a:cs typeface="Inter"/>
                <a:sym typeface="Inter"/>
              </a:rPr>
              <a:t>M</a:t>
            </a:r>
            <a:r>
              <a:rPr b="0" i="0" lang="en" sz="900" u="none" cap="none" strike="noStrike">
                <a:solidFill>
                  <a:srgbClr val="000000"/>
                </a:solidFill>
                <a:latin typeface="Inter"/>
                <a:ea typeface="Inter"/>
                <a:cs typeface="Inter"/>
                <a:sym typeface="Inter"/>
              </a:rPr>
              <a:t>ind to platforms (</a:t>
            </a:r>
            <a:r>
              <a:rPr lang="en" sz="900">
                <a:latin typeface="Inter"/>
                <a:ea typeface="Inter"/>
                <a:cs typeface="Inter"/>
                <a:sym typeface="Inter"/>
              </a:rPr>
              <a:t>99% SLA)</a:t>
            </a:r>
            <a:endParaRPr b="0" i="0" sz="900" u="none" cap="none" strike="noStrike">
              <a:solidFill>
                <a:srgbClr val="000000"/>
              </a:solidFill>
              <a:latin typeface="Inter"/>
              <a:ea typeface="Inter"/>
              <a:cs typeface="Inter"/>
              <a:sym typeface="Inter"/>
            </a:endParaRPr>
          </a:p>
        </p:txBody>
      </p:sp>
      <p:sp>
        <p:nvSpPr>
          <p:cNvPr id="503" name="Google Shape;503;p56"/>
          <p:cNvSpPr txBox="1"/>
          <p:nvPr/>
        </p:nvSpPr>
        <p:spPr>
          <a:xfrm>
            <a:off x="7161036" y="3892525"/>
            <a:ext cx="1622700" cy="73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800"/>
              <a:buFont typeface="Arial"/>
              <a:buNone/>
            </a:pPr>
            <a:r>
              <a:rPr lang="en" sz="800">
                <a:latin typeface="Inter"/>
                <a:ea typeface="Inter"/>
                <a:cs typeface="Inter"/>
                <a:sym typeface="Inter"/>
              </a:rPr>
              <a:t>Increasing</a:t>
            </a:r>
            <a:r>
              <a:rPr b="0" i="0" lang="en" sz="800" u="none" cap="none" strike="noStrike">
                <a:solidFill>
                  <a:srgbClr val="000000"/>
                </a:solidFill>
                <a:latin typeface="Inter"/>
                <a:ea typeface="Inter"/>
                <a:cs typeface="Inter"/>
                <a:sym typeface="Inter"/>
              </a:rPr>
              <a:t> in FR PPG to Any</a:t>
            </a:r>
            <a:r>
              <a:rPr lang="en" sz="800">
                <a:latin typeface="Inter"/>
                <a:ea typeface="Inter"/>
                <a:cs typeface="Inter"/>
                <a:sym typeface="Inter"/>
              </a:rPr>
              <a:t>M</a:t>
            </a:r>
            <a:r>
              <a:rPr b="0" i="0" lang="en" sz="800" u="none" cap="none" strike="noStrike">
                <a:solidFill>
                  <a:srgbClr val="000000"/>
                </a:solidFill>
                <a:latin typeface="Inter"/>
                <a:ea typeface="Inter"/>
                <a:cs typeface="Inter"/>
                <a:sym typeface="Inter"/>
              </a:rPr>
              <a:t>ind, </a:t>
            </a:r>
            <a:r>
              <a:rPr lang="en" sz="800">
                <a:latin typeface="Inter"/>
                <a:ea typeface="Inter"/>
                <a:cs typeface="Inter"/>
                <a:sym typeface="Inter"/>
              </a:rPr>
              <a:t>but still need improvement regarding the </a:t>
            </a:r>
            <a:r>
              <a:rPr lang="en" sz="800">
                <a:latin typeface="Inter"/>
                <a:ea typeface="Inter"/>
                <a:cs typeface="Inter"/>
                <a:sym typeface="Inter"/>
              </a:rPr>
              <a:t>forecast</a:t>
            </a:r>
            <a:r>
              <a:rPr lang="en" sz="800">
                <a:latin typeface="Inter"/>
                <a:ea typeface="Inter"/>
                <a:cs typeface="Inter"/>
                <a:sym typeface="Inter"/>
              </a:rPr>
              <a:t> to Supply Chain</a:t>
            </a:r>
            <a:endParaRPr b="0" i="0" sz="800" u="none" cap="none" strike="noStrike">
              <a:solidFill>
                <a:srgbClr val="000000"/>
              </a:solidFill>
              <a:latin typeface="Inter"/>
              <a:ea typeface="Inter"/>
              <a:cs typeface="Inter"/>
              <a:sym typeface="Inter"/>
            </a:endParaRPr>
          </a:p>
        </p:txBody>
      </p:sp>
      <p:sp>
        <p:nvSpPr>
          <p:cNvPr id="504" name="Google Shape;504;p56"/>
          <p:cNvSpPr/>
          <p:nvPr/>
        </p:nvSpPr>
        <p:spPr>
          <a:xfrm>
            <a:off x="4056575" y="3927925"/>
            <a:ext cx="728100" cy="570900"/>
          </a:xfrm>
          <a:prstGeom prst="mathEqual">
            <a:avLst>
              <a:gd fmla="val 23520" name="adj1"/>
              <a:gd fmla="val 1176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aphicFrame>
        <p:nvGraphicFramePr>
          <p:cNvPr id="505" name="Google Shape;505;p56"/>
          <p:cNvGraphicFramePr/>
          <p:nvPr/>
        </p:nvGraphicFramePr>
        <p:xfrm>
          <a:off x="3780200" y="1317963"/>
          <a:ext cx="3000000" cy="3000000"/>
        </p:xfrm>
        <a:graphic>
          <a:graphicData uri="http://schemas.openxmlformats.org/drawingml/2006/table">
            <a:tbl>
              <a:tblPr>
                <a:noFill/>
                <a:tableStyleId>{05CF1300-53F3-430B-9C35-424554A46B0A}</a:tableStyleId>
              </a:tblPr>
              <a:tblGrid>
                <a:gridCol w="2183650"/>
                <a:gridCol w="715950"/>
                <a:gridCol w="715950"/>
                <a:gridCol w="715950"/>
                <a:gridCol w="715950"/>
              </a:tblGrid>
              <a:tr h="234450">
                <a:tc>
                  <a:txBody>
                    <a:bodyPr/>
                    <a:lstStyle/>
                    <a:p>
                      <a:pPr indent="0" lvl="0" marL="0" rtl="0" algn="l">
                        <a:lnSpc>
                          <a:spcPct val="115000"/>
                        </a:lnSpc>
                        <a:spcBef>
                          <a:spcPts val="0"/>
                        </a:spcBef>
                        <a:spcAft>
                          <a:spcPts val="0"/>
                        </a:spcAft>
                        <a:buNone/>
                      </a:pPr>
                      <a:r>
                        <a:rPr b="1" lang="en" sz="800">
                          <a:latin typeface="Inter"/>
                          <a:ea typeface="Inter"/>
                          <a:cs typeface="Inter"/>
                          <a:sym typeface="Inter"/>
                        </a:rPr>
                        <a:t>Nama Barang</a:t>
                      </a:r>
                      <a:endParaRPr b="1"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b="1" lang="en" sz="800">
                          <a:latin typeface="Inter"/>
                          <a:ea typeface="Inter"/>
                          <a:cs typeface="Inter"/>
                          <a:sym typeface="Inter"/>
                        </a:rPr>
                        <a:t>QTY PO CRT</a:t>
                      </a:r>
                      <a:endParaRPr b="1"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b="1" lang="en" sz="800">
                          <a:latin typeface="Inter"/>
                          <a:ea typeface="Inter"/>
                          <a:cs typeface="Inter"/>
                          <a:sym typeface="Inter"/>
                        </a:rPr>
                        <a:t>Qty GR</a:t>
                      </a:r>
                      <a:endParaRPr b="1"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b="1" lang="en" sz="700">
                          <a:latin typeface="Inter"/>
                          <a:ea typeface="Inter"/>
                          <a:cs typeface="Inter"/>
                          <a:sym typeface="Inter"/>
                        </a:rPr>
                        <a:t>SLA</a:t>
                      </a:r>
                      <a:endParaRPr b="1" sz="7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CCCCCC"/>
                    </a:solidFill>
                  </a:tcPr>
                </a:tc>
                <a:tc>
                  <a:txBody>
                    <a:bodyPr/>
                    <a:lstStyle/>
                    <a:p>
                      <a:pPr indent="0" lvl="0" marL="0" rtl="0" algn="l">
                        <a:lnSpc>
                          <a:spcPct val="115000"/>
                        </a:lnSpc>
                        <a:spcBef>
                          <a:spcPts val="0"/>
                        </a:spcBef>
                        <a:spcAft>
                          <a:spcPts val="0"/>
                        </a:spcAft>
                        <a:buNone/>
                      </a:pPr>
                      <a:r>
                        <a:rPr b="1" lang="en" sz="700">
                          <a:latin typeface="Inter"/>
                          <a:ea typeface="Inter"/>
                          <a:cs typeface="Inter"/>
                          <a:sym typeface="Inter"/>
                        </a:rPr>
                        <a:t>Contribution</a:t>
                      </a:r>
                      <a:endParaRPr b="1" sz="7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CCCCCC"/>
                    </a:solidFill>
                  </a:tcPr>
                </a:tc>
              </a:tr>
              <a:tr h="214925">
                <a:tc>
                  <a:txBody>
                    <a:bodyPr/>
                    <a:lstStyle/>
                    <a:p>
                      <a:pPr indent="0" lvl="0" marL="0" rtl="0" algn="l">
                        <a:lnSpc>
                          <a:spcPct val="115000"/>
                        </a:lnSpc>
                        <a:spcBef>
                          <a:spcPts val="0"/>
                        </a:spcBef>
                        <a:spcAft>
                          <a:spcPts val="0"/>
                        </a:spcAft>
                        <a:buNone/>
                      </a:pPr>
                      <a:r>
                        <a:rPr b="1" lang="en" sz="800">
                          <a:latin typeface="Inter"/>
                          <a:ea typeface="Inter"/>
                          <a:cs typeface="Inter"/>
                          <a:sym typeface="Inter"/>
                        </a:rPr>
                        <a:t>SCOTTS EMUL ORIG X400ML_HIGHLANDER ID</a:t>
                      </a:r>
                      <a:endParaRPr b="1"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b="1" lang="en" sz="800">
                          <a:latin typeface="Inter"/>
                          <a:ea typeface="Inter"/>
                          <a:cs typeface="Inter"/>
                          <a:sym typeface="Inter"/>
                        </a:rPr>
                        <a:t>371</a:t>
                      </a:r>
                      <a:endParaRPr b="1"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800">
                          <a:latin typeface="Inter"/>
                          <a:ea typeface="Inter"/>
                          <a:cs typeface="Inter"/>
                          <a:sym typeface="Inter"/>
                        </a:rPr>
                        <a:t>141</a:t>
                      </a:r>
                      <a:endParaRPr b="1"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800">
                          <a:latin typeface="Inter"/>
                          <a:ea typeface="Inter"/>
                          <a:cs typeface="Inter"/>
                          <a:sym typeface="Inter"/>
                        </a:rPr>
                        <a:t>38.01%</a:t>
                      </a:r>
                      <a:endParaRPr b="1"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b="1" lang="en" sz="800">
                          <a:latin typeface="Inter"/>
                          <a:ea typeface="Inter"/>
                          <a:cs typeface="Inter"/>
                          <a:sym typeface="Inter"/>
                        </a:rPr>
                        <a:t>13.81%</a:t>
                      </a:r>
                      <a:endParaRPr b="1"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r>
              <a:tr h="214925">
                <a:tc>
                  <a:txBody>
                    <a:bodyPr/>
                    <a:lstStyle/>
                    <a:p>
                      <a:pPr indent="0" lvl="0" marL="0" rtl="0" algn="l">
                        <a:lnSpc>
                          <a:spcPct val="115000"/>
                        </a:lnSpc>
                        <a:spcBef>
                          <a:spcPts val="0"/>
                        </a:spcBef>
                        <a:spcAft>
                          <a:spcPts val="0"/>
                        </a:spcAft>
                        <a:buNone/>
                      </a:pPr>
                      <a:r>
                        <a:rPr lang="en" sz="800">
                          <a:latin typeface="Inter"/>
                          <a:ea typeface="Inter"/>
                          <a:cs typeface="Inter"/>
                          <a:sym typeface="Inter"/>
                        </a:rPr>
                        <a:t>SENSODYNE TP CAVITY SENS 40G</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7</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3</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42.86%</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0.29%</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r>
              <a:tr h="214925">
                <a:tc>
                  <a:txBody>
                    <a:bodyPr/>
                    <a:lstStyle/>
                    <a:p>
                      <a:pPr indent="0" lvl="0" marL="0" rtl="0" algn="l">
                        <a:lnSpc>
                          <a:spcPct val="115000"/>
                        </a:lnSpc>
                        <a:spcBef>
                          <a:spcPts val="0"/>
                        </a:spcBef>
                        <a:spcAft>
                          <a:spcPts val="0"/>
                        </a:spcAft>
                        <a:buNone/>
                      </a:pPr>
                      <a:r>
                        <a:rPr lang="en" sz="800">
                          <a:latin typeface="Inter"/>
                          <a:ea typeface="Inter"/>
                          <a:cs typeface="Inter"/>
                          <a:sym typeface="Inter"/>
                        </a:rPr>
                        <a:t>SENS TB ULTRA SENSITIVE EX SOFT X2</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23</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10</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43.48%</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0.98%</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r>
              <a:tr h="214925">
                <a:tc>
                  <a:txBody>
                    <a:bodyPr/>
                    <a:lstStyle/>
                    <a:p>
                      <a:pPr indent="0" lvl="0" marL="0" rtl="0" algn="l">
                        <a:lnSpc>
                          <a:spcPct val="115000"/>
                        </a:lnSpc>
                        <a:spcBef>
                          <a:spcPts val="0"/>
                        </a:spcBef>
                        <a:spcAft>
                          <a:spcPts val="0"/>
                        </a:spcAft>
                        <a:buNone/>
                      </a:pPr>
                      <a:r>
                        <a:rPr lang="en" sz="800">
                          <a:latin typeface="Inter"/>
                          <a:ea typeface="Inter"/>
                          <a:cs typeface="Inter"/>
                          <a:sym typeface="Inter"/>
                        </a:rPr>
                        <a:t>POLIDENT FLAVOUR FREE CREAM 1X60G_ID</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9</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4</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44.44%</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0.39%</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r>
              <a:tr h="214925">
                <a:tc>
                  <a:txBody>
                    <a:bodyPr/>
                    <a:lstStyle/>
                    <a:p>
                      <a:pPr indent="0" lvl="0" marL="0" rtl="0" algn="l">
                        <a:lnSpc>
                          <a:spcPct val="115000"/>
                        </a:lnSpc>
                        <a:spcBef>
                          <a:spcPts val="0"/>
                        </a:spcBef>
                        <a:spcAft>
                          <a:spcPts val="0"/>
                        </a:spcAft>
                        <a:buNone/>
                      </a:pPr>
                      <a:r>
                        <a:rPr lang="en" sz="800">
                          <a:latin typeface="Inter"/>
                          <a:ea typeface="Inter"/>
                          <a:cs typeface="Inter"/>
                          <a:sym typeface="Inter"/>
                        </a:rPr>
                        <a:t>SENSODYNE MULTI ACTION TB SOFT 1X1</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30</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18</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60.00%</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1.76%</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r>
              <a:tr h="214925">
                <a:tc>
                  <a:txBody>
                    <a:bodyPr/>
                    <a:lstStyle/>
                    <a:p>
                      <a:pPr indent="0" lvl="0" marL="0" rtl="0" algn="l">
                        <a:lnSpc>
                          <a:spcPct val="115000"/>
                        </a:lnSpc>
                        <a:spcBef>
                          <a:spcPts val="0"/>
                        </a:spcBef>
                        <a:spcAft>
                          <a:spcPts val="0"/>
                        </a:spcAft>
                        <a:buNone/>
                      </a:pPr>
                      <a:r>
                        <a:rPr lang="en" sz="800">
                          <a:latin typeface="Inter"/>
                          <a:ea typeface="Inter"/>
                          <a:cs typeface="Inter"/>
                          <a:sym typeface="Inter"/>
                        </a:rPr>
                        <a:t>SENS TB SENSI SOFT 1X2</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20</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13</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65.00%</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1.27%</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r>
              <a:tr h="214925">
                <a:tc>
                  <a:txBody>
                    <a:bodyPr/>
                    <a:lstStyle/>
                    <a:p>
                      <a:pPr indent="0" lvl="0" marL="0" rtl="0" algn="l">
                        <a:lnSpc>
                          <a:spcPct val="115000"/>
                        </a:lnSpc>
                        <a:spcBef>
                          <a:spcPts val="0"/>
                        </a:spcBef>
                        <a:spcAft>
                          <a:spcPts val="0"/>
                        </a:spcAft>
                        <a:buNone/>
                      </a:pPr>
                      <a:r>
                        <a:rPr lang="en" sz="800">
                          <a:latin typeface="Inter"/>
                          <a:ea typeface="Inter"/>
                          <a:cs typeface="Inter"/>
                          <a:sym typeface="Inter"/>
                        </a:rPr>
                        <a:t>SCOTTS EMUL VITA X200ML_ID</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30</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25</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83.33%</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2.45%</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r>
              <a:tr h="214925">
                <a:tc>
                  <a:txBody>
                    <a:bodyPr/>
                    <a:lstStyle/>
                    <a:p>
                      <a:pPr indent="0" lvl="0" marL="0" rtl="0" algn="l">
                        <a:lnSpc>
                          <a:spcPct val="115000"/>
                        </a:lnSpc>
                        <a:spcBef>
                          <a:spcPts val="0"/>
                        </a:spcBef>
                        <a:spcAft>
                          <a:spcPts val="0"/>
                        </a:spcAft>
                        <a:buNone/>
                      </a:pPr>
                      <a:r>
                        <a:rPr lang="en" sz="800">
                          <a:latin typeface="Inter"/>
                          <a:ea typeface="Inter"/>
                          <a:cs typeface="Inter"/>
                          <a:sym typeface="Inter"/>
                        </a:rPr>
                        <a:t>SENSODYNE R+P WHITENING TP 1X100G</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352</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340</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96.59%</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800">
                          <a:latin typeface="Inter"/>
                          <a:ea typeface="Inter"/>
                          <a:cs typeface="Inter"/>
                          <a:sym typeface="Inter"/>
                        </a:rPr>
                        <a:t>33.30%</a:t>
                      </a:r>
                      <a:endParaRPr sz="800">
                        <a:latin typeface="Inter"/>
                        <a:ea typeface="Inter"/>
                        <a:cs typeface="Inter"/>
                        <a:sym typeface="Inter"/>
                      </a:endParaRPr>
                    </a:p>
                  </a:txBody>
                  <a:tcPr marT="19050" marB="19050" marR="28575" marL="28575" anchor="b">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pic>
        <p:nvPicPr>
          <p:cNvPr id="510" name="Google Shape;510;p57"/>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sp>
        <p:nvSpPr>
          <p:cNvPr id="511" name="Google Shape;511;p57"/>
          <p:cNvSpPr txBox="1"/>
          <p:nvPr>
            <p:ph type="ctrTitle"/>
          </p:nvPr>
        </p:nvSpPr>
        <p:spPr>
          <a:xfrm>
            <a:off x="174550" y="121550"/>
            <a:ext cx="8655600" cy="695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B2B Overview</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Slow Moving SKU List</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t/>
            </a:r>
            <a:endParaRPr i="1" sz="1200">
              <a:solidFill>
                <a:srgbClr val="3880C1"/>
              </a:solidFill>
              <a:latin typeface="Inter"/>
              <a:ea typeface="Inter"/>
              <a:cs typeface="Inter"/>
              <a:sym typeface="Inter"/>
            </a:endParaRPr>
          </a:p>
        </p:txBody>
      </p:sp>
      <p:pic>
        <p:nvPicPr>
          <p:cNvPr id="512" name="Google Shape;512;p57"/>
          <p:cNvPicPr preferRelativeResize="0"/>
          <p:nvPr/>
        </p:nvPicPr>
        <p:blipFill rotWithShape="1">
          <a:blip r:embed="rId4">
            <a:alphaModFix/>
          </a:blip>
          <a:srcRect b="0" l="0" r="0" t="12564"/>
          <a:stretch/>
        </p:blipFill>
        <p:spPr>
          <a:xfrm>
            <a:off x="7406900" y="121550"/>
            <a:ext cx="634924" cy="451775"/>
          </a:xfrm>
          <a:prstGeom prst="rect">
            <a:avLst/>
          </a:prstGeom>
          <a:noFill/>
          <a:ln>
            <a:noFill/>
          </a:ln>
        </p:spPr>
      </p:pic>
      <p:sp>
        <p:nvSpPr>
          <p:cNvPr id="513" name="Google Shape;513;p57"/>
          <p:cNvSpPr/>
          <p:nvPr/>
        </p:nvSpPr>
        <p:spPr>
          <a:xfrm>
            <a:off x="297175" y="3874975"/>
            <a:ext cx="1188900" cy="836100"/>
          </a:xfrm>
          <a:prstGeom prst="rect">
            <a:avLst/>
          </a:prstGeom>
          <a:solidFill>
            <a:srgbClr val="0B5394"/>
          </a:solidFill>
          <a:ln>
            <a:noFill/>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Clr>
                <a:srgbClr val="000000"/>
              </a:buClr>
              <a:buSzPts val="1000"/>
              <a:buFont typeface="Arial"/>
              <a:buNone/>
            </a:pPr>
            <a:r>
              <a:rPr b="1" i="0" lang="en" sz="1000" u="none" cap="none" strike="noStrike">
                <a:solidFill>
                  <a:srgbClr val="FFFFFF"/>
                </a:solidFill>
                <a:latin typeface="Inter"/>
                <a:ea typeface="Inter"/>
                <a:cs typeface="Inter"/>
                <a:sym typeface="Inter"/>
              </a:rPr>
              <a:t>Key Insights</a:t>
            </a:r>
            <a:endParaRPr b="0" i="0" sz="1000" u="none" cap="none" strike="noStrike">
              <a:solidFill>
                <a:srgbClr val="FFFFFF"/>
              </a:solidFill>
              <a:latin typeface="Inter"/>
              <a:ea typeface="Inter"/>
              <a:cs typeface="Inter"/>
              <a:sym typeface="Inter"/>
            </a:endParaRPr>
          </a:p>
        </p:txBody>
      </p:sp>
      <p:sp>
        <p:nvSpPr>
          <p:cNvPr id="514" name="Google Shape;514;p57"/>
          <p:cNvSpPr txBox="1"/>
          <p:nvPr/>
        </p:nvSpPr>
        <p:spPr>
          <a:xfrm>
            <a:off x="4133314" y="3874975"/>
            <a:ext cx="1641600" cy="73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800"/>
              <a:buFont typeface="Arial"/>
              <a:buNone/>
            </a:pPr>
            <a:r>
              <a:rPr lang="en" sz="800">
                <a:latin typeface="Inter"/>
                <a:ea typeface="Inter"/>
                <a:cs typeface="Inter"/>
                <a:sym typeface="Inter"/>
              </a:rPr>
              <a:t>Need more promotional activities on the highlighted yellow SKUs to accelerate stock flush-out</a:t>
            </a:r>
            <a:endParaRPr b="0" i="0" sz="800" u="none" cap="none" strike="noStrike">
              <a:solidFill>
                <a:srgbClr val="000000"/>
              </a:solidFill>
              <a:latin typeface="Inter"/>
              <a:ea typeface="Inter"/>
              <a:cs typeface="Inter"/>
              <a:sym typeface="Inter"/>
            </a:endParaRPr>
          </a:p>
        </p:txBody>
      </p:sp>
      <p:pic>
        <p:nvPicPr>
          <p:cNvPr id="515" name="Google Shape;515;p57"/>
          <p:cNvPicPr preferRelativeResize="0"/>
          <p:nvPr/>
        </p:nvPicPr>
        <p:blipFill rotWithShape="1">
          <a:blip r:embed="rId5">
            <a:alphaModFix/>
          </a:blip>
          <a:srcRect b="34907" l="0" r="0" t="35784"/>
          <a:stretch/>
        </p:blipFill>
        <p:spPr>
          <a:xfrm>
            <a:off x="2554220" y="4097396"/>
            <a:ext cx="1416300" cy="418870"/>
          </a:xfrm>
          <a:prstGeom prst="rect">
            <a:avLst/>
          </a:prstGeom>
          <a:noFill/>
          <a:ln>
            <a:noFill/>
          </a:ln>
        </p:spPr>
      </p:pic>
      <p:graphicFrame>
        <p:nvGraphicFramePr>
          <p:cNvPr id="516" name="Google Shape;516;p57"/>
          <p:cNvGraphicFramePr/>
          <p:nvPr/>
        </p:nvGraphicFramePr>
        <p:xfrm>
          <a:off x="297175" y="974775"/>
          <a:ext cx="3000000" cy="3000000"/>
        </p:xfrm>
        <a:graphic>
          <a:graphicData uri="http://schemas.openxmlformats.org/drawingml/2006/table">
            <a:tbl>
              <a:tblPr>
                <a:noFill/>
                <a:tableStyleId>{05CF1300-53F3-430B-9C35-424554A46B0A}</a:tableStyleId>
              </a:tblPr>
              <a:tblGrid>
                <a:gridCol w="2876550"/>
                <a:gridCol w="1202075"/>
                <a:gridCol w="713450"/>
                <a:gridCol w="877975"/>
                <a:gridCol w="964575"/>
              </a:tblGrid>
              <a:tr h="369275">
                <a:tc>
                  <a:txBody>
                    <a:bodyPr/>
                    <a:lstStyle/>
                    <a:p>
                      <a:pPr indent="0" lvl="0" marL="0" rtl="0" algn="ctr">
                        <a:lnSpc>
                          <a:spcPct val="115000"/>
                        </a:lnSpc>
                        <a:spcBef>
                          <a:spcPts val="0"/>
                        </a:spcBef>
                        <a:spcAft>
                          <a:spcPts val="0"/>
                        </a:spcAft>
                        <a:buNone/>
                      </a:pPr>
                      <a:r>
                        <a:rPr b="1" lang="en" sz="1100">
                          <a:solidFill>
                            <a:srgbClr val="FFFFFF"/>
                          </a:solidFill>
                          <a:latin typeface="Inter"/>
                          <a:ea typeface="Inter"/>
                          <a:cs typeface="Inter"/>
                          <a:sym typeface="Inter"/>
                        </a:rPr>
                        <a:t>Nama Barang</a:t>
                      </a:r>
                      <a:endParaRPr b="1" sz="1100">
                        <a:solidFill>
                          <a:srgbClr val="FFFFFF"/>
                        </a:solidFill>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1100">
                          <a:solidFill>
                            <a:srgbClr val="FFFFFF"/>
                          </a:solidFill>
                          <a:latin typeface="Inter"/>
                          <a:ea typeface="Inter"/>
                          <a:cs typeface="Inter"/>
                          <a:sym typeface="Inter"/>
                        </a:rPr>
                        <a:t>Segmentation</a:t>
                      </a:r>
                      <a:endParaRPr b="1" sz="1100">
                        <a:solidFill>
                          <a:srgbClr val="FFFFFF"/>
                        </a:solidFill>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1100">
                          <a:solidFill>
                            <a:srgbClr val="FFFFFF"/>
                          </a:solidFill>
                          <a:latin typeface="Inter"/>
                          <a:ea typeface="Inter"/>
                          <a:cs typeface="Inter"/>
                          <a:sym typeface="Inter"/>
                        </a:rPr>
                        <a:t>SOH</a:t>
                      </a:r>
                      <a:endParaRPr b="1" sz="1100">
                        <a:solidFill>
                          <a:srgbClr val="FFFFFF"/>
                        </a:solidFill>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1000">
                          <a:solidFill>
                            <a:srgbClr val="FFFFFF"/>
                          </a:solidFill>
                          <a:latin typeface="Inter"/>
                          <a:ea typeface="Inter"/>
                          <a:cs typeface="Inter"/>
                          <a:sym typeface="Inter"/>
                        </a:rPr>
                        <a:t>DOI</a:t>
                      </a:r>
                      <a:endParaRPr b="1" sz="1000">
                        <a:solidFill>
                          <a:srgbClr val="FFFFFF"/>
                        </a:solidFill>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4285F4"/>
                    </a:solidFill>
                  </a:tcPr>
                </a:tc>
                <a:tc>
                  <a:txBody>
                    <a:bodyPr/>
                    <a:lstStyle/>
                    <a:p>
                      <a:pPr indent="0" lvl="0" marL="0" rtl="0" algn="ctr">
                        <a:lnSpc>
                          <a:spcPct val="115000"/>
                        </a:lnSpc>
                        <a:spcBef>
                          <a:spcPts val="0"/>
                        </a:spcBef>
                        <a:spcAft>
                          <a:spcPts val="0"/>
                        </a:spcAft>
                        <a:buNone/>
                      </a:pPr>
                      <a:r>
                        <a:rPr b="1" lang="en" sz="1000">
                          <a:solidFill>
                            <a:srgbClr val="FFFFFF"/>
                          </a:solidFill>
                          <a:latin typeface="Inter"/>
                          <a:ea typeface="Inter"/>
                          <a:cs typeface="Inter"/>
                          <a:sym typeface="Inter"/>
                        </a:rPr>
                        <a:t>SOH Value</a:t>
                      </a:r>
                      <a:endParaRPr b="1" sz="1000">
                        <a:solidFill>
                          <a:srgbClr val="FFFFFF"/>
                        </a:solidFill>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4285F4"/>
                    </a:solidFill>
                  </a:tcPr>
                </a:tc>
              </a:tr>
              <a:tr h="338500">
                <a:tc>
                  <a:txBody>
                    <a:bodyPr/>
                    <a:lstStyle/>
                    <a:p>
                      <a:pPr indent="0" lvl="0" marL="0" rtl="0" algn="l">
                        <a:lnSpc>
                          <a:spcPct val="115000"/>
                        </a:lnSpc>
                        <a:spcBef>
                          <a:spcPts val="0"/>
                        </a:spcBef>
                        <a:spcAft>
                          <a:spcPts val="0"/>
                        </a:spcAft>
                        <a:buNone/>
                      </a:pPr>
                      <a:r>
                        <a:rPr lang="en" sz="1000">
                          <a:latin typeface="Inter"/>
                          <a:ea typeface="Inter"/>
                          <a:cs typeface="Inter"/>
                          <a:sym typeface="Inter"/>
                        </a:rPr>
                        <a:t>SENSODYNE ORIGINAL FLUORIDE TP 1X100G</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Super Low</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148</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701</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325,274,400</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tcPr>
                </a:tc>
              </a:tr>
              <a:tr h="338500">
                <a:tc>
                  <a:txBody>
                    <a:bodyPr/>
                    <a:lstStyle/>
                    <a:p>
                      <a:pPr indent="0" lvl="0" marL="0" rtl="0" algn="l">
                        <a:lnSpc>
                          <a:spcPct val="115000"/>
                        </a:lnSpc>
                        <a:spcBef>
                          <a:spcPts val="0"/>
                        </a:spcBef>
                        <a:spcAft>
                          <a:spcPts val="0"/>
                        </a:spcAft>
                        <a:buNone/>
                      </a:pPr>
                      <a:r>
                        <a:rPr lang="en" sz="1000">
                          <a:latin typeface="Inter"/>
                          <a:ea typeface="Inter"/>
                          <a:cs typeface="Inter"/>
                          <a:sym typeface="Inter"/>
                        </a:rPr>
                        <a:t>SENSODYNE MULTI ACTION TB SOFT 1X2</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Super Low</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15</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450</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43,756,200</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FF00"/>
                    </a:solidFill>
                  </a:tcPr>
                </a:tc>
              </a:tr>
              <a:tr h="338500">
                <a:tc>
                  <a:txBody>
                    <a:bodyPr/>
                    <a:lstStyle/>
                    <a:p>
                      <a:pPr indent="0" lvl="0" marL="0" rtl="0" algn="l">
                        <a:lnSpc>
                          <a:spcPct val="115000"/>
                        </a:lnSpc>
                        <a:spcBef>
                          <a:spcPts val="0"/>
                        </a:spcBef>
                        <a:spcAft>
                          <a:spcPts val="0"/>
                        </a:spcAft>
                        <a:buNone/>
                      </a:pPr>
                      <a:r>
                        <a:rPr lang="en" sz="1000">
                          <a:latin typeface="Inter"/>
                          <a:ea typeface="Inter"/>
                          <a:cs typeface="Inter"/>
                          <a:sym typeface="Inter"/>
                        </a:rPr>
                        <a:t>Multi-Action Soft 3s</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Super Low</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9</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90</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33,326,640</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FF00"/>
                    </a:solidFill>
                  </a:tcPr>
                </a:tc>
              </a:tr>
              <a:tr h="338500">
                <a:tc>
                  <a:txBody>
                    <a:bodyPr/>
                    <a:lstStyle/>
                    <a:p>
                      <a:pPr indent="0" lvl="0" marL="0" rtl="0" algn="l">
                        <a:lnSpc>
                          <a:spcPct val="115000"/>
                        </a:lnSpc>
                        <a:spcBef>
                          <a:spcPts val="0"/>
                        </a:spcBef>
                        <a:spcAft>
                          <a:spcPts val="0"/>
                        </a:spcAft>
                        <a:buNone/>
                      </a:pPr>
                      <a:r>
                        <a:rPr lang="en" sz="1000">
                          <a:latin typeface="Inter"/>
                          <a:ea typeface="Inter"/>
                          <a:cs typeface="Inter"/>
                          <a:sym typeface="Inter"/>
                        </a:rPr>
                        <a:t>SENSODYNE HERBAL TP 1X100G</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Super Low</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13</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130</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28,467,504</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FF00"/>
                    </a:solidFill>
                  </a:tcPr>
                </a:tc>
              </a:tr>
              <a:tr h="406200">
                <a:tc>
                  <a:txBody>
                    <a:bodyPr/>
                    <a:lstStyle/>
                    <a:p>
                      <a:pPr indent="0" lvl="0" marL="0" rtl="0" algn="l">
                        <a:lnSpc>
                          <a:spcPct val="115000"/>
                        </a:lnSpc>
                        <a:spcBef>
                          <a:spcPts val="0"/>
                        </a:spcBef>
                        <a:spcAft>
                          <a:spcPts val="0"/>
                        </a:spcAft>
                        <a:buNone/>
                      </a:pPr>
                      <a:r>
                        <a:rPr lang="en" sz="1000">
                          <a:latin typeface="Inter"/>
                          <a:ea typeface="Inter"/>
                          <a:cs typeface="Inter"/>
                          <a:sym typeface="Inter"/>
                        </a:rPr>
                        <a:t>SENS TB ULTRA SENSITIVE EX SOFT X1</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Super Low</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FF00"/>
                    </a:solidFill>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11</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t/>
                      </a: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0000"/>
                    </a:solidFill>
                  </a:tcPr>
                </a:tc>
                <a:tc>
                  <a:txBody>
                    <a:bodyPr/>
                    <a:lstStyle/>
                    <a:p>
                      <a:pPr indent="0" lvl="0" marL="0" rtl="0" algn="ctr">
                        <a:lnSpc>
                          <a:spcPct val="115000"/>
                        </a:lnSpc>
                        <a:spcBef>
                          <a:spcPts val="0"/>
                        </a:spcBef>
                        <a:spcAft>
                          <a:spcPts val="0"/>
                        </a:spcAft>
                        <a:buNone/>
                      </a:pPr>
                      <a:r>
                        <a:rPr lang="en" sz="1000">
                          <a:latin typeface="Inter"/>
                          <a:ea typeface="Inter"/>
                          <a:cs typeface="Inter"/>
                          <a:sym typeface="Inter"/>
                        </a:rPr>
                        <a:t>17,582,400</a:t>
                      </a:r>
                      <a:endParaRPr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FFFF00"/>
                    </a:solidFill>
                  </a:tcPr>
                </a:tc>
              </a:tr>
              <a:tr h="369275">
                <a:tc gridSpan="2">
                  <a:txBody>
                    <a:bodyPr/>
                    <a:lstStyle/>
                    <a:p>
                      <a:pPr indent="0" lvl="0" marL="0" rtl="0" algn="l">
                        <a:lnSpc>
                          <a:spcPct val="115000"/>
                        </a:lnSpc>
                        <a:spcBef>
                          <a:spcPts val="0"/>
                        </a:spcBef>
                        <a:spcAft>
                          <a:spcPts val="0"/>
                        </a:spcAft>
                        <a:buNone/>
                      </a:pPr>
                      <a:r>
                        <a:rPr b="1" lang="en" sz="1100">
                          <a:solidFill>
                            <a:srgbClr val="FFFFFF"/>
                          </a:solidFill>
                          <a:latin typeface="Inter"/>
                          <a:ea typeface="Inter"/>
                          <a:cs typeface="Inter"/>
                          <a:sym typeface="Inter"/>
                        </a:rPr>
                        <a:t>Total Value</a:t>
                      </a:r>
                      <a:endParaRPr b="1" sz="1100">
                        <a:solidFill>
                          <a:srgbClr val="FFFFFF"/>
                        </a:solidFill>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4285F4"/>
                    </a:solidFill>
                  </a:tcPr>
                </a:tc>
                <a:tc hMerge="1"/>
                <a:tc gridSpan="3">
                  <a:txBody>
                    <a:bodyPr/>
                    <a:lstStyle/>
                    <a:p>
                      <a:pPr indent="0" lvl="0" marL="0" rtl="0" algn="ctr">
                        <a:lnSpc>
                          <a:spcPct val="115000"/>
                        </a:lnSpc>
                        <a:spcBef>
                          <a:spcPts val="0"/>
                        </a:spcBef>
                        <a:spcAft>
                          <a:spcPts val="0"/>
                        </a:spcAft>
                        <a:buNone/>
                      </a:pPr>
                      <a:r>
                        <a:rPr b="1" lang="en" sz="1000">
                          <a:latin typeface="Inter"/>
                          <a:ea typeface="Inter"/>
                          <a:cs typeface="Inter"/>
                          <a:sym typeface="Inter"/>
                        </a:rPr>
                        <a:t>448,407,144</a:t>
                      </a:r>
                      <a:endParaRPr b="1" sz="1000">
                        <a:latin typeface="Inter"/>
                        <a:ea typeface="Inter"/>
                        <a:cs typeface="Inter"/>
                        <a:sym typeface="Inter"/>
                      </a:endParaRPr>
                    </a:p>
                  </a:txBody>
                  <a:tcPr marT="19050" marB="19050" marR="28575" marL="28575" anchor="b">
                    <a:lnL cap="flat" cmpd="sng" w="8475">
                      <a:solidFill>
                        <a:srgbClr val="000000"/>
                      </a:solidFill>
                      <a:prstDash val="solid"/>
                      <a:round/>
                      <a:headEnd len="sm" w="sm" type="none"/>
                      <a:tailEnd len="sm" w="sm" type="none"/>
                    </a:lnL>
                    <a:lnR cap="flat" cmpd="sng" w="8475">
                      <a:solidFill>
                        <a:srgbClr val="000000"/>
                      </a:solidFill>
                      <a:prstDash val="solid"/>
                      <a:round/>
                      <a:headEnd len="sm" w="sm" type="none"/>
                      <a:tailEnd len="sm" w="sm" type="none"/>
                    </a:lnR>
                    <a:lnT cap="flat" cmpd="sng" w="8475">
                      <a:solidFill>
                        <a:srgbClr val="000000"/>
                      </a:solidFill>
                      <a:prstDash val="solid"/>
                      <a:round/>
                      <a:headEnd len="sm" w="sm" type="none"/>
                      <a:tailEnd len="sm" w="sm" type="none"/>
                    </a:lnT>
                    <a:lnB cap="flat" cmpd="sng" w="8475">
                      <a:solidFill>
                        <a:srgbClr val="000000"/>
                      </a:solidFill>
                      <a:prstDash val="solid"/>
                      <a:round/>
                      <a:headEnd len="sm" w="sm" type="none"/>
                      <a:tailEnd len="sm" w="sm" type="none"/>
                    </a:lnB>
                    <a:solidFill>
                      <a:srgbClr val="D9D9D9"/>
                    </a:solidFill>
                  </a:tcPr>
                </a:tc>
                <a:tc hMerge="1"/>
                <a:tc hMerge="1"/>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58"/>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pic>
        <p:nvPicPr>
          <p:cNvPr id="522" name="Google Shape;522;p58"/>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pic>
        <p:nvPicPr>
          <p:cNvPr id="523" name="Google Shape;523;p58"/>
          <p:cNvPicPr preferRelativeResize="0"/>
          <p:nvPr/>
        </p:nvPicPr>
        <p:blipFill rotWithShape="1">
          <a:blip r:embed="rId4">
            <a:alphaModFix/>
          </a:blip>
          <a:srcRect b="0" l="0" r="0" t="12564"/>
          <a:stretch/>
        </p:blipFill>
        <p:spPr>
          <a:xfrm>
            <a:off x="7406900" y="121550"/>
            <a:ext cx="634924" cy="451775"/>
          </a:xfrm>
          <a:prstGeom prst="rect">
            <a:avLst/>
          </a:prstGeom>
          <a:noFill/>
          <a:ln>
            <a:noFill/>
          </a:ln>
        </p:spPr>
      </p:pic>
      <p:sp>
        <p:nvSpPr>
          <p:cNvPr id="524" name="Google Shape;524;p58"/>
          <p:cNvSpPr txBox="1"/>
          <p:nvPr>
            <p:ph type="ctrTitle"/>
          </p:nvPr>
        </p:nvSpPr>
        <p:spPr>
          <a:xfrm>
            <a:off x="437825" y="179025"/>
            <a:ext cx="8655600" cy="9420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B2B Overview</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Activations </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rPr i="1" lang="en" sz="1200">
                <a:solidFill>
                  <a:srgbClr val="3880C1"/>
                </a:solidFill>
                <a:latin typeface="Inter"/>
                <a:ea typeface="Inter"/>
                <a:cs typeface="Inter"/>
                <a:sym typeface="Inter"/>
              </a:rPr>
              <a:t>Big Brand Sale Segari &amp; Homepage Banner &amp; Affiliate Shopee SPM</a:t>
            </a:r>
            <a:endParaRPr i="1" sz="1200">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t/>
            </a:r>
            <a:endParaRPr i="1" sz="1200">
              <a:solidFill>
                <a:srgbClr val="3880C1"/>
              </a:solidFill>
              <a:latin typeface="Inter"/>
              <a:ea typeface="Inter"/>
              <a:cs typeface="Inter"/>
              <a:sym typeface="Inter"/>
            </a:endParaRPr>
          </a:p>
        </p:txBody>
      </p:sp>
      <p:sp>
        <p:nvSpPr>
          <p:cNvPr id="525" name="Google Shape;525;p58"/>
          <p:cNvSpPr txBox="1"/>
          <p:nvPr/>
        </p:nvSpPr>
        <p:spPr>
          <a:xfrm>
            <a:off x="3604374" y="1000043"/>
            <a:ext cx="19311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800"/>
              <a:buFont typeface="Arial"/>
              <a:buNone/>
            </a:pPr>
            <a:r>
              <a:rPr b="1" i="0" lang="en" sz="800" u="none" cap="none" strike="noStrike">
                <a:solidFill>
                  <a:srgbClr val="000000"/>
                </a:solidFill>
                <a:latin typeface="Inter"/>
                <a:ea typeface="Inter"/>
                <a:cs typeface="Inter"/>
                <a:sym typeface="Inter"/>
              </a:rPr>
              <a:t>Homepage Banner Shopee SPM</a:t>
            </a:r>
            <a:endParaRPr b="1" i="0" sz="800" u="none" cap="none" strike="noStrike">
              <a:solidFill>
                <a:srgbClr val="000000"/>
              </a:solidFill>
              <a:latin typeface="Inter"/>
              <a:ea typeface="Inter"/>
              <a:cs typeface="Inter"/>
              <a:sym typeface="Inter"/>
            </a:endParaRPr>
          </a:p>
        </p:txBody>
      </p:sp>
      <p:pic>
        <p:nvPicPr>
          <p:cNvPr id="526" name="Google Shape;526;p58"/>
          <p:cNvPicPr preferRelativeResize="0"/>
          <p:nvPr/>
        </p:nvPicPr>
        <p:blipFill rotWithShape="1">
          <a:blip r:embed="rId5">
            <a:alphaModFix/>
          </a:blip>
          <a:srcRect b="0" l="997" r="2235" t="4507"/>
          <a:stretch/>
        </p:blipFill>
        <p:spPr>
          <a:xfrm>
            <a:off x="6324925" y="1359331"/>
            <a:ext cx="1636776" cy="3218689"/>
          </a:xfrm>
          <a:prstGeom prst="rect">
            <a:avLst/>
          </a:prstGeom>
          <a:noFill/>
          <a:ln>
            <a:noFill/>
          </a:ln>
        </p:spPr>
      </p:pic>
      <p:sp>
        <p:nvSpPr>
          <p:cNvPr id="527" name="Google Shape;527;p58"/>
          <p:cNvSpPr txBox="1"/>
          <p:nvPr/>
        </p:nvSpPr>
        <p:spPr>
          <a:xfrm>
            <a:off x="6177770" y="991688"/>
            <a:ext cx="19311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800"/>
              <a:buFont typeface="Arial"/>
              <a:buNone/>
            </a:pPr>
            <a:r>
              <a:rPr b="1" i="0" lang="en" sz="800" u="none" cap="none" strike="noStrike">
                <a:solidFill>
                  <a:srgbClr val="000000"/>
                </a:solidFill>
                <a:latin typeface="Inter"/>
                <a:ea typeface="Inter"/>
                <a:cs typeface="Inter"/>
                <a:sym typeface="Inter"/>
              </a:rPr>
              <a:t>Affiliate Shopee SPM</a:t>
            </a:r>
            <a:endParaRPr b="1" i="0" sz="800" u="none" cap="none" strike="noStrike">
              <a:solidFill>
                <a:srgbClr val="000000"/>
              </a:solidFill>
              <a:latin typeface="Inter"/>
              <a:ea typeface="Inter"/>
              <a:cs typeface="Inter"/>
              <a:sym typeface="Inter"/>
            </a:endParaRPr>
          </a:p>
        </p:txBody>
      </p:sp>
      <p:sp>
        <p:nvSpPr>
          <p:cNvPr id="528" name="Google Shape;528;p58"/>
          <p:cNvSpPr txBox="1"/>
          <p:nvPr/>
        </p:nvSpPr>
        <p:spPr>
          <a:xfrm>
            <a:off x="804474" y="1008250"/>
            <a:ext cx="19311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800"/>
              <a:buFont typeface="Arial"/>
              <a:buNone/>
            </a:pPr>
            <a:r>
              <a:rPr b="1" lang="en" sz="800">
                <a:latin typeface="Inter"/>
                <a:ea typeface="Inter"/>
                <a:cs typeface="Inter"/>
                <a:sym typeface="Inter"/>
              </a:rPr>
              <a:t>Big Brand Sale Segari</a:t>
            </a:r>
            <a:endParaRPr b="1" i="0" sz="800" u="none" cap="none" strike="noStrike">
              <a:solidFill>
                <a:srgbClr val="000000"/>
              </a:solidFill>
              <a:latin typeface="Inter"/>
              <a:ea typeface="Inter"/>
              <a:cs typeface="Inter"/>
              <a:sym typeface="Inter"/>
            </a:endParaRPr>
          </a:p>
        </p:txBody>
      </p:sp>
      <p:pic>
        <p:nvPicPr>
          <p:cNvPr id="529" name="Google Shape;529;p58"/>
          <p:cNvPicPr preferRelativeResize="0"/>
          <p:nvPr/>
        </p:nvPicPr>
        <p:blipFill>
          <a:blip r:embed="rId6">
            <a:alphaModFix/>
          </a:blip>
          <a:stretch>
            <a:fillRect/>
          </a:stretch>
        </p:blipFill>
        <p:spPr>
          <a:xfrm>
            <a:off x="949538" y="1357975"/>
            <a:ext cx="1640975" cy="3221401"/>
          </a:xfrm>
          <a:prstGeom prst="rect">
            <a:avLst/>
          </a:prstGeom>
          <a:noFill/>
          <a:ln>
            <a:noFill/>
          </a:ln>
        </p:spPr>
      </p:pic>
      <p:pic>
        <p:nvPicPr>
          <p:cNvPr id="530" name="Google Shape;530;p58"/>
          <p:cNvPicPr preferRelativeResize="0"/>
          <p:nvPr/>
        </p:nvPicPr>
        <p:blipFill>
          <a:blip r:embed="rId7">
            <a:alphaModFix/>
          </a:blip>
          <a:stretch>
            <a:fillRect/>
          </a:stretch>
        </p:blipFill>
        <p:spPr>
          <a:xfrm>
            <a:off x="3739481" y="1370032"/>
            <a:ext cx="1636776" cy="32214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pic>
        <p:nvPicPr>
          <p:cNvPr id="535" name="Google Shape;535;p59"/>
          <p:cNvPicPr preferRelativeResize="0"/>
          <p:nvPr/>
        </p:nvPicPr>
        <p:blipFill rotWithShape="1">
          <a:blip r:embed="rId4">
            <a:alphaModFix/>
          </a:blip>
          <a:srcRect b="61104" l="40677" r="52722" t="15717"/>
          <a:stretch/>
        </p:blipFill>
        <p:spPr>
          <a:xfrm>
            <a:off x="2006677" y="966275"/>
            <a:ext cx="399375" cy="389650"/>
          </a:xfrm>
          <a:prstGeom prst="rect">
            <a:avLst/>
          </a:prstGeom>
          <a:noFill/>
          <a:ln>
            <a:noFill/>
          </a:ln>
        </p:spPr>
      </p:pic>
      <p:sp>
        <p:nvSpPr>
          <p:cNvPr id="536" name="Google Shape;536;p59"/>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pic>
        <p:nvPicPr>
          <p:cNvPr id="537" name="Google Shape;537;p59"/>
          <p:cNvPicPr preferRelativeResize="0"/>
          <p:nvPr/>
        </p:nvPicPr>
        <p:blipFill rotWithShape="1">
          <a:blip r:embed="rId5">
            <a:alphaModFix/>
          </a:blip>
          <a:srcRect b="0" l="0" r="0" t="0"/>
          <a:stretch/>
        </p:blipFill>
        <p:spPr>
          <a:xfrm rot="10800000">
            <a:off x="-4151" y="0"/>
            <a:ext cx="9148151" cy="79825"/>
          </a:xfrm>
          <a:prstGeom prst="rect">
            <a:avLst/>
          </a:prstGeom>
          <a:noFill/>
          <a:ln>
            <a:noFill/>
          </a:ln>
        </p:spPr>
      </p:pic>
      <p:pic>
        <p:nvPicPr>
          <p:cNvPr id="538" name="Google Shape;538;p59"/>
          <p:cNvPicPr preferRelativeResize="0"/>
          <p:nvPr/>
        </p:nvPicPr>
        <p:blipFill rotWithShape="1">
          <a:blip r:embed="rId6">
            <a:alphaModFix/>
          </a:blip>
          <a:srcRect b="0" l="0" r="0" t="12564"/>
          <a:stretch/>
        </p:blipFill>
        <p:spPr>
          <a:xfrm>
            <a:off x="7406900" y="121550"/>
            <a:ext cx="634924" cy="451775"/>
          </a:xfrm>
          <a:prstGeom prst="rect">
            <a:avLst/>
          </a:prstGeom>
          <a:noFill/>
          <a:ln>
            <a:noFill/>
          </a:ln>
        </p:spPr>
      </p:pic>
      <p:sp>
        <p:nvSpPr>
          <p:cNvPr id="539" name="Google Shape;539;p59"/>
          <p:cNvSpPr txBox="1"/>
          <p:nvPr>
            <p:ph type="ctrTitle"/>
          </p:nvPr>
        </p:nvSpPr>
        <p:spPr>
          <a:xfrm>
            <a:off x="174550" y="131975"/>
            <a:ext cx="8655600" cy="9420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B2B Overview</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Activations </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rPr i="1" lang="en" sz="1200">
                <a:solidFill>
                  <a:srgbClr val="3880C1"/>
                </a:solidFill>
                <a:latin typeface="Inter"/>
                <a:ea typeface="Inter"/>
                <a:cs typeface="Inter"/>
                <a:sym typeface="Inter"/>
              </a:rPr>
              <a:t>Ads Performance Shopee Supermarket </a:t>
            </a:r>
            <a:endParaRPr i="1" sz="1200">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t/>
            </a:r>
            <a:endParaRPr i="1" sz="1200">
              <a:solidFill>
                <a:srgbClr val="3880C1"/>
              </a:solidFill>
              <a:latin typeface="Inter"/>
              <a:ea typeface="Inter"/>
              <a:cs typeface="Inter"/>
              <a:sym typeface="Inter"/>
            </a:endParaRPr>
          </a:p>
        </p:txBody>
      </p:sp>
      <p:graphicFrame>
        <p:nvGraphicFramePr>
          <p:cNvPr id="540" name="Google Shape;540;p59"/>
          <p:cNvGraphicFramePr/>
          <p:nvPr/>
        </p:nvGraphicFramePr>
        <p:xfrm>
          <a:off x="277825" y="974116"/>
          <a:ext cx="3000000" cy="3000000"/>
        </p:xfrm>
        <a:graphic>
          <a:graphicData uri="http://schemas.openxmlformats.org/drawingml/2006/table">
            <a:tbl>
              <a:tblPr>
                <a:noFill/>
                <a:tableStyleId>{05CF1300-53F3-430B-9C35-424554A46B0A}</a:tableStyleId>
              </a:tblPr>
              <a:tblGrid>
                <a:gridCol w="1539075"/>
                <a:gridCol w="880450"/>
                <a:gridCol w="1428150"/>
                <a:gridCol w="769525"/>
                <a:gridCol w="863625"/>
                <a:gridCol w="675425"/>
                <a:gridCol w="1061950"/>
                <a:gridCol w="957700"/>
              </a:tblGrid>
              <a:tr h="438675">
                <a:tc gridSpan="2">
                  <a:txBody>
                    <a:bodyPr/>
                    <a:lstStyle/>
                    <a:p>
                      <a:pPr indent="0" lvl="0" marL="0" rtl="0" algn="ctr">
                        <a:lnSpc>
                          <a:spcPct val="115000"/>
                        </a:lnSpc>
                        <a:spcBef>
                          <a:spcPts val="0"/>
                        </a:spcBef>
                        <a:spcAft>
                          <a:spcPts val="0"/>
                        </a:spcAft>
                        <a:buNone/>
                      </a:pPr>
                      <a:r>
                        <a:rPr b="1" lang="en" sz="1000"/>
                        <a:t>Polident, Scotts, Sensodyne</a:t>
                      </a:r>
                      <a:endParaRPr b="1" sz="10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00"/>
                    </a:solidFill>
                  </a:tcPr>
                </a:tc>
                <a:tc hMerge="1"/>
                <a:tc>
                  <a:txBody>
                    <a:bodyPr/>
                    <a:lstStyle/>
                    <a:p>
                      <a:pPr indent="0" lvl="0" marL="0" rtl="0" algn="ctr">
                        <a:lnSpc>
                          <a:spcPct val="115000"/>
                        </a:lnSpc>
                        <a:spcBef>
                          <a:spcPts val="0"/>
                        </a:spcBef>
                        <a:spcAft>
                          <a:spcPts val="0"/>
                        </a:spcAft>
                        <a:buNone/>
                      </a:pPr>
                      <a:r>
                        <a:rPr b="1" lang="en" sz="1000">
                          <a:solidFill>
                            <a:srgbClr val="FFFFFF"/>
                          </a:solidFill>
                        </a:rPr>
                        <a:t>Impressions</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rPr>
                        <a:t>Clicks</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rPr>
                        <a:t>Conversions</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rPr>
                        <a:t>Item Sold</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rPr>
                        <a:t>Ads Expense (IDR)</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0000"/>
                    </a:solidFill>
                  </a:tcPr>
                </a:tc>
                <a:tc>
                  <a:txBody>
                    <a:bodyPr/>
                    <a:lstStyle/>
                    <a:p>
                      <a:pPr indent="0" lvl="0" marL="0" rtl="0" algn="ctr">
                        <a:lnSpc>
                          <a:spcPct val="115000"/>
                        </a:lnSpc>
                        <a:spcBef>
                          <a:spcPts val="0"/>
                        </a:spcBef>
                        <a:spcAft>
                          <a:spcPts val="0"/>
                        </a:spcAft>
                        <a:buNone/>
                      </a:pPr>
                      <a:r>
                        <a:rPr b="1" lang="en" sz="1000">
                          <a:solidFill>
                            <a:srgbClr val="FFFFFF"/>
                          </a:solidFill>
                        </a:rPr>
                        <a:t>Ads GMV</a:t>
                      </a:r>
                      <a:endParaRPr b="1" sz="1000">
                        <a:solidFill>
                          <a:srgbClr val="FFFFFF"/>
                        </a:solidFill>
                      </a:endParaRPr>
                    </a:p>
                    <a:p>
                      <a:pPr indent="0" lvl="0" marL="0" rtl="0" algn="ctr">
                        <a:lnSpc>
                          <a:spcPct val="115000"/>
                        </a:lnSpc>
                        <a:spcBef>
                          <a:spcPts val="0"/>
                        </a:spcBef>
                        <a:spcAft>
                          <a:spcPts val="0"/>
                        </a:spcAft>
                        <a:buNone/>
                      </a:pPr>
                      <a:r>
                        <a:rPr b="1" lang="en" sz="1000">
                          <a:solidFill>
                            <a:srgbClr val="FFFFFF"/>
                          </a:solidFill>
                        </a:rPr>
                        <a:t>(IDR)</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0000"/>
                    </a:solidFill>
                  </a:tcPr>
                </a:tc>
              </a:tr>
              <a:tr h="241275">
                <a:tc gridSpan="2">
                  <a:txBody>
                    <a:bodyPr/>
                    <a:lstStyle/>
                    <a:p>
                      <a:pPr indent="0" lvl="0" marL="0" rtl="0" algn="ctr">
                        <a:lnSpc>
                          <a:spcPct val="115000"/>
                        </a:lnSpc>
                        <a:spcBef>
                          <a:spcPts val="0"/>
                        </a:spcBef>
                        <a:spcAft>
                          <a:spcPts val="0"/>
                        </a:spcAft>
                        <a:buNone/>
                      </a:pPr>
                      <a:r>
                        <a:rPr b="1" lang="en" sz="1000">
                          <a:solidFill>
                            <a:srgbClr val="FFFFFF"/>
                          </a:solidFill>
                        </a:rPr>
                        <a:t>July Total</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0000"/>
                    </a:solidFill>
                  </a:tcPr>
                </a:tc>
                <a:tc hMerge="1"/>
                <a:tc>
                  <a:txBody>
                    <a:bodyPr/>
                    <a:lstStyle/>
                    <a:p>
                      <a:pPr indent="0" lvl="0" marL="0" rtl="0" algn="ctr">
                        <a:lnSpc>
                          <a:spcPct val="115000"/>
                        </a:lnSpc>
                        <a:spcBef>
                          <a:spcPts val="0"/>
                        </a:spcBef>
                        <a:spcAft>
                          <a:spcPts val="0"/>
                        </a:spcAft>
                        <a:buNone/>
                      </a:pPr>
                      <a:r>
                        <a:rPr b="1" lang="en" sz="1000">
                          <a:solidFill>
                            <a:srgbClr val="FFFFFF"/>
                          </a:solidFill>
                        </a:rPr>
                        <a:t>347,737</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3D85C6"/>
                    </a:solidFill>
                  </a:tcPr>
                </a:tc>
                <a:tc>
                  <a:txBody>
                    <a:bodyPr/>
                    <a:lstStyle/>
                    <a:p>
                      <a:pPr indent="0" lvl="0" marL="0" rtl="0" algn="ctr">
                        <a:lnSpc>
                          <a:spcPct val="115000"/>
                        </a:lnSpc>
                        <a:spcBef>
                          <a:spcPts val="0"/>
                        </a:spcBef>
                        <a:spcAft>
                          <a:spcPts val="0"/>
                        </a:spcAft>
                        <a:buNone/>
                      </a:pPr>
                      <a:r>
                        <a:rPr b="1" lang="en" sz="1000">
                          <a:solidFill>
                            <a:srgbClr val="FFFFFF"/>
                          </a:solidFill>
                        </a:rPr>
                        <a:t>10,061</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3D85C6"/>
                    </a:solidFill>
                  </a:tcPr>
                </a:tc>
                <a:tc>
                  <a:txBody>
                    <a:bodyPr/>
                    <a:lstStyle/>
                    <a:p>
                      <a:pPr indent="0" lvl="0" marL="0" rtl="0" algn="ctr">
                        <a:lnSpc>
                          <a:spcPct val="115000"/>
                        </a:lnSpc>
                        <a:spcBef>
                          <a:spcPts val="0"/>
                        </a:spcBef>
                        <a:spcAft>
                          <a:spcPts val="0"/>
                        </a:spcAft>
                        <a:buNone/>
                      </a:pPr>
                      <a:r>
                        <a:rPr b="1" lang="en" sz="1000">
                          <a:solidFill>
                            <a:srgbClr val="FFFFFF"/>
                          </a:solidFill>
                        </a:rPr>
                        <a:t>1,734</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3D85C6"/>
                    </a:solidFill>
                  </a:tcPr>
                </a:tc>
                <a:tc>
                  <a:txBody>
                    <a:bodyPr/>
                    <a:lstStyle/>
                    <a:p>
                      <a:pPr indent="0" lvl="0" marL="0" rtl="0" algn="ctr">
                        <a:lnSpc>
                          <a:spcPct val="115000"/>
                        </a:lnSpc>
                        <a:spcBef>
                          <a:spcPts val="0"/>
                        </a:spcBef>
                        <a:spcAft>
                          <a:spcPts val="0"/>
                        </a:spcAft>
                        <a:buNone/>
                      </a:pPr>
                      <a:r>
                        <a:rPr b="1" lang="en" sz="1000">
                          <a:solidFill>
                            <a:srgbClr val="FFFFFF"/>
                          </a:solidFill>
                        </a:rPr>
                        <a:t>938</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3D85C6"/>
                    </a:solidFill>
                  </a:tcPr>
                </a:tc>
                <a:tc>
                  <a:txBody>
                    <a:bodyPr/>
                    <a:lstStyle/>
                    <a:p>
                      <a:pPr indent="0" lvl="0" marL="0" rtl="0" algn="ctr">
                        <a:lnSpc>
                          <a:spcPct val="115000"/>
                        </a:lnSpc>
                        <a:spcBef>
                          <a:spcPts val="0"/>
                        </a:spcBef>
                        <a:spcAft>
                          <a:spcPts val="0"/>
                        </a:spcAft>
                        <a:buNone/>
                      </a:pPr>
                      <a:r>
                        <a:rPr b="1" lang="en" sz="1000">
                          <a:solidFill>
                            <a:srgbClr val="FFFFFF"/>
                          </a:solidFill>
                        </a:rPr>
                        <a:t>7,738,138</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3D85C6"/>
                    </a:solidFill>
                  </a:tcPr>
                </a:tc>
                <a:tc>
                  <a:txBody>
                    <a:bodyPr/>
                    <a:lstStyle/>
                    <a:p>
                      <a:pPr indent="0" lvl="0" marL="0" rtl="0" algn="ctr">
                        <a:lnSpc>
                          <a:spcPct val="115000"/>
                        </a:lnSpc>
                        <a:spcBef>
                          <a:spcPts val="0"/>
                        </a:spcBef>
                        <a:spcAft>
                          <a:spcPts val="0"/>
                        </a:spcAft>
                        <a:buNone/>
                      </a:pPr>
                      <a:r>
                        <a:rPr b="1" lang="en" sz="1000">
                          <a:solidFill>
                            <a:srgbClr val="FFFFFF"/>
                          </a:solidFill>
                        </a:rPr>
                        <a:t>65,552,100</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3D85C6"/>
                    </a:solidFill>
                  </a:tcPr>
                </a:tc>
              </a:tr>
              <a:tr h="241275">
                <a:tc gridSpan="2">
                  <a:txBody>
                    <a:bodyPr/>
                    <a:lstStyle/>
                    <a:p>
                      <a:pPr indent="0" lvl="0" marL="0" rtl="0" algn="ctr">
                        <a:lnSpc>
                          <a:spcPct val="115000"/>
                        </a:lnSpc>
                        <a:spcBef>
                          <a:spcPts val="0"/>
                        </a:spcBef>
                        <a:spcAft>
                          <a:spcPts val="0"/>
                        </a:spcAft>
                        <a:buNone/>
                      </a:pPr>
                      <a:r>
                        <a:rPr b="1" lang="en" sz="1000">
                          <a:solidFill>
                            <a:srgbClr val="FFFFFF"/>
                          </a:solidFill>
                        </a:rPr>
                        <a:t>August Total</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0000"/>
                    </a:solidFill>
                  </a:tcPr>
                </a:tc>
                <a:tc hMerge="1"/>
                <a:tc>
                  <a:txBody>
                    <a:bodyPr/>
                    <a:lstStyle/>
                    <a:p>
                      <a:pPr indent="0" lvl="0" marL="0" rtl="0" algn="ctr">
                        <a:lnSpc>
                          <a:spcPct val="115000"/>
                        </a:lnSpc>
                        <a:spcBef>
                          <a:spcPts val="0"/>
                        </a:spcBef>
                        <a:spcAft>
                          <a:spcPts val="0"/>
                        </a:spcAft>
                        <a:buNone/>
                      </a:pPr>
                      <a:r>
                        <a:rPr b="1" lang="en" sz="1000">
                          <a:solidFill>
                            <a:srgbClr val="FFFFFF"/>
                          </a:solidFill>
                        </a:rPr>
                        <a:t>687,773</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3D85C6"/>
                    </a:solidFill>
                  </a:tcPr>
                </a:tc>
                <a:tc>
                  <a:txBody>
                    <a:bodyPr/>
                    <a:lstStyle/>
                    <a:p>
                      <a:pPr indent="0" lvl="0" marL="0" rtl="0" algn="ctr">
                        <a:lnSpc>
                          <a:spcPct val="115000"/>
                        </a:lnSpc>
                        <a:spcBef>
                          <a:spcPts val="0"/>
                        </a:spcBef>
                        <a:spcAft>
                          <a:spcPts val="0"/>
                        </a:spcAft>
                        <a:buNone/>
                      </a:pPr>
                      <a:r>
                        <a:rPr b="1" lang="en" sz="1000">
                          <a:solidFill>
                            <a:srgbClr val="FFFFFF"/>
                          </a:solidFill>
                        </a:rPr>
                        <a:t>15,818</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3D85C6"/>
                    </a:solidFill>
                  </a:tcPr>
                </a:tc>
                <a:tc>
                  <a:txBody>
                    <a:bodyPr/>
                    <a:lstStyle/>
                    <a:p>
                      <a:pPr indent="0" lvl="0" marL="0" rtl="0" algn="ctr">
                        <a:lnSpc>
                          <a:spcPct val="115000"/>
                        </a:lnSpc>
                        <a:spcBef>
                          <a:spcPts val="0"/>
                        </a:spcBef>
                        <a:spcAft>
                          <a:spcPts val="0"/>
                        </a:spcAft>
                        <a:buNone/>
                      </a:pPr>
                      <a:r>
                        <a:rPr b="1" lang="en" sz="1000">
                          <a:solidFill>
                            <a:srgbClr val="FFFFFF"/>
                          </a:solidFill>
                        </a:rPr>
                        <a:t>2,906</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3D85C6"/>
                    </a:solidFill>
                  </a:tcPr>
                </a:tc>
                <a:tc>
                  <a:txBody>
                    <a:bodyPr/>
                    <a:lstStyle/>
                    <a:p>
                      <a:pPr indent="0" lvl="0" marL="0" rtl="0" algn="ctr">
                        <a:lnSpc>
                          <a:spcPct val="115000"/>
                        </a:lnSpc>
                        <a:spcBef>
                          <a:spcPts val="0"/>
                        </a:spcBef>
                        <a:spcAft>
                          <a:spcPts val="0"/>
                        </a:spcAft>
                        <a:buNone/>
                      </a:pPr>
                      <a:r>
                        <a:rPr b="1" lang="en" sz="1000">
                          <a:solidFill>
                            <a:srgbClr val="FFFFFF"/>
                          </a:solidFill>
                        </a:rPr>
                        <a:t>1,385</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3D85C6"/>
                    </a:solidFill>
                  </a:tcPr>
                </a:tc>
                <a:tc>
                  <a:txBody>
                    <a:bodyPr/>
                    <a:lstStyle/>
                    <a:p>
                      <a:pPr indent="0" lvl="0" marL="0" rtl="0" algn="ctr">
                        <a:lnSpc>
                          <a:spcPct val="115000"/>
                        </a:lnSpc>
                        <a:spcBef>
                          <a:spcPts val="0"/>
                        </a:spcBef>
                        <a:spcAft>
                          <a:spcPts val="0"/>
                        </a:spcAft>
                        <a:buNone/>
                      </a:pPr>
                      <a:r>
                        <a:rPr b="1" lang="en" sz="1000">
                          <a:solidFill>
                            <a:srgbClr val="FFFFFF"/>
                          </a:solidFill>
                        </a:rPr>
                        <a:t>20,746,315</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3D85C6"/>
                    </a:solidFill>
                  </a:tcPr>
                </a:tc>
                <a:tc>
                  <a:txBody>
                    <a:bodyPr/>
                    <a:lstStyle/>
                    <a:p>
                      <a:pPr indent="0" lvl="0" marL="0" rtl="0" algn="ctr">
                        <a:lnSpc>
                          <a:spcPct val="115000"/>
                        </a:lnSpc>
                        <a:spcBef>
                          <a:spcPts val="0"/>
                        </a:spcBef>
                        <a:spcAft>
                          <a:spcPts val="0"/>
                        </a:spcAft>
                        <a:buNone/>
                      </a:pPr>
                      <a:r>
                        <a:rPr b="1" lang="en" sz="1000">
                          <a:solidFill>
                            <a:srgbClr val="FFFFFF"/>
                          </a:solidFill>
                        </a:rPr>
                        <a:t>89,767,687</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3D85C6"/>
                    </a:solidFill>
                  </a:tcPr>
                </a:tc>
              </a:tr>
              <a:tr h="241275">
                <a:tc gridSpan="2">
                  <a:txBody>
                    <a:bodyPr/>
                    <a:lstStyle/>
                    <a:p>
                      <a:pPr indent="0" lvl="0" marL="0" rtl="0" algn="ctr">
                        <a:lnSpc>
                          <a:spcPct val="115000"/>
                        </a:lnSpc>
                        <a:spcBef>
                          <a:spcPts val="0"/>
                        </a:spcBef>
                        <a:spcAft>
                          <a:spcPts val="0"/>
                        </a:spcAft>
                        <a:buNone/>
                      </a:pPr>
                      <a:r>
                        <a:rPr b="1" lang="en" sz="1000">
                          <a:solidFill>
                            <a:srgbClr val="FFFFFF"/>
                          </a:solidFill>
                        </a:rPr>
                        <a:t>Growth</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0000"/>
                    </a:solidFill>
                  </a:tcPr>
                </a:tc>
                <a:tc hMerge="1"/>
                <a:tc>
                  <a:txBody>
                    <a:bodyPr/>
                    <a:lstStyle/>
                    <a:p>
                      <a:pPr indent="0" lvl="0" marL="0" rtl="0" algn="ctr">
                        <a:lnSpc>
                          <a:spcPct val="115000"/>
                        </a:lnSpc>
                        <a:spcBef>
                          <a:spcPts val="0"/>
                        </a:spcBef>
                        <a:spcAft>
                          <a:spcPts val="0"/>
                        </a:spcAft>
                        <a:buNone/>
                      </a:pPr>
                      <a:r>
                        <a:rPr b="1" lang="en" sz="1000"/>
                        <a:t>97.79%</a:t>
                      </a:r>
                      <a:endParaRPr b="1" sz="10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FF00"/>
                    </a:solidFill>
                  </a:tcPr>
                </a:tc>
                <a:tc>
                  <a:txBody>
                    <a:bodyPr/>
                    <a:lstStyle/>
                    <a:p>
                      <a:pPr indent="0" lvl="0" marL="0" rtl="0" algn="ctr">
                        <a:lnSpc>
                          <a:spcPct val="115000"/>
                        </a:lnSpc>
                        <a:spcBef>
                          <a:spcPts val="0"/>
                        </a:spcBef>
                        <a:spcAft>
                          <a:spcPts val="0"/>
                        </a:spcAft>
                        <a:buNone/>
                      </a:pPr>
                      <a:r>
                        <a:rPr b="1" lang="en" sz="1000"/>
                        <a:t>57.22%</a:t>
                      </a:r>
                      <a:endParaRPr b="1" sz="10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FF00"/>
                    </a:solidFill>
                  </a:tcPr>
                </a:tc>
                <a:tc>
                  <a:txBody>
                    <a:bodyPr/>
                    <a:lstStyle/>
                    <a:p>
                      <a:pPr indent="0" lvl="0" marL="0" rtl="0" algn="ctr">
                        <a:lnSpc>
                          <a:spcPct val="115000"/>
                        </a:lnSpc>
                        <a:spcBef>
                          <a:spcPts val="0"/>
                        </a:spcBef>
                        <a:spcAft>
                          <a:spcPts val="0"/>
                        </a:spcAft>
                        <a:buNone/>
                      </a:pPr>
                      <a:r>
                        <a:rPr b="1" lang="en" sz="1000"/>
                        <a:t>67.59%</a:t>
                      </a:r>
                      <a:endParaRPr b="1" sz="10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FF00"/>
                    </a:solidFill>
                  </a:tcPr>
                </a:tc>
                <a:tc>
                  <a:txBody>
                    <a:bodyPr/>
                    <a:lstStyle/>
                    <a:p>
                      <a:pPr indent="0" lvl="0" marL="0" rtl="0" algn="ctr">
                        <a:lnSpc>
                          <a:spcPct val="115000"/>
                        </a:lnSpc>
                        <a:spcBef>
                          <a:spcPts val="0"/>
                        </a:spcBef>
                        <a:spcAft>
                          <a:spcPts val="0"/>
                        </a:spcAft>
                        <a:buNone/>
                      </a:pPr>
                      <a:r>
                        <a:rPr b="1" lang="en" sz="1000"/>
                        <a:t>47.65%</a:t>
                      </a:r>
                      <a:endParaRPr b="1" sz="10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FF00"/>
                    </a:solidFill>
                  </a:tcPr>
                </a:tc>
                <a:tc>
                  <a:txBody>
                    <a:bodyPr/>
                    <a:lstStyle/>
                    <a:p>
                      <a:pPr indent="0" lvl="0" marL="0" rtl="0" algn="ctr">
                        <a:lnSpc>
                          <a:spcPct val="115000"/>
                        </a:lnSpc>
                        <a:spcBef>
                          <a:spcPts val="0"/>
                        </a:spcBef>
                        <a:spcAft>
                          <a:spcPts val="0"/>
                        </a:spcAft>
                        <a:buNone/>
                      </a:pPr>
                      <a:r>
                        <a:rPr b="1" lang="en" sz="1000"/>
                        <a:t>168.10%</a:t>
                      </a:r>
                      <a:endParaRPr b="1" sz="10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FF00"/>
                    </a:solidFill>
                  </a:tcPr>
                </a:tc>
                <a:tc>
                  <a:txBody>
                    <a:bodyPr/>
                    <a:lstStyle/>
                    <a:p>
                      <a:pPr indent="0" lvl="0" marL="0" rtl="0" algn="ctr">
                        <a:lnSpc>
                          <a:spcPct val="115000"/>
                        </a:lnSpc>
                        <a:spcBef>
                          <a:spcPts val="0"/>
                        </a:spcBef>
                        <a:spcAft>
                          <a:spcPts val="0"/>
                        </a:spcAft>
                        <a:buNone/>
                      </a:pPr>
                      <a:r>
                        <a:rPr b="1" lang="en" sz="1000"/>
                        <a:t>36.94%</a:t>
                      </a:r>
                      <a:endParaRPr b="1" sz="10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FF00"/>
                    </a:solidFill>
                  </a:tcPr>
                </a:tc>
              </a:tr>
            </a:tbl>
          </a:graphicData>
        </a:graphic>
      </p:graphicFrame>
      <p:graphicFrame>
        <p:nvGraphicFramePr>
          <p:cNvPr id="541" name="Google Shape;541;p59"/>
          <p:cNvGraphicFramePr/>
          <p:nvPr/>
        </p:nvGraphicFramePr>
        <p:xfrm>
          <a:off x="277825" y="2521741"/>
          <a:ext cx="3000000" cy="3000000"/>
        </p:xfrm>
        <a:graphic>
          <a:graphicData uri="http://schemas.openxmlformats.org/drawingml/2006/table">
            <a:tbl>
              <a:tblPr>
                <a:noFill/>
                <a:tableStyleId>{05CF1300-53F3-430B-9C35-424554A46B0A}</a:tableStyleId>
              </a:tblPr>
              <a:tblGrid>
                <a:gridCol w="2029950"/>
                <a:gridCol w="427850"/>
                <a:gridCol w="1418375"/>
                <a:gridCol w="1414500"/>
                <a:gridCol w="1437875"/>
                <a:gridCol w="1446200"/>
              </a:tblGrid>
              <a:tr h="468275">
                <a:tc gridSpan="2">
                  <a:txBody>
                    <a:bodyPr/>
                    <a:lstStyle/>
                    <a:p>
                      <a:pPr indent="0" lvl="0" marL="0" rtl="0" algn="ctr">
                        <a:lnSpc>
                          <a:spcPct val="115000"/>
                        </a:lnSpc>
                        <a:spcBef>
                          <a:spcPts val="0"/>
                        </a:spcBef>
                        <a:spcAft>
                          <a:spcPts val="0"/>
                        </a:spcAft>
                        <a:buNone/>
                      </a:pPr>
                      <a:r>
                        <a:rPr b="1" lang="en" sz="1000"/>
                        <a:t>Polident, Scotts, Sensodyne</a:t>
                      </a:r>
                      <a:endParaRPr b="1" sz="10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00"/>
                    </a:solidFill>
                  </a:tcPr>
                </a:tc>
                <a:tc hMerge="1"/>
                <a:tc>
                  <a:txBody>
                    <a:bodyPr/>
                    <a:lstStyle/>
                    <a:p>
                      <a:pPr indent="0" lvl="0" marL="0" rtl="0" algn="ctr">
                        <a:lnSpc>
                          <a:spcPct val="115000"/>
                        </a:lnSpc>
                        <a:spcBef>
                          <a:spcPts val="0"/>
                        </a:spcBef>
                        <a:spcAft>
                          <a:spcPts val="0"/>
                        </a:spcAft>
                        <a:buNone/>
                      </a:pPr>
                      <a:r>
                        <a:rPr b="1" lang="en" sz="1000"/>
                        <a:t>%CTR</a:t>
                      </a:r>
                      <a:endParaRPr b="1" sz="10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FFFF"/>
                    </a:solidFill>
                  </a:tcPr>
                </a:tc>
                <a:tc>
                  <a:txBody>
                    <a:bodyPr/>
                    <a:lstStyle/>
                    <a:p>
                      <a:pPr indent="0" lvl="0" marL="0" rtl="0" algn="ctr">
                        <a:lnSpc>
                          <a:spcPct val="115000"/>
                        </a:lnSpc>
                        <a:spcBef>
                          <a:spcPts val="0"/>
                        </a:spcBef>
                        <a:spcAft>
                          <a:spcPts val="0"/>
                        </a:spcAft>
                        <a:buNone/>
                      </a:pPr>
                      <a:r>
                        <a:rPr b="1" lang="en" sz="1000"/>
                        <a:t>%CR</a:t>
                      </a:r>
                      <a:endParaRPr b="1" sz="10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FFFF"/>
                    </a:solidFill>
                  </a:tcPr>
                </a:tc>
                <a:tc>
                  <a:txBody>
                    <a:bodyPr/>
                    <a:lstStyle/>
                    <a:p>
                      <a:pPr indent="0" lvl="0" marL="0" rtl="0" algn="ctr">
                        <a:lnSpc>
                          <a:spcPct val="115000"/>
                        </a:lnSpc>
                        <a:spcBef>
                          <a:spcPts val="0"/>
                        </a:spcBef>
                        <a:spcAft>
                          <a:spcPts val="0"/>
                        </a:spcAft>
                        <a:buNone/>
                      </a:pPr>
                      <a:r>
                        <a:rPr b="1" lang="en" sz="1000"/>
                        <a:t>ROAS</a:t>
                      </a:r>
                      <a:endParaRPr b="1" sz="10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FFFF"/>
                    </a:solidFill>
                  </a:tcPr>
                </a:tc>
                <a:tc>
                  <a:txBody>
                    <a:bodyPr/>
                    <a:lstStyle/>
                    <a:p>
                      <a:pPr indent="0" lvl="0" marL="0" rtl="0" algn="ctr">
                        <a:lnSpc>
                          <a:spcPct val="115000"/>
                        </a:lnSpc>
                        <a:spcBef>
                          <a:spcPts val="0"/>
                        </a:spcBef>
                        <a:spcAft>
                          <a:spcPts val="0"/>
                        </a:spcAft>
                        <a:buNone/>
                      </a:pPr>
                      <a:r>
                        <a:rPr b="1" lang="en" sz="1000"/>
                        <a:t>CPC</a:t>
                      </a:r>
                      <a:endParaRPr b="1" sz="10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FFFF"/>
                    </a:solidFill>
                  </a:tcPr>
                </a:tc>
              </a:tr>
              <a:tr h="212900">
                <a:tc gridSpan="2">
                  <a:txBody>
                    <a:bodyPr/>
                    <a:lstStyle/>
                    <a:p>
                      <a:pPr indent="0" lvl="0" marL="0" rtl="0" algn="ctr">
                        <a:lnSpc>
                          <a:spcPct val="115000"/>
                        </a:lnSpc>
                        <a:spcBef>
                          <a:spcPts val="0"/>
                        </a:spcBef>
                        <a:spcAft>
                          <a:spcPts val="0"/>
                        </a:spcAft>
                        <a:buNone/>
                      </a:pPr>
                      <a:r>
                        <a:rPr b="1" lang="en" sz="1000">
                          <a:solidFill>
                            <a:srgbClr val="FFFFFF"/>
                          </a:solidFill>
                        </a:rPr>
                        <a:t>July Total</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0000"/>
                    </a:solidFill>
                  </a:tcPr>
                </a:tc>
                <a:tc hMerge="1"/>
                <a:tc>
                  <a:txBody>
                    <a:bodyPr/>
                    <a:lstStyle/>
                    <a:p>
                      <a:pPr indent="0" lvl="0" marL="0" rtl="0" algn="ctr">
                        <a:lnSpc>
                          <a:spcPct val="115000"/>
                        </a:lnSpc>
                        <a:spcBef>
                          <a:spcPts val="0"/>
                        </a:spcBef>
                        <a:spcAft>
                          <a:spcPts val="0"/>
                        </a:spcAft>
                        <a:buNone/>
                      </a:pPr>
                      <a:r>
                        <a:rPr b="1" lang="en" sz="1100">
                          <a:solidFill>
                            <a:srgbClr val="FFFFFF"/>
                          </a:solidFill>
                        </a:rPr>
                        <a:t>2.79%</a:t>
                      </a:r>
                      <a:endParaRPr b="1" sz="11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CCCCCC"/>
                      </a:solidFill>
                      <a:prstDash val="solid"/>
                      <a:round/>
                      <a:headEnd len="sm" w="sm" type="none"/>
                      <a:tailEnd len="sm" w="sm" type="none"/>
                    </a:lnB>
                    <a:solidFill>
                      <a:srgbClr val="4A86E8"/>
                    </a:solidFill>
                  </a:tcPr>
                </a:tc>
                <a:tc>
                  <a:txBody>
                    <a:bodyPr/>
                    <a:lstStyle/>
                    <a:p>
                      <a:pPr indent="0" lvl="0" marL="0" rtl="0" algn="ctr">
                        <a:lnSpc>
                          <a:spcPct val="115000"/>
                        </a:lnSpc>
                        <a:spcBef>
                          <a:spcPts val="0"/>
                        </a:spcBef>
                        <a:spcAft>
                          <a:spcPts val="0"/>
                        </a:spcAft>
                        <a:buNone/>
                      </a:pPr>
                      <a:r>
                        <a:rPr b="1" lang="en" sz="1100">
                          <a:solidFill>
                            <a:srgbClr val="FFFFFF"/>
                          </a:solidFill>
                        </a:rPr>
                        <a:t>20.38%</a:t>
                      </a:r>
                      <a:endParaRPr b="1" sz="1100">
                        <a:solidFill>
                          <a:srgbClr val="FFFFFF"/>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CCCCCC"/>
                      </a:solidFill>
                      <a:prstDash val="solid"/>
                      <a:round/>
                      <a:headEnd len="sm" w="sm" type="none"/>
                      <a:tailEnd len="sm" w="sm" type="none"/>
                    </a:lnB>
                    <a:solidFill>
                      <a:srgbClr val="4A86E8"/>
                    </a:solidFill>
                  </a:tcPr>
                </a:tc>
                <a:tc>
                  <a:txBody>
                    <a:bodyPr/>
                    <a:lstStyle/>
                    <a:p>
                      <a:pPr indent="0" lvl="0" marL="0" rtl="0" algn="ctr">
                        <a:lnSpc>
                          <a:spcPct val="115000"/>
                        </a:lnSpc>
                        <a:spcBef>
                          <a:spcPts val="0"/>
                        </a:spcBef>
                        <a:spcAft>
                          <a:spcPts val="0"/>
                        </a:spcAft>
                        <a:buNone/>
                      </a:pPr>
                      <a:r>
                        <a:rPr b="1" lang="en" sz="1100">
                          <a:solidFill>
                            <a:srgbClr val="FFFFFF"/>
                          </a:solidFill>
                        </a:rPr>
                        <a:t>5.12</a:t>
                      </a:r>
                      <a:endParaRPr b="1" sz="1100">
                        <a:solidFill>
                          <a:srgbClr val="FFFFFF"/>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CCCCCC"/>
                      </a:solidFill>
                      <a:prstDash val="solid"/>
                      <a:round/>
                      <a:headEnd len="sm" w="sm" type="none"/>
                      <a:tailEnd len="sm" w="sm" type="none"/>
                    </a:lnB>
                    <a:solidFill>
                      <a:srgbClr val="4A86E8"/>
                    </a:solidFill>
                  </a:tcPr>
                </a:tc>
                <a:tc>
                  <a:txBody>
                    <a:bodyPr/>
                    <a:lstStyle/>
                    <a:p>
                      <a:pPr indent="0" lvl="0" marL="0" rtl="0" algn="ctr">
                        <a:lnSpc>
                          <a:spcPct val="115000"/>
                        </a:lnSpc>
                        <a:spcBef>
                          <a:spcPts val="0"/>
                        </a:spcBef>
                        <a:spcAft>
                          <a:spcPts val="0"/>
                        </a:spcAft>
                        <a:buNone/>
                      </a:pPr>
                      <a:r>
                        <a:rPr b="1" lang="en" sz="1100">
                          <a:solidFill>
                            <a:srgbClr val="FFFFFF"/>
                          </a:solidFill>
                        </a:rPr>
                        <a:t>1,237</a:t>
                      </a:r>
                      <a:endParaRPr b="1" sz="1100">
                        <a:solidFill>
                          <a:srgbClr val="FFFFFF"/>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CCCCCC"/>
                      </a:solidFill>
                      <a:prstDash val="solid"/>
                      <a:round/>
                      <a:headEnd len="sm" w="sm" type="none"/>
                      <a:tailEnd len="sm" w="sm" type="none"/>
                    </a:lnB>
                    <a:solidFill>
                      <a:srgbClr val="4A86E8"/>
                    </a:solidFill>
                  </a:tcPr>
                </a:tc>
              </a:tr>
              <a:tr h="200025">
                <a:tc gridSpan="2">
                  <a:txBody>
                    <a:bodyPr/>
                    <a:lstStyle/>
                    <a:p>
                      <a:pPr indent="0" lvl="0" marL="0" rtl="0" algn="ctr">
                        <a:lnSpc>
                          <a:spcPct val="115000"/>
                        </a:lnSpc>
                        <a:spcBef>
                          <a:spcPts val="0"/>
                        </a:spcBef>
                        <a:spcAft>
                          <a:spcPts val="0"/>
                        </a:spcAft>
                        <a:buNone/>
                      </a:pPr>
                      <a:r>
                        <a:rPr b="1" lang="en" sz="1000">
                          <a:solidFill>
                            <a:srgbClr val="FFFFFF"/>
                          </a:solidFill>
                        </a:rPr>
                        <a:t>August Total</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0000"/>
                    </a:solidFill>
                  </a:tcPr>
                </a:tc>
                <a:tc hMerge="1"/>
                <a:tc>
                  <a:txBody>
                    <a:bodyPr/>
                    <a:lstStyle/>
                    <a:p>
                      <a:pPr indent="0" lvl="0" marL="0" rtl="0" algn="ctr">
                        <a:lnSpc>
                          <a:spcPct val="115000"/>
                        </a:lnSpc>
                        <a:spcBef>
                          <a:spcPts val="0"/>
                        </a:spcBef>
                        <a:spcAft>
                          <a:spcPts val="0"/>
                        </a:spcAft>
                        <a:buNone/>
                      </a:pPr>
                      <a:r>
                        <a:rPr b="1" lang="en" sz="1100">
                          <a:solidFill>
                            <a:srgbClr val="FFFFFF"/>
                          </a:solidFill>
                        </a:rPr>
                        <a:t>2.30%</a:t>
                      </a:r>
                      <a:endParaRPr b="1" sz="11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FFFFFF"/>
                      </a:solidFill>
                      <a:prstDash val="solid"/>
                      <a:round/>
                      <a:headEnd len="sm" w="sm" type="none"/>
                      <a:tailEnd len="sm" w="sm" type="none"/>
                    </a:lnB>
                    <a:solidFill>
                      <a:srgbClr val="4A86E8"/>
                    </a:solidFill>
                  </a:tcPr>
                </a:tc>
                <a:tc>
                  <a:txBody>
                    <a:bodyPr/>
                    <a:lstStyle/>
                    <a:p>
                      <a:pPr indent="0" lvl="0" marL="0" rtl="0" algn="ctr">
                        <a:lnSpc>
                          <a:spcPct val="115000"/>
                        </a:lnSpc>
                        <a:spcBef>
                          <a:spcPts val="0"/>
                        </a:spcBef>
                        <a:spcAft>
                          <a:spcPts val="0"/>
                        </a:spcAft>
                        <a:buNone/>
                      </a:pPr>
                      <a:r>
                        <a:rPr b="1" lang="en" sz="1100">
                          <a:solidFill>
                            <a:srgbClr val="FFFFFF"/>
                          </a:solidFill>
                        </a:rPr>
                        <a:t>18.37%</a:t>
                      </a:r>
                      <a:endParaRPr b="1" sz="1100">
                        <a:solidFill>
                          <a:srgbClr val="FFFFFF"/>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FFFFFF"/>
                      </a:solidFill>
                      <a:prstDash val="solid"/>
                      <a:round/>
                      <a:headEnd len="sm" w="sm" type="none"/>
                      <a:tailEnd len="sm" w="sm" type="none"/>
                    </a:lnB>
                    <a:solidFill>
                      <a:srgbClr val="4A86E8"/>
                    </a:solidFill>
                  </a:tcPr>
                </a:tc>
                <a:tc>
                  <a:txBody>
                    <a:bodyPr/>
                    <a:lstStyle/>
                    <a:p>
                      <a:pPr indent="0" lvl="0" marL="0" rtl="0" algn="ctr">
                        <a:lnSpc>
                          <a:spcPct val="115000"/>
                        </a:lnSpc>
                        <a:spcBef>
                          <a:spcPts val="0"/>
                        </a:spcBef>
                        <a:spcAft>
                          <a:spcPts val="0"/>
                        </a:spcAft>
                        <a:buNone/>
                      </a:pPr>
                      <a:r>
                        <a:rPr b="1" lang="en" sz="1100">
                          <a:solidFill>
                            <a:srgbClr val="FFFFFF"/>
                          </a:solidFill>
                        </a:rPr>
                        <a:t>4.33</a:t>
                      </a:r>
                      <a:endParaRPr b="1" sz="1100">
                        <a:solidFill>
                          <a:srgbClr val="FFFFFF"/>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FFFFFF"/>
                      </a:solidFill>
                      <a:prstDash val="solid"/>
                      <a:round/>
                      <a:headEnd len="sm" w="sm" type="none"/>
                      <a:tailEnd len="sm" w="sm" type="none"/>
                    </a:lnB>
                    <a:solidFill>
                      <a:srgbClr val="4A86E8"/>
                    </a:solidFill>
                  </a:tcPr>
                </a:tc>
                <a:tc>
                  <a:txBody>
                    <a:bodyPr/>
                    <a:lstStyle/>
                    <a:p>
                      <a:pPr indent="0" lvl="0" marL="0" rtl="0" algn="ctr">
                        <a:lnSpc>
                          <a:spcPct val="115000"/>
                        </a:lnSpc>
                        <a:spcBef>
                          <a:spcPts val="0"/>
                        </a:spcBef>
                        <a:spcAft>
                          <a:spcPts val="0"/>
                        </a:spcAft>
                        <a:buNone/>
                      </a:pPr>
                      <a:r>
                        <a:rPr b="1" lang="en" sz="1100">
                          <a:solidFill>
                            <a:srgbClr val="FFFFFF"/>
                          </a:solidFill>
                        </a:rPr>
                        <a:t>1,312</a:t>
                      </a:r>
                      <a:endParaRPr b="1" sz="1100">
                        <a:solidFill>
                          <a:srgbClr val="FFFFFF"/>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FFFFFF"/>
                      </a:solidFill>
                      <a:prstDash val="solid"/>
                      <a:round/>
                      <a:headEnd len="sm" w="sm" type="none"/>
                      <a:tailEnd len="sm" w="sm" type="none"/>
                    </a:lnB>
                    <a:solidFill>
                      <a:srgbClr val="4A86E8"/>
                    </a:solidFill>
                  </a:tcPr>
                </a:tc>
              </a:tr>
              <a:tr h="200025">
                <a:tc gridSpan="2">
                  <a:txBody>
                    <a:bodyPr/>
                    <a:lstStyle/>
                    <a:p>
                      <a:pPr indent="0" lvl="0" marL="0" rtl="0" algn="ctr">
                        <a:lnSpc>
                          <a:spcPct val="115000"/>
                        </a:lnSpc>
                        <a:spcBef>
                          <a:spcPts val="0"/>
                        </a:spcBef>
                        <a:spcAft>
                          <a:spcPts val="0"/>
                        </a:spcAft>
                        <a:buNone/>
                      </a:pPr>
                      <a:r>
                        <a:rPr b="1" lang="en" sz="1000">
                          <a:solidFill>
                            <a:srgbClr val="FFFFFF"/>
                          </a:solidFill>
                        </a:rPr>
                        <a:t>Growth</a:t>
                      </a:r>
                      <a:endParaRPr b="1" sz="1000">
                        <a:solidFill>
                          <a:srgbClr val="FFFFFF"/>
                        </a:solidFill>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0000"/>
                    </a:solidFill>
                  </a:tcPr>
                </a:tc>
                <a:tc hMerge="1"/>
                <a:tc>
                  <a:txBody>
                    <a:bodyPr/>
                    <a:lstStyle/>
                    <a:p>
                      <a:pPr indent="0" lvl="0" marL="0" rtl="0" algn="ctr">
                        <a:lnSpc>
                          <a:spcPct val="115000"/>
                        </a:lnSpc>
                        <a:spcBef>
                          <a:spcPts val="0"/>
                        </a:spcBef>
                        <a:spcAft>
                          <a:spcPts val="0"/>
                        </a:spcAft>
                        <a:buNone/>
                      </a:pPr>
                      <a:r>
                        <a:rPr b="1" lang="en" sz="1000"/>
                        <a:t>-17.56%</a:t>
                      </a:r>
                      <a:endParaRPr b="1" sz="10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06666"/>
                    </a:solidFill>
                  </a:tcPr>
                </a:tc>
                <a:tc>
                  <a:txBody>
                    <a:bodyPr/>
                    <a:lstStyle/>
                    <a:p>
                      <a:pPr indent="0" lvl="0" marL="0" rtl="0" algn="ctr">
                        <a:lnSpc>
                          <a:spcPct val="115000"/>
                        </a:lnSpc>
                        <a:spcBef>
                          <a:spcPts val="0"/>
                        </a:spcBef>
                        <a:spcAft>
                          <a:spcPts val="0"/>
                        </a:spcAft>
                        <a:buNone/>
                      </a:pPr>
                      <a:r>
                        <a:rPr b="1" lang="en" sz="1000"/>
                        <a:t>-9.86%</a:t>
                      </a:r>
                      <a:endParaRPr b="1" sz="10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06666"/>
                    </a:solidFill>
                  </a:tcPr>
                </a:tc>
                <a:tc>
                  <a:txBody>
                    <a:bodyPr/>
                    <a:lstStyle/>
                    <a:p>
                      <a:pPr indent="0" lvl="0" marL="0" rtl="0" algn="ctr">
                        <a:lnSpc>
                          <a:spcPct val="115000"/>
                        </a:lnSpc>
                        <a:spcBef>
                          <a:spcPts val="0"/>
                        </a:spcBef>
                        <a:spcAft>
                          <a:spcPts val="0"/>
                        </a:spcAft>
                        <a:buNone/>
                      </a:pPr>
                      <a:r>
                        <a:rPr b="1" lang="en" sz="1000"/>
                        <a:t>-15.43%</a:t>
                      </a:r>
                      <a:endParaRPr b="1" sz="10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06666"/>
                    </a:solidFill>
                  </a:tcPr>
                </a:tc>
                <a:tc>
                  <a:txBody>
                    <a:bodyPr/>
                    <a:lstStyle/>
                    <a:p>
                      <a:pPr indent="0" lvl="0" marL="0" rtl="0" algn="ctr">
                        <a:lnSpc>
                          <a:spcPct val="115000"/>
                        </a:lnSpc>
                        <a:spcBef>
                          <a:spcPts val="0"/>
                        </a:spcBef>
                        <a:spcAft>
                          <a:spcPts val="0"/>
                        </a:spcAft>
                        <a:buNone/>
                      </a:pPr>
                      <a:r>
                        <a:rPr b="1" lang="en" sz="1000"/>
                        <a:t>6.06%</a:t>
                      </a:r>
                      <a:endParaRPr b="1" sz="1000"/>
                    </a:p>
                  </a:txBody>
                  <a:tcPr marT="19050" marB="19050" marR="28575" marL="28575" anchor="b">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0FF00"/>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0"/>
          <p:cNvSpPr/>
          <p:nvPr/>
        </p:nvSpPr>
        <p:spPr>
          <a:xfrm>
            <a:off x="-6513854" y="1503934"/>
            <a:ext cx="270600" cy="299400"/>
          </a:xfrm>
          <a:prstGeom prst="rect">
            <a:avLst/>
          </a:prstGeom>
          <a:noFill/>
          <a:ln>
            <a:noFill/>
          </a:ln>
        </p:spPr>
        <p:txBody>
          <a:bodyPr anchorCtr="0" anchor="t" bIns="34275" lIns="68575" spcFirstLastPara="1" rIns="68575" wrap="square" tIns="34275">
            <a:noAutofit/>
          </a:bodyPr>
          <a:lstStyle/>
          <a:p>
            <a:pPr indent="0" lvl="0" marL="0" marR="0" rtl="0" algn="ctr">
              <a:lnSpc>
                <a:spcPct val="148571"/>
              </a:lnSpc>
              <a:spcBef>
                <a:spcPts val="0"/>
              </a:spcBef>
              <a:spcAft>
                <a:spcPts val="0"/>
              </a:spcAft>
              <a:buClr>
                <a:srgbClr val="000000"/>
              </a:buClr>
              <a:buSzPts val="1100"/>
              <a:buFont typeface="Arial"/>
              <a:buNone/>
            </a:pPr>
            <a:r>
              <a:rPr b="0" i="0" lang="en" sz="2000" u="none" cap="none" strike="noStrike">
                <a:solidFill>
                  <a:srgbClr val="FFFFFF"/>
                </a:solidFill>
                <a:latin typeface="Arial"/>
                <a:ea typeface="Arial"/>
                <a:cs typeface="Arial"/>
                <a:sym typeface="Arial"/>
              </a:rPr>
              <a:t>×</a:t>
            </a:r>
            <a:endParaRPr b="0" i="0" sz="2000" u="none" cap="none" strike="noStrike">
              <a:solidFill>
                <a:srgbClr val="FFFFFF"/>
              </a:solidFill>
              <a:latin typeface="Arial"/>
              <a:ea typeface="Arial"/>
              <a:cs typeface="Arial"/>
              <a:sym typeface="Arial"/>
            </a:endParaRPr>
          </a:p>
        </p:txBody>
      </p:sp>
      <p:pic>
        <p:nvPicPr>
          <p:cNvPr id="548" name="Google Shape;548;p60"/>
          <p:cNvPicPr preferRelativeResize="0"/>
          <p:nvPr/>
        </p:nvPicPr>
        <p:blipFill rotWithShape="1">
          <a:blip r:embed="rId3">
            <a:alphaModFix/>
          </a:blip>
          <a:srcRect b="0" l="0" r="0" t="0"/>
          <a:stretch/>
        </p:blipFill>
        <p:spPr>
          <a:xfrm>
            <a:off x="-6228335" y="1542176"/>
            <a:ext cx="1137599" cy="299310"/>
          </a:xfrm>
          <a:prstGeom prst="rect">
            <a:avLst/>
          </a:prstGeom>
          <a:noFill/>
          <a:ln>
            <a:noFill/>
          </a:ln>
        </p:spPr>
      </p:pic>
      <p:pic>
        <p:nvPicPr>
          <p:cNvPr id="549" name="Google Shape;549;p60"/>
          <p:cNvPicPr preferRelativeResize="0"/>
          <p:nvPr/>
        </p:nvPicPr>
        <p:blipFill rotWithShape="1">
          <a:blip r:embed="rId4">
            <a:alphaModFix/>
          </a:blip>
          <a:srcRect b="0" l="0" r="0" t="0"/>
          <a:stretch/>
        </p:blipFill>
        <p:spPr>
          <a:xfrm>
            <a:off x="-7488888" y="1447341"/>
            <a:ext cx="1137597" cy="490650"/>
          </a:xfrm>
          <a:prstGeom prst="rect">
            <a:avLst/>
          </a:prstGeom>
          <a:noFill/>
          <a:ln>
            <a:noFill/>
          </a:ln>
        </p:spPr>
      </p:pic>
      <p:grpSp>
        <p:nvGrpSpPr>
          <p:cNvPr id="550" name="Google Shape;550;p60"/>
          <p:cNvGrpSpPr/>
          <p:nvPr/>
        </p:nvGrpSpPr>
        <p:grpSpPr>
          <a:xfrm>
            <a:off x="0" y="1776516"/>
            <a:ext cx="9144000" cy="1388690"/>
            <a:chOff x="8230" y="1814144"/>
            <a:chExt cx="9144000" cy="1388690"/>
          </a:xfrm>
        </p:grpSpPr>
        <p:pic>
          <p:nvPicPr>
            <p:cNvPr descr="preencoded.png" id="551" name="Google Shape;551;p60"/>
            <p:cNvPicPr preferRelativeResize="0"/>
            <p:nvPr/>
          </p:nvPicPr>
          <p:blipFill rotWithShape="1">
            <a:blip r:embed="rId5">
              <a:alphaModFix/>
            </a:blip>
            <a:srcRect b="0" l="0" r="0" t="0"/>
            <a:stretch/>
          </p:blipFill>
          <p:spPr>
            <a:xfrm>
              <a:off x="3159127" y="1814144"/>
              <a:ext cx="2896175" cy="773078"/>
            </a:xfrm>
            <a:prstGeom prst="rect">
              <a:avLst/>
            </a:prstGeom>
            <a:noFill/>
            <a:ln>
              <a:noFill/>
            </a:ln>
          </p:spPr>
        </p:pic>
        <p:sp>
          <p:nvSpPr>
            <p:cNvPr id="552" name="Google Shape;552;p60"/>
            <p:cNvSpPr/>
            <p:nvPr/>
          </p:nvSpPr>
          <p:spPr>
            <a:xfrm>
              <a:off x="8230" y="2758234"/>
              <a:ext cx="9144000" cy="444600"/>
            </a:xfrm>
            <a:prstGeom prst="rect">
              <a:avLst/>
            </a:prstGeom>
            <a:noFill/>
            <a:ln>
              <a:noFill/>
            </a:ln>
          </p:spPr>
          <p:txBody>
            <a:bodyPr anchorCtr="0" anchor="t" bIns="0" lIns="0" spcFirstLastPara="1" rIns="0" wrap="square" tIns="0">
              <a:noAutofit/>
            </a:bodyPr>
            <a:lstStyle/>
            <a:p>
              <a:pPr indent="0" lvl="0" marL="0" marR="0" rtl="0" algn="ctr">
                <a:lnSpc>
                  <a:spcPct val="120833"/>
                </a:lnSpc>
                <a:spcBef>
                  <a:spcPts val="0"/>
                </a:spcBef>
                <a:spcAft>
                  <a:spcPts val="0"/>
                </a:spcAft>
                <a:buClr>
                  <a:srgbClr val="000000"/>
                </a:buClr>
                <a:buSzPts val="1400"/>
                <a:buFont typeface="Arial"/>
                <a:buNone/>
              </a:pPr>
              <a:r>
                <a:rPr b="1" i="0" lang="en" sz="1400" u="none" cap="none" strike="noStrike">
                  <a:solidFill>
                    <a:srgbClr val="FFFFFF"/>
                  </a:solidFill>
                  <a:latin typeface="Inter"/>
                  <a:ea typeface="Inter"/>
                  <a:cs typeface="Inter"/>
                  <a:sym typeface="Inter"/>
                </a:rPr>
                <a:t>AnyMind Credential Deck</a:t>
              </a:r>
              <a:endParaRPr b="0" i="0" sz="1400" u="none" cap="none" strike="noStrike">
                <a:solidFill>
                  <a:srgbClr val="000000"/>
                </a:solidFill>
                <a:latin typeface="Calibri"/>
                <a:ea typeface="Calibri"/>
                <a:cs typeface="Calibri"/>
                <a:sym typeface="Calibri"/>
              </a:endParaRPr>
            </a:p>
          </p:txBody>
        </p:sp>
      </p:grpSp>
      <p:sp>
        <p:nvSpPr>
          <p:cNvPr id="553" name="Google Shape;553;p60"/>
          <p:cNvSpPr txBox="1"/>
          <p:nvPr/>
        </p:nvSpPr>
        <p:spPr>
          <a:xfrm>
            <a:off x="182878" y="4936977"/>
            <a:ext cx="1578300" cy="91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FFFFFF"/>
                </a:solidFill>
                <a:latin typeface="Arial"/>
                <a:ea typeface="Arial"/>
                <a:cs typeface="Arial"/>
                <a:sym typeface="Arial"/>
              </a:rPr>
              <a:t>© AnyMind Group. All Rights Reserved.</a:t>
            </a:r>
            <a:endParaRPr b="0" i="0" sz="700" u="none" cap="none" strike="noStrike">
              <a:solidFill>
                <a:srgbClr val="FFFFFF"/>
              </a:solidFill>
              <a:latin typeface="Arial"/>
              <a:ea typeface="Arial"/>
              <a:cs typeface="Arial"/>
              <a:sym typeface="Arial"/>
            </a:endParaRPr>
          </a:p>
        </p:txBody>
      </p:sp>
      <p:sp>
        <p:nvSpPr>
          <p:cNvPr id="554" name="Google Shape;554;p60"/>
          <p:cNvSpPr txBox="1"/>
          <p:nvPr/>
        </p:nvSpPr>
        <p:spPr>
          <a:xfrm>
            <a:off x="8676350" y="4891227"/>
            <a:ext cx="342900" cy="1830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FFFFFF"/>
                </a:solidFill>
                <a:latin typeface="Inter SemiBold"/>
                <a:ea typeface="Inter SemiBold"/>
                <a:cs typeface="Inter SemiBold"/>
                <a:sym typeface="Inter SemiBold"/>
              </a:rPr>
              <a:t>‹#›</a:t>
            </a:fld>
            <a:endParaRPr b="0" i="0" sz="800" u="none" cap="none" strike="noStrike">
              <a:solidFill>
                <a:srgbClr val="FFFFFF"/>
              </a:solidFill>
              <a:latin typeface="Inter SemiBold"/>
              <a:ea typeface="Inter SemiBold"/>
              <a:cs typeface="Inter SemiBold"/>
              <a:sym typeface="Inter SemiBold"/>
            </a:endParaRPr>
          </a:p>
        </p:txBody>
      </p:sp>
      <p:sp>
        <p:nvSpPr>
          <p:cNvPr id="555" name="Google Shape;555;p60"/>
          <p:cNvSpPr/>
          <p:nvPr/>
        </p:nvSpPr>
        <p:spPr>
          <a:xfrm>
            <a:off x="7983850" y="4891227"/>
            <a:ext cx="743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Inter"/>
                <a:ea typeface="Inter"/>
                <a:cs typeface="Inter"/>
                <a:sym typeface="Inter"/>
              </a:rPr>
              <a:t>CONFIDENTIAL</a:t>
            </a:r>
            <a:endParaRPr b="0" i="0" sz="700" u="none" cap="none" strike="noStrike">
              <a:solidFill>
                <a:srgbClr val="FFFFFF"/>
              </a:solidFill>
              <a:latin typeface="Calibri"/>
              <a:ea typeface="Calibri"/>
              <a:cs typeface="Calibri"/>
              <a:sym typeface="Calibri"/>
            </a:endParaRPr>
          </a:p>
        </p:txBody>
      </p:sp>
      <p:pic>
        <p:nvPicPr>
          <p:cNvPr id="556" name="Google Shape;556;p60"/>
          <p:cNvPicPr preferRelativeResize="0"/>
          <p:nvPr/>
        </p:nvPicPr>
        <p:blipFill rotWithShape="1">
          <a:blip r:embed="rId6">
            <a:alphaModFix/>
          </a:blip>
          <a:srcRect b="0" l="1040" r="-1040" t="0"/>
          <a:stretch/>
        </p:blipFill>
        <p:spPr>
          <a:xfrm>
            <a:off x="-7100" y="-73975"/>
            <a:ext cx="9310126" cy="5217474"/>
          </a:xfrm>
          <a:prstGeom prst="rect">
            <a:avLst/>
          </a:prstGeom>
          <a:noFill/>
          <a:ln>
            <a:noFill/>
          </a:ln>
        </p:spPr>
      </p:pic>
      <p:sp>
        <p:nvSpPr>
          <p:cNvPr id="557" name="Google Shape;557;p60"/>
          <p:cNvSpPr/>
          <p:nvPr/>
        </p:nvSpPr>
        <p:spPr>
          <a:xfrm>
            <a:off x="1205875" y="4800550"/>
            <a:ext cx="1994400" cy="183000"/>
          </a:xfrm>
          <a:prstGeom prst="rect">
            <a:avLst/>
          </a:prstGeom>
          <a:noFill/>
          <a:ln>
            <a:noFill/>
          </a:ln>
        </p:spPr>
        <p:txBody>
          <a:bodyPr anchorCtr="0" anchor="ctr" bIns="0" lIns="0" spcFirstLastPara="1" rIns="0" wrap="square" tIns="0">
            <a:noAutofit/>
          </a:bodyPr>
          <a:lstStyle/>
          <a:p>
            <a:pPr indent="0" lvl="0" marL="0" marR="0" rtl="0" algn="l">
              <a:lnSpc>
                <a:spcPct val="118181"/>
              </a:lnSpc>
              <a:spcBef>
                <a:spcPts val="0"/>
              </a:spcBef>
              <a:spcAft>
                <a:spcPts val="0"/>
              </a:spcAft>
              <a:buClr>
                <a:srgbClr val="000000"/>
              </a:buClr>
              <a:buSzPts val="700"/>
              <a:buFont typeface="Arial"/>
              <a:buNone/>
            </a:pPr>
            <a:r>
              <a:rPr b="0" i="0" lang="en" sz="700" u="none" cap="none" strike="noStrike">
                <a:solidFill>
                  <a:srgbClr val="FFFFFF"/>
                </a:solidFill>
                <a:latin typeface="Inter"/>
                <a:ea typeface="Inter"/>
                <a:cs typeface="Inter"/>
                <a:sym typeface="Inter"/>
              </a:rPr>
              <a:t>© AnyMind Group. All Rights Reserved.</a:t>
            </a:r>
            <a:endParaRPr b="0" i="0" sz="700" u="none" cap="none" strike="noStrike">
              <a:solidFill>
                <a:srgbClr val="FFFFFF"/>
              </a:solidFill>
              <a:latin typeface="Calibri"/>
              <a:ea typeface="Calibri"/>
              <a:cs typeface="Calibri"/>
              <a:sym typeface="Calibri"/>
            </a:endParaRPr>
          </a:p>
        </p:txBody>
      </p:sp>
      <p:pic>
        <p:nvPicPr>
          <p:cNvPr descr="preencoded.png" id="558" name="Google Shape;558;p60"/>
          <p:cNvPicPr preferRelativeResize="0"/>
          <p:nvPr/>
        </p:nvPicPr>
        <p:blipFill rotWithShape="1">
          <a:blip r:embed="rId7">
            <a:alphaModFix/>
          </a:blip>
          <a:srcRect b="0" l="0" r="0" t="0"/>
          <a:stretch/>
        </p:blipFill>
        <p:spPr>
          <a:xfrm>
            <a:off x="222885" y="4777740"/>
            <a:ext cx="880110" cy="228600"/>
          </a:xfrm>
          <a:prstGeom prst="rect">
            <a:avLst/>
          </a:prstGeom>
          <a:noFill/>
          <a:ln>
            <a:noFill/>
          </a:ln>
        </p:spPr>
      </p:pic>
      <p:sp>
        <p:nvSpPr>
          <p:cNvPr id="559" name="Google Shape;559;p60"/>
          <p:cNvSpPr/>
          <p:nvPr/>
        </p:nvSpPr>
        <p:spPr>
          <a:xfrm>
            <a:off x="7983850" y="4800540"/>
            <a:ext cx="7431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FFFFFF"/>
                </a:solidFill>
                <a:latin typeface="Inter"/>
                <a:ea typeface="Inter"/>
                <a:cs typeface="Inter"/>
                <a:sym typeface="Inter"/>
              </a:rPr>
              <a:t>CONFIDENTIAL</a:t>
            </a:r>
            <a:endParaRPr b="0" i="0" sz="700" u="none" cap="none" strike="noStrike">
              <a:solidFill>
                <a:srgbClr val="000000"/>
              </a:solidFill>
              <a:latin typeface="Calibri"/>
              <a:ea typeface="Calibri"/>
              <a:cs typeface="Calibri"/>
              <a:sym typeface="Calibri"/>
            </a:endParaRPr>
          </a:p>
        </p:txBody>
      </p:sp>
      <p:sp>
        <p:nvSpPr>
          <p:cNvPr id="560" name="Google Shape;560;p60"/>
          <p:cNvSpPr txBox="1"/>
          <p:nvPr/>
        </p:nvSpPr>
        <p:spPr>
          <a:xfrm>
            <a:off x="8676350" y="4800550"/>
            <a:ext cx="342900" cy="1830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FFFFFF"/>
                </a:solidFill>
                <a:latin typeface="Inter SemiBold"/>
                <a:ea typeface="Inter SemiBold"/>
                <a:cs typeface="Inter SemiBold"/>
                <a:sym typeface="Inter SemiBold"/>
              </a:rPr>
              <a:t>‹#›</a:t>
            </a:fld>
            <a:endParaRPr b="0" i="0" sz="800" u="none" cap="none" strike="noStrike">
              <a:solidFill>
                <a:srgbClr val="FFFFFF"/>
              </a:solidFill>
              <a:latin typeface="Inter SemiBold"/>
              <a:ea typeface="Inter SemiBold"/>
              <a:cs typeface="Inter SemiBold"/>
              <a:sym typeface="Inter SemiBold"/>
            </a:endParaRPr>
          </a:p>
        </p:txBody>
      </p:sp>
      <p:sp>
        <p:nvSpPr>
          <p:cNvPr id="561" name="Google Shape;561;p60"/>
          <p:cNvSpPr/>
          <p:nvPr/>
        </p:nvSpPr>
        <p:spPr>
          <a:xfrm>
            <a:off x="2275200" y="1377363"/>
            <a:ext cx="4593600" cy="218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323850" lvl="0" marL="457200" marR="0" rtl="0" algn="l">
              <a:lnSpc>
                <a:spcPct val="150000"/>
              </a:lnSpc>
              <a:spcBef>
                <a:spcPts val="0"/>
              </a:spcBef>
              <a:spcAft>
                <a:spcPts val="0"/>
              </a:spcAft>
              <a:buClr>
                <a:srgbClr val="CCCCCC"/>
              </a:buClr>
              <a:buSzPts val="1500"/>
              <a:buFont typeface="Inter"/>
              <a:buAutoNum type="arabicPeriod"/>
            </a:pPr>
            <a:r>
              <a:rPr b="1" i="0" lang="en" sz="1500" u="none" cap="none" strike="noStrike">
                <a:solidFill>
                  <a:srgbClr val="CCCCCC"/>
                </a:solidFill>
                <a:latin typeface="Inter"/>
                <a:ea typeface="Inter"/>
                <a:cs typeface="Inter"/>
                <a:sym typeface="Inter"/>
              </a:rPr>
              <a:t>Sell In &amp; B2C Performance</a:t>
            </a:r>
            <a:endParaRPr b="1" i="0" sz="1500" u="none" cap="none" strike="noStrike">
              <a:solidFill>
                <a:srgbClr val="CCCCCC"/>
              </a:solidFill>
              <a:latin typeface="Inter"/>
              <a:ea typeface="Inter"/>
              <a:cs typeface="Inter"/>
              <a:sym typeface="Inter"/>
            </a:endParaRPr>
          </a:p>
          <a:p>
            <a:pPr indent="-323850" lvl="0" marL="457200" marR="0" rtl="0" algn="l">
              <a:lnSpc>
                <a:spcPct val="150000"/>
              </a:lnSpc>
              <a:spcBef>
                <a:spcPts val="0"/>
              </a:spcBef>
              <a:spcAft>
                <a:spcPts val="0"/>
              </a:spcAft>
              <a:buClr>
                <a:srgbClr val="CCCCCC"/>
              </a:buClr>
              <a:buSzPts val="1500"/>
              <a:buFont typeface="Inter"/>
              <a:buAutoNum type="arabicPeriod"/>
            </a:pPr>
            <a:r>
              <a:rPr b="1" i="0" lang="en" sz="1500" u="none" cap="none" strike="noStrike">
                <a:solidFill>
                  <a:srgbClr val="CCCCCC"/>
                </a:solidFill>
                <a:latin typeface="Inter"/>
                <a:ea typeface="Inter"/>
                <a:cs typeface="Inter"/>
                <a:sym typeface="Inter"/>
              </a:rPr>
              <a:t>B2C Marketing Activations</a:t>
            </a:r>
            <a:endParaRPr b="1" i="0" sz="1500" u="none" cap="none" strike="noStrike">
              <a:solidFill>
                <a:srgbClr val="CCCCCC"/>
              </a:solidFill>
              <a:latin typeface="Inter"/>
              <a:ea typeface="Inter"/>
              <a:cs typeface="Inter"/>
              <a:sym typeface="Inter"/>
            </a:endParaRPr>
          </a:p>
          <a:p>
            <a:pPr indent="-323850" lvl="0" marL="457200" marR="0" rtl="0" algn="l">
              <a:lnSpc>
                <a:spcPct val="150000"/>
              </a:lnSpc>
              <a:spcBef>
                <a:spcPts val="0"/>
              </a:spcBef>
              <a:spcAft>
                <a:spcPts val="0"/>
              </a:spcAft>
              <a:buClr>
                <a:srgbClr val="CCCCCC"/>
              </a:buClr>
              <a:buSzPts val="1500"/>
              <a:buFont typeface="Inter"/>
              <a:buAutoNum type="arabicPeriod"/>
            </a:pPr>
            <a:r>
              <a:rPr b="1" i="0" lang="en" sz="1500" u="none" cap="none" strike="noStrike">
                <a:solidFill>
                  <a:srgbClr val="CCCCCC"/>
                </a:solidFill>
                <a:latin typeface="Inter"/>
                <a:ea typeface="Inter"/>
                <a:cs typeface="Inter"/>
                <a:sym typeface="Inter"/>
              </a:rPr>
              <a:t>B2B Performance</a:t>
            </a:r>
            <a:endParaRPr b="1" i="0" sz="1500" u="none" cap="none" strike="noStrike">
              <a:solidFill>
                <a:srgbClr val="CCCCCC"/>
              </a:solidFill>
              <a:latin typeface="Inter"/>
              <a:ea typeface="Inter"/>
              <a:cs typeface="Inter"/>
              <a:sym typeface="Inter"/>
            </a:endParaRPr>
          </a:p>
          <a:p>
            <a:pPr indent="-323850" lvl="0" marL="457200" marR="0" rtl="0" algn="l">
              <a:lnSpc>
                <a:spcPct val="150000"/>
              </a:lnSpc>
              <a:spcBef>
                <a:spcPts val="0"/>
              </a:spcBef>
              <a:spcAft>
                <a:spcPts val="0"/>
              </a:spcAft>
              <a:buClr>
                <a:srgbClr val="3880C1"/>
              </a:buClr>
              <a:buSzPts val="1500"/>
              <a:buFont typeface="Inter"/>
              <a:buAutoNum type="arabicPeriod"/>
            </a:pPr>
            <a:r>
              <a:rPr b="1" i="0" lang="en" sz="1500" u="none" cap="none" strike="noStrike">
                <a:solidFill>
                  <a:srgbClr val="3880C1"/>
                </a:solidFill>
                <a:latin typeface="Inter"/>
                <a:ea typeface="Inter"/>
                <a:cs typeface="Inter"/>
                <a:sym typeface="Inter"/>
              </a:rPr>
              <a:t>Key Learnings and Initiatives for August</a:t>
            </a:r>
            <a:endParaRPr b="1" i="0" sz="1500" u="none" cap="none" strike="noStrike">
              <a:solidFill>
                <a:srgbClr val="3880C1"/>
              </a:solidFill>
              <a:latin typeface="Inter"/>
              <a:ea typeface="Inter"/>
              <a:cs typeface="Inter"/>
              <a:sym typeface="Inter"/>
            </a:endParaRPr>
          </a:p>
        </p:txBody>
      </p:sp>
      <p:sp>
        <p:nvSpPr>
          <p:cNvPr id="562" name="Google Shape;562;p60"/>
          <p:cNvSpPr txBox="1"/>
          <p:nvPr/>
        </p:nvSpPr>
        <p:spPr>
          <a:xfrm>
            <a:off x="348875" y="301725"/>
            <a:ext cx="1806900" cy="531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4500"/>
              <a:buFont typeface="Arial"/>
              <a:buNone/>
            </a:pPr>
            <a:r>
              <a:rPr b="1" i="0" lang="en" sz="3000" u="none" cap="none" strike="noStrike">
                <a:solidFill>
                  <a:schemeClr val="lt1"/>
                </a:solidFill>
                <a:latin typeface="Inter"/>
                <a:ea typeface="Inter"/>
                <a:cs typeface="Inter"/>
                <a:sym typeface="Inter"/>
              </a:rPr>
              <a:t>Agenda</a:t>
            </a:r>
            <a:endParaRPr b="1" i="0" sz="3000" u="none" cap="none" strike="noStrike">
              <a:solidFill>
                <a:schemeClr val="lt1"/>
              </a:solidFill>
              <a:latin typeface="Inter"/>
              <a:ea typeface="Inter"/>
              <a:cs typeface="Inter"/>
              <a:sym typeface="Inte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61"/>
          <p:cNvSpPr txBox="1"/>
          <p:nvPr>
            <p:ph type="ctrTitle"/>
          </p:nvPr>
        </p:nvSpPr>
        <p:spPr>
          <a:xfrm>
            <a:off x="288000" y="253150"/>
            <a:ext cx="8520600" cy="695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Key Learnings and Initiatives for September</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ts val="4779"/>
              <a:buFont typeface="Calibri"/>
              <a:buNone/>
            </a:pPr>
            <a:r>
              <a:rPr b="1" lang="en">
                <a:solidFill>
                  <a:srgbClr val="3880C1"/>
                </a:solidFill>
                <a:latin typeface="Inter"/>
                <a:ea typeface="Inter"/>
                <a:cs typeface="Inter"/>
                <a:sym typeface="Inter"/>
              </a:rPr>
              <a:t>Overall Initiatives</a:t>
            </a:r>
            <a:endParaRPr i="1" sz="1205">
              <a:solidFill>
                <a:srgbClr val="0B5394"/>
              </a:solidFill>
              <a:latin typeface="Inter"/>
              <a:ea typeface="Inter"/>
              <a:cs typeface="Inter"/>
              <a:sym typeface="Inter"/>
            </a:endParaRPr>
          </a:p>
        </p:txBody>
      </p:sp>
      <p:sp>
        <p:nvSpPr>
          <p:cNvPr id="568" name="Google Shape;568;p61"/>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pic>
        <p:nvPicPr>
          <p:cNvPr id="569" name="Google Shape;569;p61"/>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pic>
        <p:nvPicPr>
          <p:cNvPr id="570" name="Google Shape;570;p61"/>
          <p:cNvPicPr preferRelativeResize="0"/>
          <p:nvPr/>
        </p:nvPicPr>
        <p:blipFill rotWithShape="1">
          <a:blip r:embed="rId4">
            <a:alphaModFix/>
          </a:blip>
          <a:srcRect b="0" l="0" r="0" t="12564"/>
          <a:stretch/>
        </p:blipFill>
        <p:spPr>
          <a:xfrm>
            <a:off x="7406900" y="121550"/>
            <a:ext cx="634924" cy="451775"/>
          </a:xfrm>
          <a:prstGeom prst="rect">
            <a:avLst/>
          </a:prstGeom>
          <a:noFill/>
          <a:ln>
            <a:noFill/>
          </a:ln>
        </p:spPr>
      </p:pic>
      <p:sp>
        <p:nvSpPr>
          <p:cNvPr id="571" name="Google Shape;571;p61"/>
          <p:cNvSpPr/>
          <p:nvPr/>
        </p:nvSpPr>
        <p:spPr>
          <a:xfrm>
            <a:off x="217300" y="3084746"/>
            <a:ext cx="8550600" cy="2286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Inter"/>
                <a:ea typeface="Inter"/>
                <a:cs typeface="Inter"/>
                <a:sym typeface="Inter"/>
              </a:rPr>
              <a:t>Key Highlights</a:t>
            </a:r>
            <a:endParaRPr b="1" i="0" sz="1100" u="none" cap="none" strike="noStrike">
              <a:solidFill>
                <a:srgbClr val="FFFFFF"/>
              </a:solidFill>
              <a:latin typeface="Inter"/>
              <a:ea typeface="Inter"/>
              <a:cs typeface="Inter"/>
              <a:sym typeface="Inter"/>
            </a:endParaRPr>
          </a:p>
        </p:txBody>
      </p:sp>
      <p:sp>
        <p:nvSpPr>
          <p:cNvPr id="572" name="Google Shape;572;p61"/>
          <p:cNvSpPr/>
          <p:nvPr/>
        </p:nvSpPr>
        <p:spPr>
          <a:xfrm>
            <a:off x="381025" y="1051025"/>
            <a:ext cx="2421000" cy="1878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lang="en" sz="1100">
                <a:solidFill>
                  <a:srgbClr val="FFFFFF"/>
                </a:solidFill>
                <a:latin typeface="Inter"/>
                <a:ea typeface="Inter"/>
                <a:cs typeface="Inter"/>
                <a:sym typeface="Inter"/>
              </a:rPr>
              <a:t>MWH </a:t>
            </a:r>
            <a:r>
              <a:rPr b="1" i="0" lang="en" sz="1100" u="none" cap="none" strike="noStrike">
                <a:solidFill>
                  <a:srgbClr val="FFFFFF"/>
                </a:solidFill>
                <a:latin typeface="Inter"/>
                <a:ea typeface="Inter"/>
                <a:cs typeface="Inter"/>
                <a:sym typeface="Inter"/>
              </a:rPr>
              <a:t>SLA Improvements</a:t>
            </a:r>
            <a:endParaRPr b="1" i="0" sz="1100" u="none" cap="none" strike="noStrike">
              <a:solidFill>
                <a:srgbClr val="FFFFFF"/>
              </a:solidFill>
              <a:latin typeface="Inter"/>
              <a:ea typeface="Inter"/>
              <a:cs typeface="Inter"/>
              <a:sym typeface="Inter"/>
            </a:endParaRPr>
          </a:p>
        </p:txBody>
      </p:sp>
      <p:sp>
        <p:nvSpPr>
          <p:cNvPr id="573" name="Google Shape;573;p61"/>
          <p:cNvSpPr/>
          <p:nvPr/>
        </p:nvSpPr>
        <p:spPr>
          <a:xfrm>
            <a:off x="3236451" y="1010225"/>
            <a:ext cx="2599200" cy="2286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Inter"/>
                <a:ea typeface="Inter"/>
                <a:cs typeface="Inter"/>
                <a:sym typeface="Inter"/>
              </a:rPr>
              <a:t>Centrum Focus for Activation</a:t>
            </a:r>
            <a:endParaRPr b="1" i="0" sz="1100" u="none" cap="none" strike="noStrike">
              <a:solidFill>
                <a:srgbClr val="FFFFFF"/>
              </a:solidFill>
              <a:latin typeface="Inter"/>
              <a:ea typeface="Inter"/>
              <a:cs typeface="Inter"/>
              <a:sym typeface="Inter"/>
            </a:endParaRPr>
          </a:p>
        </p:txBody>
      </p:sp>
      <p:sp>
        <p:nvSpPr>
          <p:cNvPr id="574" name="Google Shape;574;p61"/>
          <p:cNvSpPr txBox="1"/>
          <p:nvPr/>
        </p:nvSpPr>
        <p:spPr>
          <a:xfrm>
            <a:off x="253979" y="3505725"/>
            <a:ext cx="2675100" cy="1023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000"/>
              </a:spcBef>
              <a:spcAft>
                <a:spcPts val="0"/>
              </a:spcAft>
              <a:buClr>
                <a:srgbClr val="000000"/>
              </a:buClr>
              <a:buSzPts val="1000"/>
              <a:buFont typeface="Arial"/>
              <a:buNone/>
            </a:pPr>
            <a:r>
              <a:rPr lang="en" sz="1000">
                <a:solidFill>
                  <a:schemeClr val="dk2"/>
                </a:solidFill>
                <a:latin typeface="Inter"/>
                <a:ea typeface="Inter"/>
                <a:cs typeface="Inter"/>
                <a:sym typeface="Inter"/>
              </a:rPr>
              <a:t>Improving Multi Warehouse </a:t>
            </a:r>
            <a:r>
              <a:rPr lang="en" sz="1000">
                <a:solidFill>
                  <a:schemeClr val="dk2"/>
                </a:solidFill>
                <a:latin typeface="Inter"/>
                <a:ea typeface="Inter"/>
                <a:cs typeface="Inter"/>
                <a:sym typeface="Inter"/>
              </a:rPr>
              <a:t>forecast</a:t>
            </a:r>
            <a:r>
              <a:rPr lang="en" sz="1000">
                <a:solidFill>
                  <a:schemeClr val="dk2"/>
                </a:solidFill>
                <a:latin typeface="Inter"/>
                <a:ea typeface="Inter"/>
                <a:cs typeface="Inter"/>
                <a:sym typeface="Inter"/>
              </a:rPr>
              <a:t> especially on Medan and Makasar, which from medan our SC Team revise the </a:t>
            </a:r>
            <a:r>
              <a:rPr lang="en" sz="1000">
                <a:solidFill>
                  <a:schemeClr val="dk2"/>
                </a:solidFill>
                <a:latin typeface="Inter"/>
                <a:ea typeface="Inter"/>
                <a:cs typeface="Inter"/>
                <a:sym typeface="Inter"/>
              </a:rPr>
              <a:t>current</a:t>
            </a:r>
            <a:r>
              <a:rPr lang="en" sz="1000">
                <a:solidFill>
                  <a:schemeClr val="dk2"/>
                </a:solidFill>
                <a:latin typeface="Inter"/>
                <a:ea typeface="Inter"/>
                <a:cs typeface="Inter"/>
                <a:sym typeface="Inter"/>
              </a:rPr>
              <a:t> forecast to December hoping to be improving the SLA on </a:t>
            </a:r>
            <a:r>
              <a:rPr lang="en" sz="1000">
                <a:solidFill>
                  <a:schemeClr val="dk2"/>
                </a:solidFill>
                <a:latin typeface="Inter"/>
                <a:ea typeface="Inter"/>
                <a:cs typeface="Inter"/>
                <a:sym typeface="Inter"/>
              </a:rPr>
              <a:t>Multi Warehouse</a:t>
            </a:r>
            <a:endParaRPr sz="1000">
              <a:solidFill>
                <a:schemeClr val="dk2"/>
              </a:solidFill>
              <a:latin typeface="Inter"/>
              <a:ea typeface="Inter"/>
              <a:cs typeface="Inter"/>
              <a:sym typeface="Inter"/>
            </a:endParaRPr>
          </a:p>
          <a:p>
            <a:pPr indent="0" lvl="0" marL="0" marR="0" rtl="0" algn="just">
              <a:lnSpc>
                <a:spcPct val="115000"/>
              </a:lnSpc>
              <a:spcBef>
                <a:spcPts val="1000"/>
              </a:spcBef>
              <a:spcAft>
                <a:spcPts val="1000"/>
              </a:spcAft>
              <a:buClr>
                <a:srgbClr val="000000"/>
              </a:buClr>
              <a:buSzPts val="1000"/>
              <a:buFont typeface="Arial"/>
              <a:buNone/>
            </a:pPr>
            <a:r>
              <a:t/>
            </a:r>
            <a:endParaRPr sz="1000">
              <a:solidFill>
                <a:schemeClr val="dk2"/>
              </a:solidFill>
              <a:latin typeface="Inter"/>
              <a:ea typeface="Inter"/>
              <a:cs typeface="Inter"/>
              <a:sym typeface="Inter"/>
            </a:endParaRPr>
          </a:p>
        </p:txBody>
      </p:sp>
      <p:sp>
        <p:nvSpPr>
          <p:cNvPr id="575" name="Google Shape;575;p61"/>
          <p:cNvSpPr txBox="1"/>
          <p:nvPr/>
        </p:nvSpPr>
        <p:spPr>
          <a:xfrm>
            <a:off x="3236450" y="3548300"/>
            <a:ext cx="2675100" cy="1023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000"/>
              </a:spcBef>
              <a:spcAft>
                <a:spcPts val="1000"/>
              </a:spcAft>
              <a:buClr>
                <a:srgbClr val="000000"/>
              </a:buClr>
              <a:buSzPts val="1000"/>
              <a:buFont typeface="Arial"/>
              <a:buNone/>
            </a:pPr>
            <a:r>
              <a:rPr lang="en" sz="1000">
                <a:solidFill>
                  <a:schemeClr val="dk2"/>
                </a:solidFill>
                <a:latin typeface="Inter"/>
                <a:ea typeface="Inter"/>
                <a:cs typeface="Inter"/>
                <a:sym typeface="Inter"/>
              </a:rPr>
              <a:t>Centrum still remains to be our top product focus, and pushed even more on lower Funnel by optimizing the GWP bundles on </a:t>
            </a:r>
            <a:r>
              <a:rPr lang="en" sz="1000">
                <a:solidFill>
                  <a:schemeClr val="dk2"/>
                </a:solidFill>
                <a:latin typeface="Inter"/>
                <a:ea typeface="Inter"/>
                <a:cs typeface="Inter"/>
                <a:sym typeface="Inter"/>
              </a:rPr>
              <a:t>Live Streaming</a:t>
            </a:r>
            <a:r>
              <a:rPr lang="en" sz="1000">
                <a:solidFill>
                  <a:schemeClr val="dk2"/>
                </a:solidFill>
                <a:latin typeface="Inter"/>
                <a:ea typeface="Inter"/>
                <a:cs typeface="Inter"/>
                <a:sym typeface="Inter"/>
              </a:rPr>
              <a:t> with Review and Win Promotion and </a:t>
            </a:r>
            <a:r>
              <a:rPr lang="en" sz="1000">
                <a:solidFill>
                  <a:schemeClr val="dk2"/>
                </a:solidFill>
                <a:latin typeface="Inter"/>
                <a:ea typeface="Inter"/>
                <a:cs typeface="Inter"/>
                <a:sym typeface="Inter"/>
              </a:rPr>
              <a:t>Affiliate</a:t>
            </a:r>
            <a:r>
              <a:rPr lang="en" sz="1000">
                <a:solidFill>
                  <a:schemeClr val="dk2"/>
                </a:solidFill>
                <a:latin typeface="Inter"/>
                <a:ea typeface="Inter"/>
                <a:cs typeface="Inter"/>
                <a:sym typeface="Inter"/>
              </a:rPr>
              <a:t> by increasing the Videos and </a:t>
            </a:r>
            <a:r>
              <a:rPr lang="en" sz="1000">
                <a:solidFill>
                  <a:schemeClr val="dk2"/>
                </a:solidFill>
                <a:latin typeface="Inter"/>
                <a:ea typeface="Inter"/>
                <a:cs typeface="Inter"/>
                <a:sym typeface="Inter"/>
              </a:rPr>
              <a:t>Promoting</a:t>
            </a:r>
            <a:r>
              <a:rPr lang="en" sz="1000">
                <a:solidFill>
                  <a:schemeClr val="dk2"/>
                </a:solidFill>
                <a:latin typeface="Inter"/>
                <a:ea typeface="Inter"/>
                <a:cs typeface="Inter"/>
                <a:sym typeface="Inter"/>
              </a:rPr>
              <a:t> </a:t>
            </a:r>
            <a:r>
              <a:rPr lang="en" sz="1000">
                <a:solidFill>
                  <a:schemeClr val="dk2"/>
                </a:solidFill>
                <a:latin typeface="Inter"/>
                <a:ea typeface="Inter"/>
                <a:cs typeface="Inter"/>
                <a:sym typeface="Inter"/>
              </a:rPr>
              <a:t>using Mega</a:t>
            </a:r>
            <a:r>
              <a:rPr lang="en" sz="1000">
                <a:solidFill>
                  <a:schemeClr val="dk2"/>
                </a:solidFill>
                <a:latin typeface="Inter"/>
                <a:ea typeface="Inter"/>
                <a:cs typeface="Inter"/>
                <a:sym typeface="Inter"/>
              </a:rPr>
              <a:t> Affiliate</a:t>
            </a:r>
            <a:endParaRPr b="0" i="0" sz="1000" u="none" cap="none" strike="noStrike">
              <a:solidFill>
                <a:schemeClr val="dk1"/>
              </a:solidFill>
              <a:latin typeface="Inter"/>
              <a:ea typeface="Inter"/>
              <a:cs typeface="Inter"/>
              <a:sym typeface="Inter"/>
            </a:endParaRPr>
          </a:p>
        </p:txBody>
      </p:sp>
      <p:sp>
        <p:nvSpPr>
          <p:cNvPr id="576" name="Google Shape;576;p61"/>
          <p:cNvSpPr/>
          <p:nvPr/>
        </p:nvSpPr>
        <p:spPr>
          <a:xfrm>
            <a:off x="6255463" y="1051025"/>
            <a:ext cx="2421000" cy="1878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lang="en" sz="1100">
                <a:solidFill>
                  <a:srgbClr val="FFFFFF"/>
                </a:solidFill>
                <a:latin typeface="Inter"/>
                <a:ea typeface="Inter"/>
                <a:cs typeface="Inter"/>
                <a:sym typeface="Inter"/>
              </a:rPr>
              <a:t>OTC Improvement</a:t>
            </a:r>
            <a:endParaRPr b="1" i="0" sz="1100" u="none" cap="none" strike="noStrike">
              <a:solidFill>
                <a:srgbClr val="FFFFFF"/>
              </a:solidFill>
              <a:latin typeface="Inter"/>
              <a:ea typeface="Inter"/>
              <a:cs typeface="Inter"/>
              <a:sym typeface="Inter"/>
            </a:endParaRPr>
          </a:p>
        </p:txBody>
      </p:sp>
      <p:sp>
        <p:nvSpPr>
          <p:cNvPr id="577" name="Google Shape;577;p61"/>
          <p:cNvSpPr txBox="1"/>
          <p:nvPr/>
        </p:nvSpPr>
        <p:spPr>
          <a:xfrm>
            <a:off x="6128425" y="3548300"/>
            <a:ext cx="2675100" cy="1023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000"/>
              </a:spcBef>
              <a:spcAft>
                <a:spcPts val="1000"/>
              </a:spcAft>
              <a:buClr>
                <a:srgbClr val="000000"/>
              </a:buClr>
              <a:buSzPts val="1000"/>
              <a:buFont typeface="Arial"/>
              <a:buNone/>
            </a:pPr>
            <a:r>
              <a:rPr lang="en" sz="1000">
                <a:solidFill>
                  <a:schemeClr val="dk2"/>
                </a:solidFill>
                <a:latin typeface="Inter"/>
                <a:ea typeface="Inter"/>
                <a:cs typeface="Inter"/>
                <a:sym typeface="Inter"/>
              </a:rPr>
              <a:t>For September, we're aiming to improve on a feature we haven't used before such as Search Ads, and will try to optimize it to capture even more traffic and GMV. Also to Improve the ATP to be better ever since we’re opening again</a:t>
            </a:r>
            <a:endParaRPr b="0" i="0" sz="1000" u="none" cap="none" strike="noStrike">
              <a:solidFill>
                <a:schemeClr val="dk1"/>
              </a:solidFill>
              <a:latin typeface="Inter"/>
              <a:ea typeface="Inter"/>
              <a:cs typeface="Inter"/>
              <a:sym typeface="Inter"/>
            </a:endParaRPr>
          </a:p>
        </p:txBody>
      </p:sp>
      <p:pic>
        <p:nvPicPr>
          <p:cNvPr id="578" name="Google Shape;578;p61" title="sla.png"/>
          <p:cNvPicPr preferRelativeResize="0"/>
          <p:nvPr/>
        </p:nvPicPr>
        <p:blipFill>
          <a:blip r:embed="rId5">
            <a:alphaModFix/>
          </a:blip>
          <a:stretch>
            <a:fillRect/>
          </a:stretch>
        </p:blipFill>
        <p:spPr>
          <a:xfrm>
            <a:off x="881775" y="1444625"/>
            <a:ext cx="1451450" cy="1451450"/>
          </a:xfrm>
          <a:prstGeom prst="rect">
            <a:avLst/>
          </a:prstGeom>
          <a:noFill/>
          <a:ln>
            <a:noFill/>
          </a:ln>
        </p:spPr>
      </p:pic>
      <p:pic>
        <p:nvPicPr>
          <p:cNvPr id="579" name="Google Shape;579;p61" title="ads.png"/>
          <p:cNvPicPr preferRelativeResize="0"/>
          <p:nvPr/>
        </p:nvPicPr>
        <p:blipFill>
          <a:blip r:embed="rId6">
            <a:alphaModFix/>
          </a:blip>
          <a:stretch>
            <a:fillRect/>
          </a:stretch>
        </p:blipFill>
        <p:spPr>
          <a:xfrm>
            <a:off x="6833888" y="1470200"/>
            <a:ext cx="1264175" cy="1264152"/>
          </a:xfrm>
          <a:prstGeom prst="rect">
            <a:avLst/>
          </a:prstGeom>
          <a:noFill/>
          <a:ln>
            <a:noFill/>
          </a:ln>
        </p:spPr>
      </p:pic>
      <p:pic>
        <p:nvPicPr>
          <p:cNvPr id="580" name="Google Shape;580;p61" title="bar-graph.png"/>
          <p:cNvPicPr preferRelativeResize="0"/>
          <p:nvPr/>
        </p:nvPicPr>
        <p:blipFill>
          <a:blip r:embed="rId7">
            <a:alphaModFix/>
          </a:blip>
          <a:stretch>
            <a:fillRect/>
          </a:stretch>
        </p:blipFill>
        <p:spPr>
          <a:xfrm>
            <a:off x="3941900" y="1529700"/>
            <a:ext cx="1264175" cy="12641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62"/>
          <p:cNvSpPr txBox="1"/>
          <p:nvPr/>
        </p:nvSpPr>
        <p:spPr>
          <a:xfrm>
            <a:off x="277525" y="3716250"/>
            <a:ext cx="8584800" cy="992700"/>
          </a:xfrm>
          <a:prstGeom prst="rect">
            <a:avLst/>
          </a:prstGeom>
          <a:noFill/>
          <a:ln>
            <a:noFill/>
          </a:ln>
        </p:spPr>
        <p:txBody>
          <a:bodyPr anchorCtr="0" anchor="t" bIns="91425" lIns="91425" spcFirstLastPara="1" rIns="91425" wrap="square" tIns="91425">
            <a:noAutofit/>
          </a:bodyPr>
          <a:lstStyle/>
          <a:p>
            <a:pPr indent="-292100" lvl="0" marL="457200" marR="0" rtl="0" algn="l">
              <a:lnSpc>
                <a:spcPct val="100000"/>
              </a:lnSpc>
              <a:spcBef>
                <a:spcPts val="0"/>
              </a:spcBef>
              <a:spcAft>
                <a:spcPts val="0"/>
              </a:spcAft>
              <a:buClr>
                <a:srgbClr val="595959"/>
              </a:buClr>
              <a:buSzPts val="1000"/>
              <a:buFont typeface="Inter"/>
              <a:buChar char="●"/>
            </a:pPr>
            <a:r>
              <a:rPr lang="en" sz="900">
                <a:solidFill>
                  <a:schemeClr val="dk2"/>
                </a:solidFill>
                <a:latin typeface="Inter"/>
                <a:ea typeface="Inter"/>
                <a:cs typeface="Inter"/>
                <a:sym typeface="Inter"/>
              </a:rPr>
              <a:t>Allocate </a:t>
            </a:r>
            <a:r>
              <a:rPr b="1" lang="en" sz="900">
                <a:solidFill>
                  <a:schemeClr val="dk2"/>
                </a:solidFill>
                <a:latin typeface="Inter"/>
                <a:ea typeface="Inter"/>
                <a:cs typeface="Inter"/>
                <a:sym typeface="Inter"/>
              </a:rPr>
              <a:t>Shopee Coins incentives</a:t>
            </a:r>
            <a:r>
              <a:rPr lang="en" sz="900">
                <a:solidFill>
                  <a:schemeClr val="dk2"/>
                </a:solidFill>
                <a:latin typeface="Inter"/>
                <a:ea typeface="Inter"/>
                <a:cs typeface="Inter"/>
                <a:sym typeface="Inter"/>
              </a:rPr>
              <a:t> during low-traffic livestream sessions and peakdays to re-engage audience, boost viewer retention, and recover performance from reduced LS ad spend, while SHP Coins incentives planned to activated following the Activations activity such as Giveaways to maximize CVR.</a:t>
            </a:r>
            <a:endParaRPr sz="1100">
              <a:solidFill>
                <a:schemeClr val="dk1"/>
              </a:solidFill>
            </a:endParaRPr>
          </a:p>
          <a:p>
            <a:pPr indent="-298450" lvl="0" marL="457200" marR="0" rtl="0" algn="l">
              <a:lnSpc>
                <a:spcPct val="100000"/>
              </a:lnSpc>
              <a:spcBef>
                <a:spcPts val="0"/>
              </a:spcBef>
              <a:spcAft>
                <a:spcPts val="0"/>
              </a:spcAft>
              <a:buClr>
                <a:schemeClr val="dk1"/>
              </a:buClr>
              <a:buSzPts val="1100"/>
              <a:buChar char="●"/>
            </a:pPr>
            <a:r>
              <a:rPr lang="en" sz="900">
                <a:solidFill>
                  <a:schemeClr val="dk2"/>
                </a:solidFill>
                <a:latin typeface="Inter"/>
                <a:ea typeface="Inter"/>
                <a:cs typeface="Inter"/>
                <a:sym typeface="Inter"/>
              </a:rPr>
              <a:t>Drive viewer interaction and boost basket size by leveraging </a:t>
            </a:r>
            <a:r>
              <a:rPr b="1" lang="en" sz="900">
                <a:solidFill>
                  <a:schemeClr val="dk2"/>
                </a:solidFill>
                <a:latin typeface="Inter"/>
                <a:ea typeface="Inter"/>
                <a:cs typeface="Inter"/>
                <a:sym typeface="Inter"/>
              </a:rPr>
              <a:t>exclusive giveaway mechanics</a:t>
            </a:r>
            <a:r>
              <a:rPr lang="en" sz="900">
                <a:solidFill>
                  <a:schemeClr val="dk2"/>
                </a:solidFill>
                <a:latin typeface="Inter"/>
                <a:ea typeface="Inter"/>
                <a:cs typeface="Inter"/>
                <a:sym typeface="Inter"/>
              </a:rPr>
              <a:t> and TOP Spender rewards.</a:t>
            </a:r>
            <a:r>
              <a:rPr lang="en" sz="1100">
                <a:solidFill>
                  <a:schemeClr val="dk1"/>
                </a:solidFill>
              </a:rPr>
              <a:t> </a:t>
            </a:r>
            <a:endParaRPr sz="1100">
              <a:solidFill>
                <a:schemeClr val="dk1"/>
              </a:solidFill>
            </a:endParaRPr>
          </a:p>
          <a:p>
            <a:pPr indent="-298450" lvl="0" marL="457200" rtl="0" algn="l">
              <a:spcBef>
                <a:spcPts val="0"/>
              </a:spcBef>
              <a:spcAft>
                <a:spcPts val="0"/>
              </a:spcAft>
              <a:buClr>
                <a:schemeClr val="dk1"/>
              </a:buClr>
              <a:buSzPts val="1100"/>
              <a:buChar char="●"/>
            </a:pPr>
            <a:r>
              <a:rPr lang="en" sz="900">
                <a:solidFill>
                  <a:schemeClr val="dk2"/>
                </a:solidFill>
                <a:latin typeface="Inter"/>
                <a:ea typeface="Inter"/>
                <a:cs typeface="Inter"/>
                <a:sym typeface="Inter"/>
              </a:rPr>
              <a:t>Maximize stream conversion rate by prominently displaying hero SKUs alongside </a:t>
            </a:r>
            <a:r>
              <a:rPr b="1" lang="en" sz="900">
                <a:solidFill>
                  <a:schemeClr val="dk2"/>
                </a:solidFill>
                <a:latin typeface="Inter"/>
                <a:ea typeface="Inter"/>
                <a:cs typeface="Inter"/>
                <a:sym typeface="Inter"/>
              </a:rPr>
              <a:t>Gift With Purchase (GWP)</a:t>
            </a:r>
            <a:r>
              <a:rPr lang="en" sz="900">
                <a:solidFill>
                  <a:schemeClr val="dk2"/>
                </a:solidFill>
                <a:latin typeface="Inter"/>
                <a:ea typeface="Inter"/>
                <a:cs typeface="Inter"/>
                <a:sym typeface="Inter"/>
              </a:rPr>
              <a:t> teasers and livestream-exclusive vouchers.</a:t>
            </a:r>
            <a:endParaRPr sz="1100">
              <a:solidFill>
                <a:schemeClr val="dk1"/>
              </a:solidFill>
            </a:endParaRPr>
          </a:p>
        </p:txBody>
      </p:sp>
      <p:sp>
        <p:nvSpPr>
          <p:cNvPr id="586" name="Google Shape;586;p62"/>
          <p:cNvSpPr txBox="1"/>
          <p:nvPr>
            <p:ph type="ctrTitle"/>
          </p:nvPr>
        </p:nvSpPr>
        <p:spPr>
          <a:xfrm>
            <a:off x="288000" y="253150"/>
            <a:ext cx="8520600" cy="695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Key Learnings and Initiatives for Next Month</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Livestream Initiatives</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5477"/>
              <a:buFont typeface="Calibri"/>
              <a:buNone/>
            </a:pPr>
            <a:r>
              <a:t/>
            </a:r>
            <a:endParaRPr i="1" sz="1205">
              <a:solidFill>
                <a:srgbClr val="0B5394"/>
              </a:solidFill>
              <a:latin typeface="Inter"/>
              <a:ea typeface="Inter"/>
              <a:cs typeface="Inter"/>
              <a:sym typeface="Inter"/>
            </a:endParaRPr>
          </a:p>
        </p:txBody>
      </p:sp>
      <p:sp>
        <p:nvSpPr>
          <p:cNvPr id="587" name="Google Shape;587;p62"/>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pic>
        <p:nvPicPr>
          <p:cNvPr id="588" name="Google Shape;588;p62"/>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pic>
        <p:nvPicPr>
          <p:cNvPr id="589" name="Google Shape;589;p62"/>
          <p:cNvPicPr preferRelativeResize="0"/>
          <p:nvPr/>
        </p:nvPicPr>
        <p:blipFill rotWithShape="1">
          <a:blip r:embed="rId4">
            <a:alphaModFix/>
          </a:blip>
          <a:srcRect b="0" l="0" r="0" t="12564"/>
          <a:stretch/>
        </p:blipFill>
        <p:spPr>
          <a:xfrm>
            <a:off x="7406900" y="121550"/>
            <a:ext cx="634924" cy="451775"/>
          </a:xfrm>
          <a:prstGeom prst="rect">
            <a:avLst/>
          </a:prstGeom>
          <a:noFill/>
          <a:ln>
            <a:noFill/>
          </a:ln>
        </p:spPr>
      </p:pic>
      <p:sp>
        <p:nvSpPr>
          <p:cNvPr id="590" name="Google Shape;590;p62"/>
          <p:cNvSpPr/>
          <p:nvPr/>
        </p:nvSpPr>
        <p:spPr>
          <a:xfrm>
            <a:off x="279600" y="3487646"/>
            <a:ext cx="8550600" cy="2286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Inter"/>
                <a:ea typeface="Inter"/>
                <a:cs typeface="Inter"/>
                <a:sym typeface="Inter"/>
              </a:rPr>
              <a:t>Key Highlights</a:t>
            </a:r>
            <a:endParaRPr b="1" i="0" sz="1100" u="none" cap="none" strike="noStrike">
              <a:solidFill>
                <a:srgbClr val="FFFFFF"/>
              </a:solidFill>
              <a:latin typeface="Inter"/>
              <a:ea typeface="Inter"/>
              <a:cs typeface="Inter"/>
              <a:sym typeface="Inter"/>
            </a:endParaRPr>
          </a:p>
        </p:txBody>
      </p:sp>
      <p:sp>
        <p:nvSpPr>
          <p:cNvPr id="591" name="Google Shape;591;p62"/>
          <p:cNvSpPr/>
          <p:nvPr/>
        </p:nvSpPr>
        <p:spPr>
          <a:xfrm>
            <a:off x="378600" y="878759"/>
            <a:ext cx="2761200" cy="3300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lang="en" sz="1100">
                <a:solidFill>
                  <a:srgbClr val="FFFFFF"/>
                </a:solidFill>
                <a:latin typeface="Inter"/>
                <a:ea typeface="Inter"/>
                <a:cs typeface="Inter"/>
                <a:sym typeface="Inter"/>
              </a:rPr>
              <a:t>Utilize SHP Coins to Recover Traffic from lower LS Ads</a:t>
            </a:r>
            <a:endParaRPr b="1" i="0" sz="1100" u="none" cap="none" strike="noStrike">
              <a:solidFill>
                <a:srgbClr val="FFFFFF"/>
              </a:solidFill>
              <a:latin typeface="Inter"/>
              <a:ea typeface="Inter"/>
              <a:cs typeface="Inter"/>
              <a:sym typeface="Inter"/>
            </a:endParaRPr>
          </a:p>
        </p:txBody>
      </p:sp>
      <p:pic>
        <p:nvPicPr>
          <p:cNvPr id="592" name="Google Shape;592;p62"/>
          <p:cNvPicPr preferRelativeResize="0"/>
          <p:nvPr/>
        </p:nvPicPr>
        <p:blipFill rotWithShape="1">
          <a:blip r:embed="rId5">
            <a:alphaModFix/>
          </a:blip>
          <a:srcRect b="0" l="0" r="0" t="0"/>
          <a:stretch/>
        </p:blipFill>
        <p:spPr>
          <a:xfrm>
            <a:off x="7128675" y="1292200"/>
            <a:ext cx="1144712" cy="2047152"/>
          </a:xfrm>
          <a:prstGeom prst="rect">
            <a:avLst/>
          </a:prstGeom>
          <a:noFill/>
          <a:ln>
            <a:noFill/>
          </a:ln>
        </p:spPr>
      </p:pic>
      <p:sp>
        <p:nvSpPr>
          <p:cNvPr id="593" name="Google Shape;593;p62"/>
          <p:cNvSpPr/>
          <p:nvPr/>
        </p:nvSpPr>
        <p:spPr>
          <a:xfrm>
            <a:off x="6441325" y="878738"/>
            <a:ext cx="2421000" cy="3300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Inter"/>
                <a:ea typeface="Inter"/>
                <a:cs typeface="Inter"/>
                <a:sym typeface="Inter"/>
              </a:rPr>
              <a:t>Highlight promoted SKU, GWP &amp; Voucher</a:t>
            </a:r>
            <a:endParaRPr b="1" i="0" sz="1100" u="none" cap="none" strike="noStrike">
              <a:solidFill>
                <a:srgbClr val="FFFFFF"/>
              </a:solidFill>
              <a:latin typeface="Inter"/>
              <a:ea typeface="Inter"/>
              <a:cs typeface="Inter"/>
              <a:sym typeface="Inter"/>
            </a:endParaRPr>
          </a:p>
        </p:txBody>
      </p:sp>
      <p:sp>
        <p:nvSpPr>
          <p:cNvPr id="594" name="Google Shape;594;p62"/>
          <p:cNvSpPr/>
          <p:nvPr/>
        </p:nvSpPr>
        <p:spPr>
          <a:xfrm>
            <a:off x="3746763" y="878738"/>
            <a:ext cx="2421000" cy="3300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Inter"/>
                <a:ea typeface="Inter"/>
                <a:cs typeface="Inter"/>
                <a:sym typeface="Inter"/>
              </a:rPr>
              <a:t>Increase Viewers Engagement with Giveaways &amp; </a:t>
            </a:r>
            <a:r>
              <a:rPr b="1" lang="en" sz="1100">
                <a:solidFill>
                  <a:srgbClr val="FFFFFF"/>
                </a:solidFill>
                <a:latin typeface="Inter"/>
                <a:ea typeface="Inter"/>
                <a:cs typeface="Inter"/>
                <a:sym typeface="Inter"/>
              </a:rPr>
              <a:t>TOP Spender</a:t>
            </a:r>
            <a:endParaRPr b="1" i="0" sz="1100" u="none" cap="none" strike="noStrike">
              <a:solidFill>
                <a:srgbClr val="FFFFFF"/>
              </a:solidFill>
              <a:latin typeface="Inter"/>
              <a:ea typeface="Inter"/>
              <a:cs typeface="Inter"/>
              <a:sym typeface="Inter"/>
            </a:endParaRPr>
          </a:p>
        </p:txBody>
      </p:sp>
      <p:pic>
        <p:nvPicPr>
          <p:cNvPr id="595" name="Google Shape;595;p62"/>
          <p:cNvPicPr preferRelativeResize="0"/>
          <p:nvPr/>
        </p:nvPicPr>
        <p:blipFill>
          <a:blip r:embed="rId6">
            <a:alphaModFix/>
          </a:blip>
          <a:stretch>
            <a:fillRect/>
          </a:stretch>
        </p:blipFill>
        <p:spPr>
          <a:xfrm>
            <a:off x="408925" y="1532475"/>
            <a:ext cx="2921225" cy="1096025"/>
          </a:xfrm>
          <a:prstGeom prst="rect">
            <a:avLst/>
          </a:prstGeom>
          <a:noFill/>
          <a:ln>
            <a:noFill/>
          </a:ln>
        </p:spPr>
      </p:pic>
      <p:pic>
        <p:nvPicPr>
          <p:cNvPr id="596" name="Google Shape;596;p62"/>
          <p:cNvPicPr preferRelativeResize="0"/>
          <p:nvPr/>
        </p:nvPicPr>
        <p:blipFill>
          <a:blip r:embed="rId7">
            <a:alphaModFix/>
          </a:blip>
          <a:stretch>
            <a:fillRect/>
          </a:stretch>
        </p:blipFill>
        <p:spPr>
          <a:xfrm>
            <a:off x="4384925" y="1233086"/>
            <a:ext cx="1144701" cy="223022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63"/>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pic>
        <p:nvPicPr>
          <p:cNvPr id="602" name="Google Shape;602;p63"/>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sp>
        <p:nvSpPr>
          <p:cNvPr id="603" name="Google Shape;603;p63"/>
          <p:cNvSpPr txBox="1"/>
          <p:nvPr>
            <p:ph type="ctrTitle"/>
          </p:nvPr>
        </p:nvSpPr>
        <p:spPr>
          <a:xfrm>
            <a:off x="4487625" y="442075"/>
            <a:ext cx="4342500" cy="62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b="1" lang="en" sz="920">
                <a:solidFill>
                  <a:srgbClr val="6E7C89"/>
                </a:solidFill>
                <a:latin typeface="Inter"/>
                <a:ea typeface="Inter"/>
                <a:cs typeface="Inter"/>
                <a:sym typeface="Inter"/>
              </a:rPr>
              <a:t>Key Learnings and Initiatives</a:t>
            </a:r>
            <a:endParaRPr b="1" sz="920">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ts val="2879"/>
              <a:buFont typeface="Calibri"/>
              <a:buNone/>
            </a:pPr>
            <a:r>
              <a:rPr b="1" lang="en" sz="1600">
                <a:solidFill>
                  <a:srgbClr val="3880C1"/>
                </a:solidFill>
                <a:latin typeface="Inter"/>
                <a:ea typeface="Inter"/>
                <a:cs typeface="Inter"/>
                <a:sym typeface="Inter"/>
              </a:rPr>
              <a:t>Shopee Affiliates </a:t>
            </a:r>
            <a:r>
              <a:rPr i="1" lang="en" sz="1100">
                <a:solidFill>
                  <a:srgbClr val="3880C1"/>
                </a:solidFill>
                <a:latin typeface="Inter"/>
                <a:ea typeface="Inter"/>
                <a:cs typeface="Inter"/>
                <a:sym typeface="Inter"/>
              </a:rPr>
              <a:t>(Q4 Plan)</a:t>
            </a:r>
            <a:endParaRPr i="1" sz="280">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ts val="2879"/>
              <a:buFont typeface="Calibri"/>
              <a:buNone/>
            </a:pPr>
            <a:r>
              <a:t/>
            </a:r>
            <a:endParaRPr i="1" sz="880">
              <a:solidFill>
                <a:srgbClr val="3880C1"/>
              </a:solidFill>
              <a:latin typeface="Inter"/>
              <a:ea typeface="Inter"/>
              <a:cs typeface="Inter"/>
              <a:sym typeface="Inter"/>
            </a:endParaRPr>
          </a:p>
        </p:txBody>
      </p:sp>
      <p:graphicFrame>
        <p:nvGraphicFramePr>
          <p:cNvPr id="604" name="Google Shape;604;p63"/>
          <p:cNvGraphicFramePr/>
          <p:nvPr/>
        </p:nvGraphicFramePr>
        <p:xfrm>
          <a:off x="208850" y="683298"/>
          <a:ext cx="3000000" cy="3000000"/>
        </p:xfrm>
        <a:graphic>
          <a:graphicData uri="http://schemas.openxmlformats.org/drawingml/2006/table">
            <a:tbl>
              <a:tblPr>
                <a:noFill/>
                <a:tableStyleId>{05CF1300-53F3-430B-9C35-424554A46B0A}</a:tableStyleId>
              </a:tblPr>
              <a:tblGrid>
                <a:gridCol w="1460700"/>
                <a:gridCol w="657075"/>
                <a:gridCol w="657075"/>
                <a:gridCol w="657075"/>
                <a:gridCol w="657075"/>
              </a:tblGrid>
              <a:tr h="108875">
                <a:tc gridSpan="5">
                  <a:txBody>
                    <a:bodyPr/>
                    <a:lstStyle/>
                    <a:p>
                      <a:pPr indent="0" lvl="0" marL="0" rtl="0" algn="l">
                        <a:lnSpc>
                          <a:spcPct val="115000"/>
                        </a:lnSpc>
                        <a:spcBef>
                          <a:spcPts val="0"/>
                        </a:spcBef>
                        <a:spcAft>
                          <a:spcPts val="0"/>
                        </a:spcAft>
                        <a:buNone/>
                      </a:pPr>
                      <a:r>
                        <a:rPr b="1" lang="en" sz="500"/>
                        <a:t>Affiliate Plan - Haleon Q4</a:t>
                      </a:r>
                      <a:endParaRPr b="1" sz="500"/>
                    </a:p>
                  </a:txBody>
                  <a:tcPr marT="19050" marB="19050" marR="28575" marL="28575" anchor="b"/>
                </a:tc>
                <a:tc hMerge="1"/>
                <a:tc hMerge="1"/>
                <a:tc hMerge="1"/>
                <a:tc hMerge="1"/>
              </a:tr>
              <a:tr h="108875">
                <a:tc>
                  <a:txBody>
                    <a:bodyPr/>
                    <a:lstStyle/>
                    <a:p>
                      <a:pPr indent="0" lvl="0" marL="0" rtl="0" algn="ctr">
                        <a:lnSpc>
                          <a:spcPct val="115000"/>
                        </a:lnSpc>
                        <a:spcBef>
                          <a:spcPts val="0"/>
                        </a:spcBef>
                        <a:spcAft>
                          <a:spcPts val="0"/>
                        </a:spcAft>
                        <a:buNone/>
                      </a:pPr>
                      <a:r>
                        <a:rPr b="1" lang="en" sz="500">
                          <a:solidFill>
                            <a:srgbClr val="FFFFFF"/>
                          </a:solidFill>
                        </a:rPr>
                        <a:t>Affiliate</a:t>
                      </a:r>
                      <a:endParaRPr b="1" sz="500">
                        <a:solidFill>
                          <a:srgbClr val="FFFFFF"/>
                        </a:solidFill>
                      </a:endParaRPr>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B cap="flat" cmpd="sng" w="5300">
                      <a:solidFill>
                        <a:srgbClr val="CCCCCC"/>
                      </a:solidFill>
                      <a:prstDash val="solid"/>
                      <a:round/>
                      <a:headEnd len="sm" w="sm" type="none"/>
                      <a:tailEnd len="sm" w="sm" type="none"/>
                    </a:lnB>
                    <a:solidFill>
                      <a:srgbClr val="073763"/>
                    </a:solidFill>
                  </a:tcPr>
                </a:tc>
                <a:tc>
                  <a:txBody>
                    <a:bodyPr/>
                    <a:lstStyle/>
                    <a:p>
                      <a:pPr indent="0" lvl="0" marL="0" rtl="0" algn="ctr">
                        <a:lnSpc>
                          <a:spcPct val="115000"/>
                        </a:lnSpc>
                        <a:spcBef>
                          <a:spcPts val="0"/>
                        </a:spcBef>
                        <a:spcAft>
                          <a:spcPts val="0"/>
                        </a:spcAft>
                        <a:buNone/>
                      </a:pPr>
                      <a:r>
                        <a:rPr b="1" lang="en" sz="500">
                          <a:solidFill>
                            <a:srgbClr val="FFFFFF"/>
                          </a:solidFill>
                        </a:rPr>
                        <a:t>Oct 2026</a:t>
                      </a:r>
                      <a:endParaRPr b="1" sz="500">
                        <a:solidFill>
                          <a:srgbClr val="FFFFFF"/>
                        </a:solidFill>
                      </a:endParaRPr>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B cap="flat" cmpd="sng" w="5300">
                      <a:solidFill>
                        <a:srgbClr val="CCCCCC"/>
                      </a:solidFill>
                      <a:prstDash val="solid"/>
                      <a:round/>
                      <a:headEnd len="sm" w="sm" type="none"/>
                      <a:tailEnd len="sm" w="sm" type="none"/>
                    </a:lnB>
                    <a:solidFill>
                      <a:srgbClr val="073763"/>
                    </a:solidFill>
                  </a:tcPr>
                </a:tc>
                <a:tc>
                  <a:txBody>
                    <a:bodyPr/>
                    <a:lstStyle/>
                    <a:p>
                      <a:pPr indent="0" lvl="0" marL="0" rtl="0" algn="ctr">
                        <a:lnSpc>
                          <a:spcPct val="115000"/>
                        </a:lnSpc>
                        <a:spcBef>
                          <a:spcPts val="0"/>
                        </a:spcBef>
                        <a:spcAft>
                          <a:spcPts val="0"/>
                        </a:spcAft>
                        <a:buNone/>
                      </a:pPr>
                      <a:r>
                        <a:rPr b="1" lang="en" sz="500">
                          <a:solidFill>
                            <a:srgbClr val="FFFFFF"/>
                          </a:solidFill>
                        </a:rPr>
                        <a:t>Nov 2026</a:t>
                      </a:r>
                      <a:endParaRPr b="1" sz="500">
                        <a:solidFill>
                          <a:srgbClr val="FFFFFF"/>
                        </a:solidFill>
                      </a:endParaRPr>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B cap="flat" cmpd="sng" w="5300">
                      <a:solidFill>
                        <a:srgbClr val="CCCCCC"/>
                      </a:solidFill>
                      <a:prstDash val="solid"/>
                      <a:round/>
                      <a:headEnd len="sm" w="sm" type="none"/>
                      <a:tailEnd len="sm" w="sm" type="none"/>
                    </a:lnB>
                    <a:solidFill>
                      <a:srgbClr val="073763"/>
                    </a:solidFill>
                  </a:tcPr>
                </a:tc>
                <a:tc>
                  <a:txBody>
                    <a:bodyPr/>
                    <a:lstStyle/>
                    <a:p>
                      <a:pPr indent="0" lvl="0" marL="0" rtl="0" algn="ctr">
                        <a:lnSpc>
                          <a:spcPct val="115000"/>
                        </a:lnSpc>
                        <a:spcBef>
                          <a:spcPts val="0"/>
                        </a:spcBef>
                        <a:spcAft>
                          <a:spcPts val="0"/>
                        </a:spcAft>
                        <a:buNone/>
                      </a:pPr>
                      <a:r>
                        <a:rPr b="1" lang="en" sz="500">
                          <a:solidFill>
                            <a:srgbClr val="FFFFFF"/>
                          </a:solidFill>
                        </a:rPr>
                        <a:t>Dec 2026</a:t>
                      </a:r>
                      <a:endParaRPr b="1" sz="500">
                        <a:solidFill>
                          <a:srgbClr val="FFFFFF"/>
                        </a:solidFill>
                      </a:endParaRPr>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B cap="flat" cmpd="sng" w="5300">
                      <a:solidFill>
                        <a:srgbClr val="CCCCCC"/>
                      </a:solidFill>
                      <a:prstDash val="solid"/>
                      <a:round/>
                      <a:headEnd len="sm" w="sm" type="none"/>
                      <a:tailEnd len="sm" w="sm" type="none"/>
                    </a:lnB>
                    <a:solidFill>
                      <a:srgbClr val="073763"/>
                    </a:solidFill>
                  </a:tcPr>
                </a:tc>
                <a:tc>
                  <a:txBody>
                    <a:bodyPr/>
                    <a:lstStyle/>
                    <a:p>
                      <a:pPr indent="0" lvl="0" marL="0" rtl="0" algn="ctr">
                        <a:lnSpc>
                          <a:spcPct val="115000"/>
                        </a:lnSpc>
                        <a:spcBef>
                          <a:spcPts val="0"/>
                        </a:spcBef>
                        <a:spcAft>
                          <a:spcPts val="0"/>
                        </a:spcAft>
                        <a:buNone/>
                      </a:pPr>
                      <a:r>
                        <a:rPr b="1" lang="en" sz="500">
                          <a:solidFill>
                            <a:srgbClr val="FFFFFF"/>
                          </a:solidFill>
                        </a:rPr>
                        <a:t>Total</a:t>
                      </a:r>
                      <a:endParaRPr b="1" sz="500">
                        <a:solidFill>
                          <a:srgbClr val="FFFFFF"/>
                        </a:solidFill>
                      </a:endParaRPr>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B cap="flat" cmpd="sng" w="5300">
                      <a:solidFill>
                        <a:srgbClr val="CCCCCC"/>
                      </a:solidFill>
                      <a:prstDash val="solid"/>
                      <a:round/>
                      <a:headEnd len="sm" w="sm" type="none"/>
                      <a:tailEnd len="sm" w="sm" type="none"/>
                    </a:lnB>
                    <a:solidFill>
                      <a:srgbClr val="073763"/>
                    </a:solidFill>
                  </a:tcPr>
                </a:tc>
              </a:tr>
              <a:tr h="154100">
                <a:tc gridSpan="5">
                  <a:txBody>
                    <a:bodyPr/>
                    <a:lstStyle/>
                    <a:p>
                      <a:pPr indent="0" lvl="0" marL="0" rtl="0" algn="l">
                        <a:lnSpc>
                          <a:spcPct val="115000"/>
                        </a:lnSpc>
                        <a:spcBef>
                          <a:spcPts val="0"/>
                        </a:spcBef>
                        <a:spcAft>
                          <a:spcPts val="0"/>
                        </a:spcAft>
                        <a:buNone/>
                      </a:pPr>
                      <a:r>
                        <a:rPr lang="en" sz="500"/>
                        <a:t>Overall Forecast</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hMerge="1"/>
                <a:tc hMerge="1"/>
                <a:tc hMerge="1"/>
                <a:tc hMerge="1"/>
              </a:tr>
              <a:tr h="108875">
                <a:tc>
                  <a:txBody>
                    <a:bodyPr/>
                    <a:lstStyle/>
                    <a:p>
                      <a:pPr indent="0" lvl="0" marL="0" rtl="0" algn="l">
                        <a:lnSpc>
                          <a:spcPct val="115000"/>
                        </a:lnSpc>
                        <a:spcBef>
                          <a:spcPts val="0"/>
                        </a:spcBef>
                        <a:spcAft>
                          <a:spcPts val="0"/>
                        </a:spcAft>
                        <a:buNone/>
                      </a:pPr>
                      <a:r>
                        <a:rPr lang="en" sz="500"/>
                        <a:t>Total Creator</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42</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83</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42</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167</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108875">
                <a:tc>
                  <a:txBody>
                    <a:bodyPr/>
                    <a:lstStyle/>
                    <a:p>
                      <a:pPr indent="0" lvl="0" marL="0" rtl="0" algn="l">
                        <a:lnSpc>
                          <a:spcPct val="115000"/>
                        </a:lnSpc>
                        <a:spcBef>
                          <a:spcPts val="0"/>
                        </a:spcBef>
                        <a:spcAft>
                          <a:spcPts val="0"/>
                        </a:spcAft>
                        <a:buNone/>
                      </a:pPr>
                      <a:r>
                        <a:rPr lang="en" sz="500"/>
                        <a:t># Total Video</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104</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256</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104</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464</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108875">
                <a:tc>
                  <a:txBody>
                    <a:bodyPr/>
                    <a:lstStyle/>
                    <a:p>
                      <a:pPr indent="0" lvl="0" marL="0" rtl="0" algn="l">
                        <a:lnSpc>
                          <a:spcPct val="115000"/>
                        </a:lnSpc>
                        <a:spcBef>
                          <a:spcPts val="0"/>
                        </a:spcBef>
                        <a:spcAft>
                          <a:spcPts val="0"/>
                        </a:spcAft>
                        <a:buNone/>
                      </a:pPr>
                      <a:r>
                        <a:rPr lang="en" sz="500"/>
                        <a:t># Total Live Session</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200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300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200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700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108875">
                <a:tc>
                  <a:txBody>
                    <a:bodyPr/>
                    <a:lstStyle/>
                    <a:p>
                      <a:pPr indent="0" lvl="0" marL="0" rtl="0" algn="l">
                        <a:lnSpc>
                          <a:spcPct val="115000"/>
                        </a:lnSpc>
                        <a:spcBef>
                          <a:spcPts val="0"/>
                        </a:spcBef>
                        <a:spcAft>
                          <a:spcPts val="0"/>
                        </a:spcAft>
                        <a:buNone/>
                      </a:pPr>
                      <a:r>
                        <a:rPr lang="en" sz="500"/>
                        <a:t>Activation Budget</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93,000,000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161,000,000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93,000,000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347,000,000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154100">
                <a:tc>
                  <a:txBody>
                    <a:bodyPr/>
                    <a:lstStyle/>
                    <a:p>
                      <a:pPr indent="0" lvl="0" marL="0" rtl="0" algn="l">
                        <a:lnSpc>
                          <a:spcPct val="115000"/>
                        </a:lnSpc>
                        <a:spcBef>
                          <a:spcPts val="0"/>
                        </a:spcBef>
                        <a:spcAft>
                          <a:spcPts val="0"/>
                        </a:spcAft>
                        <a:buNone/>
                      </a:pPr>
                      <a:r>
                        <a:rPr b="1" lang="en" sz="500"/>
                        <a:t>Activation Plan Breakdown:</a:t>
                      </a:r>
                      <a:endParaRPr b="1"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154100">
                <a:tc>
                  <a:txBody>
                    <a:bodyPr/>
                    <a:lstStyle/>
                    <a:p>
                      <a:pPr indent="0" lvl="0" marL="0" rtl="0" algn="l">
                        <a:lnSpc>
                          <a:spcPct val="115000"/>
                        </a:lnSpc>
                        <a:spcBef>
                          <a:spcPts val="0"/>
                        </a:spcBef>
                        <a:spcAft>
                          <a:spcPts val="0"/>
                        </a:spcAft>
                        <a:buNone/>
                      </a:pPr>
                      <a:r>
                        <a:rPr b="1" lang="en" sz="500"/>
                        <a:t>1. Mega Affiliate</a:t>
                      </a:r>
                      <a:endParaRPr b="1"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r>
              <a:tr h="108875">
                <a:tc>
                  <a:txBody>
                    <a:bodyPr/>
                    <a:lstStyle/>
                    <a:p>
                      <a:pPr indent="0" lvl="0" marL="0" rtl="0" algn="l">
                        <a:lnSpc>
                          <a:spcPct val="115000"/>
                        </a:lnSpc>
                        <a:spcBef>
                          <a:spcPts val="0"/>
                        </a:spcBef>
                        <a:spcAft>
                          <a:spcPts val="0"/>
                        </a:spcAft>
                        <a:buNone/>
                      </a:pPr>
                      <a:r>
                        <a:rPr lang="en" sz="500"/>
                        <a:t># Total Creator</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2</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3</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2</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7</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108875">
                <a:tc>
                  <a:txBody>
                    <a:bodyPr/>
                    <a:lstStyle/>
                    <a:p>
                      <a:pPr indent="0" lvl="0" marL="0" rtl="0" algn="l">
                        <a:lnSpc>
                          <a:spcPct val="115000"/>
                        </a:lnSpc>
                        <a:spcBef>
                          <a:spcPts val="0"/>
                        </a:spcBef>
                        <a:spcAft>
                          <a:spcPts val="0"/>
                        </a:spcAft>
                        <a:buNone/>
                      </a:pPr>
                      <a:r>
                        <a:rPr lang="en" sz="500"/>
                        <a:t># Total Live Session</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4</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6</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4</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14</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108875">
                <a:tc>
                  <a:txBody>
                    <a:bodyPr/>
                    <a:lstStyle/>
                    <a:p>
                      <a:pPr indent="0" lvl="0" marL="0" rtl="0" algn="l">
                        <a:lnSpc>
                          <a:spcPct val="115000"/>
                        </a:lnSpc>
                        <a:spcBef>
                          <a:spcPts val="0"/>
                        </a:spcBef>
                        <a:spcAft>
                          <a:spcPts val="0"/>
                        </a:spcAft>
                        <a:buNone/>
                      </a:pPr>
                      <a:r>
                        <a:rPr lang="en" sz="500"/>
                        <a:t># Total Budget</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60,000,000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90,000,000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60,000,000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210,000,000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154100">
                <a:tc>
                  <a:txBody>
                    <a:bodyPr/>
                    <a:lstStyle/>
                    <a:p>
                      <a:pPr indent="0" lvl="0" marL="0" rtl="0" algn="l">
                        <a:lnSpc>
                          <a:spcPct val="115000"/>
                        </a:lnSpc>
                        <a:spcBef>
                          <a:spcPts val="0"/>
                        </a:spcBef>
                        <a:spcAft>
                          <a:spcPts val="0"/>
                        </a:spcAft>
                        <a:buNone/>
                      </a:pPr>
                      <a:r>
                        <a:rPr b="1" lang="en" sz="500"/>
                        <a:t>2. Short Video MCN</a:t>
                      </a:r>
                      <a:endParaRPr b="1"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r>
              <a:tr h="108875">
                <a:tc>
                  <a:txBody>
                    <a:bodyPr/>
                    <a:lstStyle/>
                    <a:p>
                      <a:pPr indent="0" lvl="0" marL="0" rtl="0" algn="l">
                        <a:lnSpc>
                          <a:spcPct val="115000"/>
                        </a:lnSpc>
                        <a:spcBef>
                          <a:spcPts val="0"/>
                        </a:spcBef>
                        <a:spcAft>
                          <a:spcPts val="0"/>
                        </a:spcAft>
                        <a:buNone/>
                      </a:pPr>
                      <a:r>
                        <a:rPr lang="en" sz="500"/>
                        <a:t># Total Creator</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20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50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20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90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108875">
                <a:tc>
                  <a:txBody>
                    <a:bodyPr/>
                    <a:lstStyle/>
                    <a:p>
                      <a:pPr indent="0" lvl="0" marL="0" rtl="0" algn="l">
                        <a:lnSpc>
                          <a:spcPct val="115000"/>
                        </a:lnSpc>
                        <a:spcBef>
                          <a:spcPts val="0"/>
                        </a:spcBef>
                        <a:spcAft>
                          <a:spcPts val="0"/>
                        </a:spcAft>
                        <a:buNone/>
                      </a:pPr>
                      <a:r>
                        <a:rPr lang="en" sz="500"/>
                        <a:t># Total Video</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250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450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108875">
                <a:tc>
                  <a:txBody>
                    <a:bodyPr/>
                    <a:lstStyle/>
                    <a:p>
                      <a:pPr indent="0" lvl="0" marL="0" rtl="0" algn="l">
                        <a:lnSpc>
                          <a:spcPct val="115000"/>
                        </a:lnSpc>
                        <a:spcBef>
                          <a:spcPts val="0"/>
                        </a:spcBef>
                        <a:spcAft>
                          <a:spcPts val="0"/>
                        </a:spcAft>
                        <a:buNone/>
                      </a:pPr>
                      <a:r>
                        <a:rPr lang="en" sz="500"/>
                        <a:t># Total Budget</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20,000,000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50,000,000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20,000,000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90,000,000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154100">
                <a:tc>
                  <a:txBody>
                    <a:bodyPr/>
                    <a:lstStyle/>
                    <a:p>
                      <a:pPr indent="0" lvl="0" marL="0" rtl="0" algn="l">
                        <a:lnSpc>
                          <a:spcPct val="115000"/>
                        </a:lnSpc>
                        <a:spcBef>
                          <a:spcPts val="0"/>
                        </a:spcBef>
                        <a:spcAft>
                          <a:spcPts val="0"/>
                        </a:spcAft>
                        <a:buNone/>
                      </a:pPr>
                      <a:r>
                        <a:rPr b="1" lang="en" sz="500"/>
                        <a:t>3. Polident - Creator Incentive Live Full Month</a:t>
                      </a:r>
                      <a:endParaRPr b="1"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r>
              <a:tr h="108875">
                <a:tc>
                  <a:txBody>
                    <a:bodyPr/>
                    <a:lstStyle/>
                    <a:p>
                      <a:pPr indent="0" lvl="0" marL="0" rtl="0" algn="l">
                        <a:lnSpc>
                          <a:spcPct val="115000"/>
                        </a:lnSpc>
                        <a:spcBef>
                          <a:spcPts val="0"/>
                        </a:spcBef>
                        <a:spcAft>
                          <a:spcPts val="0"/>
                        </a:spcAft>
                        <a:buNone/>
                      </a:pPr>
                      <a:r>
                        <a:rPr lang="en" sz="500"/>
                        <a:t># Total Creator</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15</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35</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108875">
                <a:tc>
                  <a:txBody>
                    <a:bodyPr/>
                    <a:lstStyle/>
                    <a:p>
                      <a:pPr indent="0" lvl="0" marL="0" rtl="0" algn="l">
                        <a:lnSpc>
                          <a:spcPct val="115000"/>
                        </a:lnSpc>
                        <a:spcBef>
                          <a:spcPts val="0"/>
                        </a:spcBef>
                        <a:spcAft>
                          <a:spcPts val="0"/>
                        </a:spcAft>
                        <a:buNone/>
                      </a:pPr>
                      <a:r>
                        <a:rPr lang="en" sz="500"/>
                        <a:t># Total Live Session</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200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300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200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700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108875">
                <a:tc>
                  <a:txBody>
                    <a:bodyPr/>
                    <a:lstStyle/>
                    <a:p>
                      <a:pPr indent="0" lvl="0" marL="0" rtl="0" algn="l">
                        <a:lnSpc>
                          <a:spcPct val="115000"/>
                        </a:lnSpc>
                        <a:spcBef>
                          <a:spcPts val="0"/>
                        </a:spcBef>
                        <a:spcAft>
                          <a:spcPts val="0"/>
                        </a:spcAft>
                        <a:buNone/>
                      </a:pPr>
                      <a:r>
                        <a:rPr lang="en" sz="500"/>
                        <a:t># Total Budget</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10,000,000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15,000,000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10,000,000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35,000,000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154100">
                <a:tc>
                  <a:txBody>
                    <a:bodyPr/>
                    <a:lstStyle/>
                    <a:p>
                      <a:pPr indent="0" lvl="0" marL="0" rtl="0" algn="l">
                        <a:lnSpc>
                          <a:spcPct val="115000"/>
                        </a:lnSpc>
                        <a:spcBef>
                          <a:spcPts val="0"/>
                        </a:spcBef>
                        <a:spcAft>
                          <a:spcPts val="0"/>
                        </a:spcAft>
                        <a:buNone/>
                      </a:pPr>
                      <a:r>
                        <a:rPr b="1" lang="en" sz="500"/>
                        <a:t>4. Personalized Target (Replicate)</a:t>
                      </a:r>
                      <a:endParaRPr b="1"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r>
              <a:tr h="108875">
                <a:tc>
                  <a:txBody>
                    <a:bodyPr/>
                    <a:lstStyle/>
                    <a:p>
                      <a:pPr indent="0" lvl="0" marL="0" rtl="0" algn="l">
                        <a:lnSpc>
                          <a:spcPct val="115000"/>
                        </a:lnSpc>
                        <a:spcBef>
                          <a:spcPts val="0"/>
                        </a:spcBef>
                        <a:spcAft>
                          <a:spcPts val="0"/>
                        </a:spcAft>
                        <a:buNone/>
                      </a:pPr>
                      <a:r>
                        <a:rPr lang="en" sz="500"/>
                        <a:t># Total Creator</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30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108875">
                <a:tc>
                  <a:txBody>
                    <a:bodyPr/>
                    <a:lstStyle/>
                    <a:p>
                      <a:pPr indent="0" lvl="0" marL="0" rtl="0" algn="l">
                        <a:lnSpc>
                          <a:spcPct val="115000"/>
                        </a:lnSpc>
                        <a:spcBef>
                          <a:spcPts val="0"/>
                        </a:spcBef>
                        <a:spcAft>
                          <a:spcPts val="0"/>
                        </a:spcAft>
                        <a:buNone/>
                      </a:pPr>
                      <a:r>
                        <a:rPr lang="en" sz="500"/>
                        <a:t># Total Live Session/Video</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gridSpan="4">
                  <a:txBody>
                    <a:bodyPr/>
                    <a:lstStyle/>
                    <a:p>
                      <a:pPr indent="0" lvl="0" marL="0" rtl="0" algn="ctr">
                        <a:lnSpc>
                          <a:spcPct val="115000"/>
                        </a:lnSpc>
                        <a:spcBef>
                          <a:spcPts val="0"/>
                        </a:spcBef>
                        <a:spcAft>
                          <a:spcPts val="0"/>
                        </a:spcAft>
                        <a:buNone/>
                      </a:pPr>
                      <a:r>
                        <a:rPr lang="en" sz="500"/>
                        <a:t>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hMerge="1"/>
                <a:tc hMerge="1"/>
                <a:tc hMerge="1"/>
              </a:tr>
              <a:tr h="108875">
                <a:tc>
                  <a:txBody>
                    <a:bodyPr/>
                    <a:lstStyle/>
                    <a:p>
                      <a:pPr indent="0" lvl="0" marL="0" rtl="0" algn="l">
                        <a:lnSpc>
                          <a:spcPct val="115000"/>
                        </a:lnSpc>
                        <a:spcBef>
                          <a:spcPts val="0"/>
                        </a:spcBef>
                        <a:spcAft>
                          <a:spcPts val="0"/>
                        </a:spcAft>
                        <a:buNone/>
                      </a:pPr>
                      <a:r>
                        <a:rPr lang="en" sz="500"/>
                        <a:t># Total Budget</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10,000,000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10,000,000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10,000,000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30,000,000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154100">
                <a:tc>
                  <a:txBody>
                    <a:bodyPr/>
                    <a:lstStyle/>
                    <a:p>
                      <a:pPr indent="0" lvl="0" marL="0" rtl="0" algn="l">
                        <a:lnSpc>
                          <a:spcPct val="115000"/>
                        </a:lnSpc>
                        <a:spcBef>
                          <a:spcPts val="0"/>
                        </a:spcBef>
                        <a:spcAft>
                          <a:spcPts val="0"/>
                        </a:spcAft>
                        <a:buNone/>
                      </a:pPr>
                      <a:r>
                        <a:rPr b="1" lang="en" sz="500"/>
                        <a:t>5. Mass Program (Exclude Top Creator)</a:t>
                      </a:r>
                      <a:endParaRPr b="1"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t/>
                      </a:r>
                      <a:endParaRPr sz="9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solidFill>
                      <a:srgbClr val="CFE2F3"/>
                    </a:solidFill>
                  </a:tcPr>
                </a:tc>
              </a:tr>
              <a:tr h="108875">
                <a:tc>
                  <a:txBody>
                    <a:bodyPr/>
                    <a:lstStyle/>
                    <a:p>
                      <a:pPr indent="0" lvl="0" marL="0" rtl="0" algn="l">
                        <a:lnSpc>
                          <a:spcPct val="115000"/>
                        </a:lnSpc>
                        <a:spcBef>
                          <a:spcPts val="0"/>
                        </a:spcBef>
                        <a:spcAft>
                          <a:spcPts val="0"/>
                        </a:spcAft>
                        <a:buNone/>
                      </a:pPr>
                      <a:r>
                        <a:rPr lang="en" sz="500"/>
                        <a:t># Total Creator</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5</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5</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5</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15</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r h="108875">
                <a:tc>
                  <a:txBody>
                    <a:bodyPr/>
                    <a:lstStyle/>
                    <a:p>
                      <a:pPr indent="0" lvl="0" marL="0" rtl="0" algn="l">
                        <a:lnSpc>
                          <a:spcPct val="115000"/>
                        </a:lnSpc>
                        <a:spcBef>
                          <a:spcPts val="0"/>
                        </a:spcBef>
                        <a:spcAft>
                          <a:spcPts val="0"/>
                        </a:spcAft>
                        <a:buNone/>
                      </a:pPr>
                      <a:r>
                        <a:rPr lang="en" sz="500"/>
                        <a:t># Total Live Session/Video</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gridSpan="4">
                  <a:txBody>
                    <a:bodyPr/>
                    <a:lstStyle/>
                    <a:p>
                      <a:pPr indent="0" lvl="0" marL="0" rtl="0" algn="ctr">
                        <a:lnSpc>
                          <a:spcPct val="115000"/>
                        </a:lnSpc>
                        <a:spcBef>
                          <a:spcPts val="0"/>
                        </a:spcBef>
                        <a:spcAft>
                          <a:spcPts val="0"/>
                        </a:spcAft>
                        <a:buNone/>
                      </a:pPr>
                      <a:r>
                        <a:rPr lang="en" sz="500"/>
                        <a:t>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hMerge="1"/>
                <a:tc hMerge="1"/>
                <a:tc hMerge="1"/>
              </a:tr>
              <a:tr h="108875">
                <a:tc>
                  <a:txBody>
                    <a:bodyPr/>
                    <a:lstStyle/>
                    <a:p>
                      <a:pPr indent="0" lvl="0" marL="0" rtl="0" algn="l">
                        <a:lnSpc>
                          <a:spcPct val="115000"/>
                        </a:lnSpc>
                        <a:spcBef>
                          <a:spcPts val="0"/>
                        </a:spcBef>
                        <a:spcAft>
                          <a:spcPts val="0"/>
                        </a:spcAft>
                        <a:buNone/>
                      </a:pPr>
                      <a:r>
                        <a:rPr lang="en" sz="500"/>
                        <a:t># Total Budget</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4,000,000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4,000,000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4,000,000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500"/>
                        <a:t>12,000,000</a:t>
                      </a:r>
                      <a:endParaRPr sz="500"/>
                    </a:p>
                  </a:txBody>
                  <a:tcPr marT="19050" marB="19050" marR="28575" marL="28575" anchor="b">
                    <a:lnL cap="flat" cmpd="sng" w="5300">
                      <a:solidFill>
                        <a:srgbClr val="CCCCCC"/>
                      </a:solidFill>
                      <a:prstDash val="solid"/>
                      <a:round/>
                      <a:headEnd len="sm" w="sm" type="none"/>
                      <a:tailEnd len="sm" w="sm" type="none"/>
                    </a:lnL>
                    <a:lnR cap="flat" cmpd="sng" w="5300">
                      <a:solidFill>
                        <a:srgbClr val="CCCCCC"/>
                      </a:solidFill>
                      <a:prstDash val="solid"/>
                      <a:round/>
                      <a:headEnd len="sm" w="sm" type="none"/>
                      <a:tailEnd len="sm" w="sm" type="none"/>
                    </a:lnR>
                    <a:lnT cap="flat" cmpd="sng" w="5300">
                      <a:solidFill>
                        <a:srgbClr val="CCCCCC"/>
                      </a:solidFill>
                      <a:prstDash val="solid"/>
                      <a:round/>
                      <a:headEnd len="sm" w="sm" type="none"/>
                      <a:tailEnd len="sm" w="sm" type="none"/>
                    </a:lnT>
                    <a:lnB cap="flat" cmpd="sng" w="5300">
                      <a:solidFill>
                        <a:srgbClr val="CCCCCC"/>
                      </a:solidFill>
                      <a:prstDash val="solid"/>
                      <a:round/>
                      <a:headEnd len="sm" w="sm" type="none"/>
                      <a:tailEnd len="sm" w="sm" type="none"/>
                    </a:lnB>
                  </a:tcPr>
                </a:tc>
              </a:tr>
            </a:tbl>
          </a:graphicData>
        </a:graphic>
      </p:graphicFrame>
      <p:sp>
        <p:nvSpPr>
          <p:cNvPr id="605" name="Google Shape;605;p63"/>
          <p:cNvSpPr txBox="1"/>
          <p:nvPr/>
        </p:nvSpPr>
        <p:spPr>
          <a:xfrm>
            <a:off x="4487625" y="1365525"/>
            <a:ext cx="4531800" cy="2773500"/>
          </a:xfrm>
          <a:prstGeom prst="rect">
            <a:avLst/>
          </a:prstGeom>
          <a:solidFill>
            <a:srgbClr val="CFE2F3"/>
          </a:solidFill>
          <a:ln>
            <a:noFill/>
          </a:ln>
        </p:spPr>
        <p:txBody>
          <a:bodyPr anchorCtr="0" anchor="t" bIns="91425" lIns="91425" spcFirstLastPara="1" rIns="91425" wrap="square" tIns="91425">
            <a:noAutofit/>
          </a:bodyPr>
          <a:lstStyle/>
          <a:p>
            <a:pPr indent="-292100" lvl="0" marL="457200" marR="0" rtl="0" algn="just">
              <a:lnSpc>
                <a:spcPct val="115000"/>
              </a:lnSpc>
              <a:spcBef>
                <a:spcPts val="1000"/>
              </a:spcBef>
              <a:spcAft>
                <a:spcPts val="0"/>
              </a:spcAft>
              <a:buClr>
                <a:schemeClr val="dk2"/>
              </a:buClr>
              <a:buSzPts val="1000"/>
              <a:buFont typeface="Inter"/>
              <a:buChar char="●"/>
            </a:pPr>
            <a:r>
              <a:rPr b="1" lang="en" sz="1000">
                <a:solidFill>
                  <a:schemeClr val="dk2"/>
                </a:solidFill>
                <a:latin typeface="Inter"/>
                <a:ea typeface="Inter"/>
                <a:cs typeface="Inter"/>
                <a:sym typeface="Inter"/>
              </a:rPr>
              <a:t>Mega Affiliate: </a:t>
            </a:r>
            <a:r>
              <a:rPr lang="en" sz="1000">
                <a:solidFill>
                  <a:schemeClr val="dk2"/>
                </a:solidFill>
                <a:latin typeface="Inter"/>
                <a:ea typeface="Inter"/>
                <a:cs typeface="Inter"/>
                <a:sym typeface="Inter"/>
              </a:rPr>
              <a:t>Collaborate with Shopee-managed top creators to unlock greater exposure, traffic, and potential buyers.</a:t>
            </a:r>
            <a:endParaRPr sz="1000">
              <a:solidFill>
                <a:schemeClr val="dk2"/>
              </a:solidFill>
              <a:latin typeface="Inter"/>
              <a:ea typeface="Inter"/>
              <a:cs typeface="Inter"/>
              <a:sym typeface="Inter"/>
            </a:endParaRPr>
          </a:p>
          <a:p>
            <a:pPr indent="-292100" lvl="0" marL="457200" rtl="0" algn="just">
              <a:lnSpc>
                <a:spcPct val="115000"/>
              </a:lnSpc>
              <a:spcBef>
                <a:spcPts val="1000"/>
              </a:spcBef>
              <a:spcAft>
                <a:spcPts val="0"/>
              </a:spcAft>
              <a:buClr>
                <a:schemeClr val="dk2"/>
              </a:buClr>
              <a:buSzPts val="1000"/>
              <a:buFont typeface="Inter"/>
              <a:buChar char="●"/>
            </a:pPr>
            <a:r>
              <a:rPr b="1" lang="en" sz="1000">
                <a:solidFill>
                  <a:schemeClr val="dk2"/>
                </a:solidFill>
                <a:latin typeface="Inter"/>
                <a:ea typeface="Inter"/>
                <a:cs typeface="Inter"/>
                <a:sym typeface="Inter"/>
              </a:rPr>
              <a:t>Short</a:t>
            </a:r>
            <a:r>
              <a:rPr b="1" lang="en" sz="1000">
                <a:solidFill>
                  <a:schemeClr val="dk2"/>
                </a:solidFill>
                <a:latin typeface="Inter"/>
                <a:ea typeface="Inter"/>
                <a:cs typeface="Inter"/>
                <a:sym typeface="Inter"/>
              </a:rPr>
              <a:t> Video MCN</a:t>
            </a:r>
            <a:r>
              <a:rPr b="1" lang="en" sz="1000">
                <a:solidFill>
                  <a:schemeClr val="dk2"/>
                </a:solidFill>
                <a:latin typeface="Inter"/>
                <a:ea typeface="Inter"/>
                <a:cs typeface="Inter"/>
                <a:sym typeface="Inter"/>
              </a:rPr>
              <a:t>: </a:t>
            </a:r>
            <a:r>
              <a:rPr lang="en" sz="1000">
                <a:solidFill>
                  <a:schemeClr val="dk2"/>
                </a:solidFill>
                <a:latin typeface="Inter"/>
                <a:ea typeface="Inter"/>
                <a:cs typeface="Inter"/>
                <a:sym typeface="Inter"/>
              </a:rPr>
              <a:t>Scale MCN collaborations to drive more creator videos, unlock proven GMV drivers, and increase video GMV contribution.</a:t>
            </a:r>
            <a:endParaRPr sz="1000">
              <a:solidFill>
                <a:schemeClr val="dk2"/>
              </a:solidFill>
              <a:latin typeface="Inter"/>
              <a:ea typeface="Inter"/>
              <a:cs typeface="Inter"/>
              <a:sym typeface="Inter"/>
            </a:endParaRPr>
          </a:p>
          <a:p>
            <a:pPr indent="-292100" lvl="0" marL="457200" rtl="0" algn="just">
              <a:lnSpc>
                <a:spcPct val="115000"/>
              </a:lnSpc>
              <a:spcBef>
                <a:spcPts val="1000"/>
              </a:spcBef>
              <a:spcAft>
                <a:spcPts val="0"/>
              </a:spcAft>
              <a:buClr>
                <a:schemeClr val="dk2"/>
              </a:buClr>
              <a:buSzPts val="1000"/>
              <a:buFont typeface="Inter"/>
              <a:buChar char="●"/>
            </a:pPr>
            <a:r>
              <a:rPr b="1" lang="en" sz="1000">
                <a:solidFill>
                  <a:schemeClr val="dk2"/>
                </a:solidFill>
                <a:latin typeface="Inter"/>
                <a:ea typeface="Inter"/>
                <a:cs typeface="Inter"/>
                <a:sym typeface="Inter"/>
              </a:rPr>
              <a:t>Polident Incentive: </a:t>
            </a:r>
            <a:r>
              <a:rPr lang="en" sz="1000">
                <a:solidFill>
                  <a:schemeClr val="dk2"/>
                </a:solidFill>
                <a:latin typeface="Inter"/>
                <a:ea typeface="Inter"/>
                <a:cs typeface="Inter"/>
                <a:sym typeface="Inter"/>
              </a:rPr>
              <a:t>Lock live creators to promote Polident consistently, targeting at least 20 live days per month.</a:t>
            </a:r>
            <a:endParaRPr sz="1000">
              <a:solidFill>
                <a:schemeClr val="dk2"/>
              </a:solidFill>
              <a:latin typeface="Inter"/>
              <a:ea typeface="Inter"/>
              <a:cs typeface="Inter"/>
              <a:sym typeface="Inter"/>
            </a:endParaRPr>
          </a:p>
          <a:p>
            <a:pPr indent="-292100" lvl="0" marL="457200" rtl="0" algn="just">
              <a:lnSpc>
                <a:spcPct val="115000"/>
              </a:lnSpc>
              <a:spcBef>
                <a:spcPts val="1000"/>
              </a:spcBef>
              <a:spcAft>
                <a:spcPts val="0"/>
              </a:spcAft>
              <a:buClr>
                <a:schemeClr val="dk2"/>
              </a:buClr>
              <a:buSzPts val="1000"/>
              <a:buFont typeface="Inter"/>
              <a:buChar char="●"/>
            </a:pPr>
            <a:r>
              <a:rPr b="1" lang="en" sz="1000">
                <a:solidFill>
                  <a:schemeClr val="dk2"/>
                </a:solidFill>
                <a:latin typeface="Inter"/>
                <a:ea typeface="Inter"/>
                <a:cs typeface="Inter"/>
                <a:sym typeface="Inter"/>
              </a:rPr>
              <a:t>Personalized Target: </a:t>
            </a:r>
            <a:r>
              <a:rPr lang="en" sz="1000">
                <a:solidFill>
                  <a:schemeClr val="dk2"/>
                </a:solidFill>
                <a:latin typeface="Inter"/>
                <a:ea typeface="Inter"/>
                <a:cs typeface="Inter"/>
                <a:sym typeface="Inter"/>
              </a:rPr>
              <a:t>Continue the retention program with personalized targets to maintain top creator performance.</a:t>
            </a:r>
            <a:endParaRPr sz="1000">
              <a:solidFill>
                <a:schemeClr val="dk2"/>
              </a:solidFill>
              <a:latin typeface="Inter"/>
              <a:ea typeface="Inter"/>
              <a:cs typeface="Inter"/>
              <a:sym typeface="Inter"/>
            </a:endParaRPr>
          </a:p>
          <a:p>
            <a:pPr indent="-292100" lvl="0" marL="457200" rtl="0" algn="just">
              <a:lnSpc>
                <a:spcPct val="115000"/>
              </a:lnSpc>
              <a:spcBef>
                <a:spcPts val="1000"/>
              </a:spcBef>
              <a:spcAft>
                <a:spcPts val="0"/>
              </a:spcAft>
              <a:buClr>
                <a:schemeClr val="dk2"/>
              </a:buClr>
              <a:buSzPts val="1000"/>
              <a:buFont typeface="Inter"/>
              <a:buChar char="●"/>
            </a:pPr>
            <a:r>
              <a:rPr b="1" lang="en" sz="1000">
                <a:solidFill>
                  <a:schemeClr val="dk2"/>
                </a:solidFill>
                <a:latin typeface="Inter"/>
                <a:ea typeface="Inter"/>
                <a:cs typeface="Inter"/>
                <a:sym typeface="Inter"/>
              </a:rPr>
              <a:t>GMV Mass Program: </a:t>
            </a:r>
            <a:r>
              <a:rPr lang="en" sz="1000">
                <a:solidFill>
                  <a:schemeClr val="dk2"/>
                </a:solidFill>
                <a:latin typeface="Inter"/>
                <a:ea typeface="Inter"/>
                <a:cs typeface="Inter"/>
                <a:sym typeface="Inter"/>
              </a:rPr>
              <a:t>Target non-top creators with a structured push to increase GMV and accelerate their progression toward higher tiers.</a:t>
            </a:r>
            <a:endParaRPr sz="1000">
              <a:solidFill>
                <a:schemeClr val="dk2"/>
              </a:solidFill>
              <a:latin typeface="Inter"/>
              <a:ea typeface="Inter"/>
              <a:cs typeface="Inter"/>
              <a:sym typeface="Inter"/>
            </a:endParaRPr>
          </a:p>
        </p:txBody>
      </p:sp>
      <p:sp>
        <p:nvSpPr>
          <p:cNvPr id="606" name="Google Shape;606;p63"/>
          <p:cNvSpPr/>
          <p:nvPr/>
        </p:nvSpPr>
        <p:spPr>
          <a:xfrm>
            <a:off x="4487625" y="1136925"/>
            <a:ext cx="4531800" cy="2286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lt1"/>
                </a:solidFill>
                <a:latin typeface="Inter"/>
                <a:ea typeface="Inter"/>
                <a:cs typeface="Inter"/>
                <a:sym typeface="Inter"/>
              </a:rPr>
              <a:t>Key Highlights</a:t>
            </a:r>
            <a:endParaRPr b="1" i="0" sz="1100" u="none" cap="none" strike="noStrike">
              <a:solidFill>
                <a:schemeClr val="lt1"/>
              </a:solidFill>
              <a:latin typeface="Inter"/>
              <a:ea typeface="Inter"/>
              <a:cs typeface="Inter"/>
              <a:sym typeface="Inte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pic>
        <p:nvPicPr>
          <p:cNvPr descr="preencoded.png" id="611" name="Google Shape;611;p64"/>
          <p:cNvPicPr preferRelativeResize="0"/>
          <p:nvPr/>
        </p:nvPicPr>
        <p:blipFill rotWithShape="1">
          <a:blip r:embed="rId3">
            <a:alphaModFix/>
          </a:blip>
          <a:srcRect b="0" l="0" r="0" t="0"/>
          <a:stretch/>
        </p:blipFill>
        <p:spPr>
          <a:xfrm>
            <a:off x="6977959" y="4103323"/>
            <a:ext cx="1762475" cy="470475"/>
          </a:xfrm>
          <a:prstGeom prst="rect">
            <a:avLst/>
          </a:prstGeom>
          <a:noFill/>
          <a:ln>
            <a:noFill/>
          </a:ln>
        </p:spPr>
      </p:pic>
      <p:sp>
        <p:nvSpPr>
          <p:cNvPr id="612" name="Google Shape;612;p64"/>
          <p:cNvSpPr/>
          <p:nvPr/>
        </p:nvSpPr>
        <p:spPr>
          <a:xfrm>
            <a:off x="222900" y="2360250"/>
            <a:ext cx="8698200" cy="423000"/>
          </a:xfrm>
          <a:prstGeom prst="rect">
            <a:avLst/>
          </a:prstGeom>
          <a:noFill/>
          <a:ln>
            <a:noFill/>
          </a:ln>
        </p:spPr>
        <p:txBody>
          <a:bodyPr anchorCtr="0" anchor="t" bIns="0" lIns="0" spcFirstLastPara="1" rIns="0" wrap="square" tIns="0">
            <a:noAutofit/>
          </a:bodyPr>
          <a:lstStyle/>
          <a:p>
            <a:pPr indent="0" lvl="0" marL="0" marR="0" rtl="0" algn="ctr">
              <a:lnSpc>
                <a:spcPct val="120833"/>
              </a:lnSpc>
              <a:spcBef>
                <a:spcPts val="0"/>
              </a:spcBef>
              <a:spcAft>
                <a:spcPts val="0"/>
              </a:spcAft>
              <a:buClr>
                <a:srgbClr val="000000"/>
              </a:buClr>
              <a:buSzPts val="2400"/>
              <a:buFont typeface="Arial"/>
              <a:buNone/>
            </a:pPr>
            <a:r>
              <a:rPr b="1" i="0" lang="en" sz="2400" u="none" cap="none" strike="noStrike">
                <a:solidFill>
                  <a:srgbClr val="FFFFFF"/>
                </a:solidFill>
                <a:latin typeface="Inter"/>
                <a:ea typeface="Inter"/>
                <a:cs typeface="Inter"/>
                <a:sym typeface="Inter"/>
              </a:rPr>
              <a:t>Thank You</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pic>
        <p:nvPicPr>
          <p:cNvPr descr="preencoded.png" id="617" name="Google Shape;617;p65"/>
          <p:cNvPicPr preferRelativeResize="0"/>
          <p:nvPr/>
        </p:nvPicPr>
        <p:blipFill rotWithShape="1">
          <a:blip r:embed="rId3">
            <a:alphaModFix/>
          </a:blip>
          <a:srcRect b="0" l="0" r="0" t="0"/>
          <a:stretch/>
        </p:blipFill>
        <p:spPr>
          <a:xfrm>
            <a:off x="6977959" y="4103323"/>
            <a:ext cx="1762475" cy="470475"/>
          </a:xfrm>
          <a:prstGeom prst="rect">
            <a:avLst/>
          </a:prstGeom>
          <a:noFill/>
          <a:ln>
            <a:noFill/>
          </a:ln>
        </p:spPr>
      </p:pic>
      <p:sp>
        <p:nvSpPr>
          <p:cNvPr id="618" name="Google Shape;618;p65"/>
          <p:cNvSpPr/>
          <p:nvPr/>
        </p:nvSpPr>
        <p:spPr>
          <a:xfrm>
            <a:off x="222900" y="2360250"/>
            <a:ext cx="8698200" cy="423000"/>
          </a:xfrm>
          <a:prstGeom prst="rect">
            <a:avLst/>
          </a:prstGeom>
          <a:noFill/>
          <a:ln>
            <a:noFill/>
          </a:ln>
        </p:spPr>
        <p:txBody>
          <a:bodyPr anchorCtr="0" anchor="t" bIns="0" lIns="0" spcFirstLastPara="1" rIns="0" wrap="square" tIns="0">
            <a:noAutofit/>
          </a:bodyPr>
          <a:lstStyle/>
          <a:p>
            <a:pPr indent="0" lvl="0" marL="0" marR="0" rtl="0" algn="ctr">
              <a:lnSpc>
                <a:spcPct val="120833"/>
              </a:lnSpc>
              <a:spcBef>
                <a:spcPts val="0"/>
              </a:spcBef>
              <a:spcAft>
                <a:spcPts val="0"/>
              </a:spcAft>
              <a:buClr>
                <a:srgbClr val="000000"/>
              </a:buClr>
              <a:buSzPts val="2400"/>
              <a:buFont typeface="Arial"/>
              <a:buNone/>
            </a:pPr>
            <a:r>
              <a:rPr b="1" i="0" lang="en" sz="2400" u="none" cap="none" strike="noStrike">
                <a:solidFill>
                  <a:srgbClr val="FFFFFF"/>
                </a:solidFill>
                <a:latin typeface="Inter"/>
                <a:ea typeface="Inter"/>
                <a:cs typeface="Inter"/>
                <a:sym typeface="Inter"/>
              </a:rPr>
              <a:t>APPENDIX</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66"/>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sp>
        <p:nvSpPr>
          <p:cNvPr id="624" name="Google Shape;624;p66"/>
          <p:cNvSpPr txBox="1"/>
          <p:nvPr>
            <p:ph type="ctrTitle"/>
          </p:nvPr>
        </p:nvSpPr>
        <p:spPr>
          <a:xfrm>
            <a:off x="174550" y="131975"/>
            <a:ext cx="8655600" cy="695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B2C Overall Performance</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Brand Level Sell In B2C</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t/>
            </a:r>
            <a:endParaRPr b="1">
              <a:solidFill>
                <a:srgbClr val="3880C1"/>
              </a:solidFill>
              <a:latin typeface="Inter"/>
              <a:ea typeface="Inter"/>
              <a:cs typeface="Inter"/>
              <a:sym typeface="Inter"/>
            </a:endParaRPr>
          </a:p>
        </p:txBody>
      </p:sp>
      <p:pic>
        <p:nvPicPr>
          <p:cNvPr id="625" name="Google Shape;625;p66"/>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pic>
        <p:nvPicPr>
          <p:cNvPr id="626" name="Google Shape;626;p66"/>
          <p:cNvPicPr preferRelativeResize="0"/>
          <p:nvPr/>
        </p:nvPicPr>
        <p:blipFill rotWithShape="1">
          <a:blip r:embed="rId4">
            <a:alphaModFix/>
          </a:blip>
          <a:srcRect b="0" l="0" r="0" t="12564"/>
          <a:stretch/>
        </p:blipFill>
        <p:spPr>
          <a:xfrm>
            <a:off x="7406900" y="121550"/>
            <a:ext cx="634924" cy="451775"/>
          </a:xfrm>
          <a:prstGeom prst="rect">
            <a:avLst/>
          </a:prstGeom>
          <a:noFill/>
          <a:ln>
            <a:noFill/>
          </a:ln>
        </p:spPr>
      </p:pic>
      <p:graphicFrame>
        <p:nvGraphicFramePr>
          <p:cNvPr id="627" name="Google Shape;627;p66"/>
          <p:cNvGraphicFramePr/>
          <p:nvPr/>
        </p:nvGraphicFramePr>
        <p:xfrm>
          <a:off x="42238" y="919950"/>
          <a:ext cx="3000000" cy="3000000"/>
        </p:xfrm>
        <a:graphic>
          <a:graphicData uri="http://schemas.openxmlformats.org/drawingml/2006/table">
            <a:tbl>
              <a:tblPr>
                <a:noFill/>
                <a:tableStyleId>{C7B0113B-ABCC-46DA-BDED-68E34227E8D4}</a:tableStyleId>
              </a:tblPr>
              <a:tblGrid>
                <a:gridCol w="1100150"/>
                <a:gridCol w="1052325"/>
                <a:gridCol w="1042750"/>
                <a:gridCol w="593125"/>
                <a:gridCol w="1052325"/>
                <a:gridCol w="985350"/>
                <a:gridCol w="593125"/>
                <a:gridCol w="1023625"/>
                <a:gridCol w="1023625"/>
                <a:gridCol w="593125"/>
              </a:tblGrid>
              <a:tr h="352150">
                <a:tc rowSpan="2">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rgbClr val="FFFFFF"/>
                          </a:solidFill>
                          <a:latin typeface="Inter"/>
                          <a:ea typeface="Inter"/>
                          <a:cs typeface="Inter"/>
                          <a:sym typeface="Inter"/>
                        </a:rPr>
                        <a:t>Metrics</a:t>
                      </a:r>
                      <a:endParaRPr b="1" sz="1000" u="none" cap="none" strike="noStrike">
                        <a:solidFill>
                          <a:srgbClr val="FFFFFF"/>
                        </a:solidFill>
                        <a:latin typeface="Inter"/>
                        <a:ea typeface="Inter"/>
                        <a:cs typeface="Inter"/>
                        <a:sym typeface="Inter"/>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gridSpan="3">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rgbClr val="FFFFFF"/>
                          </a:solidFill>
                          <a:latin typeface="Inter"/>
                          <a:ea typeface="Inter"/>
                          <a:cs typeface="Inter"/>
                          <a:sym typeface="Inter"/>
                        </a:rPr>
                        <a:t>Sensodyne</a:t>
                      </a:r>
                      <a:endParaRPr b="1" sz="1000" u="none" cap="none" strike="noStrike">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C78D8"/>
                    </a:solidFill>
                  </a:tcPr>
                </a:tc>
                <a:tc hMerge="1"/>
                <a:tc hMerge="1"/>
                <a:tc gridSpan="3">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rgbClr val="FFFFFF"/>
                          </a:solidFill>
                          <a:latin typeface="Inter"/>
                          <a:ea typeface="Inter"/>
                          <a:cs typeface="Inter"/>
                          <a:sym typeface="Inter"/>
                        </a:rPr>
                        <a:t>Polident</a:t>
                      </a:r>
                      <a:endParaRPr b="1" sz="1000" u="none" cap="none" strike="noStrike">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4A853"/>
                    </a:solidFill>
                  </a:tcPr>
                </a:tc>
                <a:tc hMerge="1"/>
                <a:tc hMerge="1"/>
                <a:tc gridSpan="3">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rgbClr val="FFFFFF"/>
                          </a:solidFill>
                          <a:latin typeface="Inter"/>
                          <a:ea typeface="Inter"/>
                          <a:cs typeface="Inter"/>
                          <a:sym typeface="Inter"/>
                        </a:rPr>
                        <a:t>Scott's</a:t>
                      </a:r>
                      <a:endParaRPr b="1" sz="1000" u="none" cap="none" strike="noStrike">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9900"/>
                    </a:solidFill>
                  </a:tcPr>
                </a:tc>
                <a:tc hMerge="1"/>
                <a:tc hMerge="1"/>
              </a:tr>
              <a:tr h="352150">
                <a:tc vMerge="1"/>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rgbClr val="FFFFFF"/>
                          </a:solidFill>
                          <a:latin typeface="Inter"/>
                          <a:ea typeface="Inter"/>
                          <a:cs typeface="Inter"/>
                          <a:sym typeface="Inter"/>
                        </a:rPr>
                        <a:t>PO</a:t>
                      </a:r>
                      <a:endParaRPr b="1" sz="1000" u="none" cap="none" strike="noStrike">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C78D8"/>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rgbClr val="FFFFFF"/>
                          </a:solidFill>
                          <a:latin typeface="Inter"/>
                          <a:ea typeface="Inter"/>
                          <a:cs typeface="Inter"/>
                          <a:sym typeface="Inter"/>
                        </a:rPr>
                        <a:t>GR</a:t>
                      </a:r>
                      <a:endParaRPr b="1" sz="1000" u="none" cap="none" strike="noStrike">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C78D8"/>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rgbClr val="FFFFFF"/>
                          </a:solidFill>
                          <a:latin typeface="Inter"/>
                          <a:ea typeface="Inter"/>
                          <a:cs typeface="Inter"/>
                          <a:sym typeface="Inter"/>
                        </a:rPr>
                        <a:t>SLA</a:t>
                      </a:r>
                      <a:endParaRPr b="1" sz="1000" u="none" cap="none" strike="noStrike">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C78D8"/>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rgbClr val="FFFFFF"/>
                          </a:solidFill>
                          <a:latin typeface="Inter"/>
                          <a:ea typeface="Inter"/>
                          <a:cs typeface="Inter"/>
                          <a:sym typeface="Inter"/>
                        </a:rPr>
                        <a:t>PO</a:t>
                      </a:r>
                      <a:endParaRPr b="1" sz="1000" u="none" cap="none" strike="noStrike">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4A85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rgbClr val="FFFFFF"/>
                          </a:solidFill>
                          <a:latin typeface="Inter"/>
                          <a:ea typeface="Inter"/>
                          <a:cs typeface="Inter"/>
                          <a:sym typeface="Inter"/>
                        </a:rPr>
                        <a:t>GR</a:t>
                      </a:r>
                      <a:endParaRPr b="1" sz="1000" u="none" cap="none" strike="noStrike">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4A85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rgbClr val="FFFFFF"/>
                          </a:solidFill>
                          <a:latin typeface="Inter"/>
                          <a:ea typeface="Inter"/>
                          <a:cs typeface="Inter"/>
                          <a:sym typeface="Inter"/>
                        </a:rPr>
                        <a:t>SLA</a:t>
                      </a:r>
                      <a:endParaRPr b="1" sz="1000" u="none" cap="none" strike="noStrike">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4A853"/>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rgbClr val="FFFFFF"/>
                          </a:solidFill>
                          <a:latin typeface="Inter"/>
                          <a:ea typeface="Inter"/>
                          <a:cs typeface="Inter"/>
                          <a:sym typeface="Inter"/>
                        </a:rPr>
                        <a:t>PO</a:t>
                      </a:r>
                      <a:endParaRPr b="1" sz="1000" u="none" cap="none" strike="noStrike">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9900"/>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rgbClr val="FFFFFF"/>
                          </a:solidFill>
                          <a:latin typeface="Inter"/>
                          <a:ea typeface="Inter"/>
                          <a:cs typeface="Inter"/>
                          <a:sym typeface="Inter"/>
                        </a:rPr>
                        <a:t>GR</a:t>
                      </a:r>
                      <a:endParaRPr b="1" sz="1000" u="none" cap="none" strike="noStrike">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9900"/>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rgbClr val="FFFFFF"/>
                          </a:solidFill>
                          <a:latin typeface="Inter"/>
                          <a:ea typeface="Inter"/>
                          <a:cs typeface="Inter"/>
                          <a:sym typeface="Inter"/>
                        </a:rPr>
                        <a:t>SLA</a:t>
                      </a:r>
                      <a:endParaRPr b="1" sz="1000" u="none" cap="none" strike="noStrike">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9900"/>
                    </a:solidFill>
                  </a:tcPr>
                </a:tc>
              </a:tr>
              <a:tr h="352150">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latin typeface="Inter"/>
                          <a:ea typeface="Inter"/>
                          <a:cs typeface="Inter"/>
                          <a:sym typeface="Inter"/>
                        </a:rPr>
                        <a:t>January</a:t>
                      </a:r>
                      <a:endParaRPr b="1"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2,372,811,000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2,321,319,500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98%</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1,091,659,300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992,945,500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91%</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693,376,300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311,500,900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45%</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r>
              <a:tr h="352150">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latin typeface="Inter"/>
                          <a:ea typeface="Inter"/>
                          <a:cs typeface="Inter"/>
                          <a:sym typeface="Inter"/>
                        </a:rPr>
                        <a:t>February</a:t>
                      </a:r>
                      <a:endParaRPr b="1"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4,371,048,300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4,032,911,600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92%</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2,203,846,200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1,728,164,400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78%</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1,442,524,800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1,392,455,400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97%</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352150">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latin typeface="Inter"/>
                          <a:ea typeface="Inter"/>
                          <a:cs typeface="Inter"/>
                          <a:sym typeface="Inter"/>
                        </a:rPr>
                        <a:t>March</a:t>
                      </a:r>
                      <a:endParaRPr b="1"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2,600,800,800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1,935,764,500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74%</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1,698,862,200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1,566,001,800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92%</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689,514,800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631,180,900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92%</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r>
              <a:tr h="352150">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t>April</a:t>
                      </a:r>
                      <a:endParaRPr b="1"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2,118,785,000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1,967,489,500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93%</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2,221,843,300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1,593,215,800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72%</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848,295,200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805,924,700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95%</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r>
              <a:tr h="352150">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t>May</a:t>
                      </a:r>
                      <a:endParaRPr b="1"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2,798,267,600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2,795,033,700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100%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2,101,076,300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1,886,554,400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90%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2,472,388,000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1,786,591,100</a:t>
                      </a:r>
                      <a:endParaRPr sz="1000" u="none" cap="none" strike="noStrike"/>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72%</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r>
              <a:tr h="352150">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latin typeface="Inter"/>
                          <a:ea typeface="Inter"/>
                          <a:cs typeface="Inter"/>
                          <a:sym typeface="Inter"/>
                        </a:rPr>
                        <a:t>Total</a:t>
                      </a:r>
                      <a:endParaRPr b="1"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14,261,712,700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13,052,518,800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92%</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9,317,287,300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7,766,881,900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83%</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6,146,099,100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4,927,653,000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latin typeface="Inter"/>
                          <a:ea typeface="Inter"/>
                          <a:cs typeface="Inter"/>
                          <a:sym typeface="Inter"/>
                        </a:rPr>
                        <a:t>80%</a:t>
                      </a:r>
                      <a:endParaRPr sz="1000" u="none" cap="none" strike="noStrike">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A9999"/>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67"/>
          <p:cNvSpPr/>
          <p:nvPr/>
        </p:nvSpPr>
        <p:spPr>
          <a:xfrm>
            <a:off x="4808455" y="2099375"/>
            <a:ext cx="3601500" cy="2159400"/>
          </a:xfrm>
          <a:prstGeom prst="rect">
            <a:avLst/>
          </a:prstGeom>
          <a:noFill/>
          <a:ln cap="flat" cmpd="sng" w="19050">
            <a:solidFill>
              <a:srgbClr val="3D85C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Clr>
                <a:srgbClr val="000000"/>
              </a:buClr>
              <a:buSzPts val="1000"/>
              <a:buFont typeface="Arial"/>
              <a:buNone/>
            </a:pPr>
            <a:r>
              <a:rPr b="1" i="0" lang="en" sz="1000" u="none" cap="none" strike="noStrike">
                <a:solidFill>
                  <a:srgbClr val="FFFFFF"/>
                </a:solidFill>
                <a:latin typeface="Inter"/>
                <a:ea typeface="Inter"/>
                <a:cs typeface="Inter"/>
                <a:sym typeface="Inter"/>
              </a:rPr>
              <a:t>Target vs Actual PO</a:t>
            </a:r>
            <a:endParaRPr b="0" i="0" sz="1000" u="none" cap="none" strike="noStrike">
              <a:solidFill>
                <a:srgbClr val="FFFFFF"/>
              </a:solidFill>
              <a:latin typeface="Inter"/>
              <a:ea typeface="Inter"/>
              <a:cs typeface="Inter"/>
              <a:sym typeface="Inter"/>
            </a:endParaRPr>
          </a:p>
        </p:txBody>
      </p:sp>
      <p:sp>
        <p:nvSpPr>
          <p:cNvPr id="633" name="Google Shape;633;p67"/>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pic>
        <p:nvPicPr>
          <p:cNvPr id="634" name="Google Shape;634;p67"/>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pic>
        <p:nvPicPr>
          <p:cNvPr id="635" name="Google Shape;635;p67"/>
          <p:cNvPicPr preferRelativeResize="0"/>
          <p:nvPr/>
        </p:nvPicPr>
        <p:blipFill rotWithShape="1">
          <a:blip r:embed="rId4">
            <a:alphaModFix/>
          </a:blip>
          <a:srcRect b="0" l="0" r="0" t="12564"/>
          <a:stretch/>
        </p:blipFill>
        <p:spPr>
          <a:xfrm>
            <a:off x="7406900" y="121550"/>
            <a:ext cx="634924" cy="451775"/>
          </a:xfrm>
          <a:prstGeom prst="rect">
            <a:avLst/>
          </a:prstGeom>
          <a:noFill/>
          <a:ln>
            <a:noFill/>
          </a:ln>
        </p:spPr>
      </p:pic>
      <p:sp>
        <p:nvSpPr>
          <p:cNvPr id="636" name="Google Shape;636;p67"/>
          <p:cNvSpPr txBox="1"/>
          <p:nvPr>
            <p:ph type="ctrTitle"/>
          </p:nvPr>
        </p:nvSpPr>
        <p:spPr>
          <a:xfrm>
            <a:off x="174550" y="131975"/>
            <a:ext cx="8655600" cy="9420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Key Learnings and Initiatives</a:t>
            </a:r>
            <a:endParaRPr b="1" sz="1244">
              <a:solidFill>
                <a:srgbClr val="6E7C89"/>
              </a:solidFill>
              <a:latin typeface="Inter"/>
              <a:ea typeface="Inter"/>
              <a:cs typeface="Inter"/>
              <a:sym typeface="Inter"/>
            </a:endParaRPr>
          </a:p>
          <a:p>
            <a:pPr indent="0" lvl="0" marL="0" rtl="0" algn="l">
              <a:lnSpc>
                <a:spcPct val="115000"/>
              </a:lnSpc>
              <a:spcBef>
                <a:spcPts val="0"/>
              </a:spcBef>
              <a:spcAft>
                <a:spcPts val="0"/>
              </a:spcAft>
              <a:buClr>
                <a:schemeClr val="dk1"/>
              </a:buClr>
              <a:buSzPct val="55000"/>
              <a:buFont typeface="Arial"/>
              <a:buNone/>
            </a:pPr>
            <a:r>
              <a:rPr b="1" lang="en">
                <a:solidFill>
                  <a:srgbClr val="3880C1"/>
                </a:solidFill>
                <a:latin typeface="Inter"/>
                <a:ea typeface="Inter"/>
                <a:cs typeface="Inter"/>
                <a:sym typeface="Inter"/>
              </a:rPr>
              <a:t>B2B Q2 Key Initiatives</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chemeClr val="dk1"/>
              </a:buClr>
              <a:buSzPct val="91667"/>
              <a:buFont typeface="Arial"/>
              <a:buNone/>
            </a:pPr>
            <a:r>
              <a:rPr i="1" lang="en" sz="1200">
                <a:solidFill>
                  <a:srgbClr val="3880C1"/>
                </a:solidFill>
                <a:latin typeface="Inter"/>
                <a:ea typeface="Inter"/>
                <a:cs typeface="Inter"/>
                <a:sym typeface="Inter"/>
              </a:rPr>
              <a:t>Current channel has room for optimization</a:t>
            </a:r>
            <a:endParaRPr i="1" sz="1200">
              <a:solidFill>
                <a:srgbClr val="3880C1"/>
              </a:solidFill>
              <a:latin typeface="Inter"/>
              <a:ea typeface="Inter"/>
              <a:cs typeface="Inter"/>
              <a:sym typeface="Inter"/>
            </a:endParaRPr>
          </a:p>
          <a:p>
            <a:pPr indent="0" lvl="0" marL="0" rtl="0" algn="l">
              <a:lnSpc>
                <a:spcPct val="115000"/>
              </a:lnSpc>
              <a:spcBef>
                <a:spcPts val="0"/>
              </a:spcBef>
              <a:spcAft>
                <a:spcPts val="0"/>
              </a:spcAft>
              <a:buClr>
                <a:schemeClr val="dk1"/>
              </a:buClr>
              <a:buSzPct val="91667"/>
              <a:buFont typeface="Arial"/>
              <a:buNone/>
            </a:pPr>
            <a:r>
              <a:t/>
            </a:r>
            <a:endParaRPr i="1" sz="1200">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t/>
            </a:r>
            <a:endParaRPr i="1" sz="1200">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t/>
            </a:r>
            <a:endParaRPr i="1" sz="1200">
              <a:solidFill>
                <a:srgbClr val="3880C1"/>
              </a:solidFill>
              <a:latin typeface="Inter"/>
              <a:ea typeface="Inter"/>
              <a:cs typeface="Inter"/>
              <a:sym typeface="Inter"/>
            </a:endParaRPr>
          </a:p>
        </p:txBody>
      </p:sp>
      <p:sp>
        <p:nvSpPr>
          <p:cNvPr id="637" name="Google Shape;637;p67"/>
          <p:cNvSpPr/>
          <p:nvPr/>
        </p:nvSpPr>
        <p:spPr>
          <a:xfrm>
            <a:off x="4653581" y="1763275"/>
            <a:ext cx="3921300" cy="281400"/>
          </a:xfrm>
          <a:prstGeom prst="rect">
            <a:avLst/>
          </a:prstGeom>
          <a:solidFill>
            <a:srgbClr val="3D85C6"/>
          </a:solidFill>
          <a:ln>
            <a:noFill/>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Clr>
                <a:srgbClr val="000000"/>
              </a:buClr>
              <a:buSzPts val="1000"/>
              <a:buFont typeface="Arial"/>
              <a:buNone/>
            </a:pPr>
            <a:r>
              <a:rPr b="1" i="0" lang="en" sz="1000" u="none" cap="none" strike="noStrike">
                <a:solidFill>
                  <a:srgbClr val="FFFFFF"/>
                </a:solidFill>
                <a:latin typeface="Inter"/>
                <a:ea typeface="Inter"/>
                <a:cs typeface="Inter"/>
                <a:sym typeface="Inter"/>
              </a:rPr>
              <a:t>2. </a:t>
            </a:r>
            <a:r>
              <a:rPr b="1" lang="en" sz="1000">
                <a:solidFill>
                  <a:srgbClr val="FFFFFF"/>
                </a:solidFill>
                <a:latin typeface="Inter"/>
                <a:ea typeface="Inter"/>
                <a:cs typeface="Inter"/>
                <a:sym typeface="Inter"/>
              </a:rPr>
              <a:t>New Product Listing</a:t>
            </a:r>
            <a:endParaRPr b="0" i="0" sz="1000" u="none" cap="none" strike="noStrike">
              <a:solidFill>
                <a:srgbClr val="FFFFFF"/>
              </a:solidFill>
              <a:latin typeface="Inter"/>
              <a:ea typeface="Inter"/>
              <a:cs typeface="Inter"/>
              <a:sym typeface="Inter"/>
            </a:endParaRPr>
          </a:p>
        </p:txBody>
      </p:sp>
      <p:sp>
        <p:nvSpPr>
          <p:cNvPr id="638" name="Google Shape;638;p67"/>
          <p:cNvSpPr/>
          <p:nvPr/>
        </p:nvSpPr>
        <p:spPr>
          <a:xfrm>
            <a:off x="288000" y="1066525"/>
            <a:ext cx="8509800" cy="634800"/>
          </a:xfrm>
          <a:prstGeom prst="triangle">
            <a:avLst>
              <a:gd fmla="val 50000" name="adj"/>
            </a:avLst>
          </a:prstGeom>
          <a:solidFill>
            <a:srgbClr val="0B539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67"/>
          <p:cNvSpPr txBox="1"/>
          <p:nvPr/>
        </p:nvSpPr>
        <p:spPr>
          <a:xfrm>
            <a:off x="3170126" y="1092328"/>
            <a:ext cx="2735100" cy="648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400"/>
              <a:buFont typeface="Arial"/>
              <a:buNone/>
            </a:pPr>
            <a:r>
              <a:rPr b="1" lang="en">
                <a:solidFill>
                  <a:srgbClr val="FFFFFF"/>
                </a:solidFill>
                <a:latin typeface="Inter"/>
                <a:ea typeface="Inter"/>
                <a:cs typeface="Inter"/>
                <a:sym typeface="Inter"/>
              </a:rPr>
              <a:t>SEPTEMBER </a:t>
            </a:r>
            <a:endParaRPr b="1">
              <a:solidFill>
                <a:srgbClr val="FFFFFF"/>
              </a:solidFill>
              <a:latin typeface="Inter"/>
              <a:ea typeface="Inter"/>
              <a:cs typeface="Inter"/>
              <a:sym typeface="Inter"/>
            </a:endParaRPr>
          </a:p>
          <a:p>
            <a:pPr indent="0" lvl="0" marL="0" marR="0" rtl="0" algn="ctr">
              <a:lnSpc>
                <a:spcPct val="115000"/>
              </a:lnSpc>
              <a:spcBef>
                <a:spcPts val="0"/>
              </a:spcBef>
              <a:spcAft>
                <a:spcPts val="0"/>
              </a:spcAft>
              <a:buClr>
                <a:srgbClr val="000000"/>
              </a:buClr>
              <a:buSzPts val="1400"/>
              <a:buFont typeface="Arial"/>
              <a:buNone/>
            </a:pPr>
            <a:r>
              <a:rPr b="1" lang="en">
                <a:solidFill>
                  <a:srgbClr val="FFFFFF"/>
                </a:solidFill>
                <a:latin typeface="Inter"/>
                <a:ea typeface="Inter"/>
                <a:cs typeface="Inter"/>
                <a:sym typeface="Inter"/>
              </a:rPr>
              <a:t>Key Activities</a:t>
            </a:r>
            <a:endParaRPr b="1">
              <a:solidFill>
                <a:srgbClr val="FFFFFF"/>
              </a:solidFill>
              <a:latin typeface="Inter"/>
              <a:ea typeface="Inter"/>
              <a:cs typeface="Inter"/>
              <a:sym typeface="Inter"/>
            </a:endParaRPr>
          </a:p>
        </p:txBody>
      </p:sp>
      <p:sp>
        <p:nvSpPr>
          <p:cNvPr id="640" name="Google Shape;640;p67"/>
          <p:cNvSpPr/>
          <p:nvPr/>
        </p:nvSpPr>
        <p:spPr>
          <a:xfrm>
            <a:off x="472200" y="4348875"/>
            <a:ext cx="8141400" cy="281400"/>
          </a:xfrm>
          <a:prstGeom prst="rect">
            <a:avLst/>
          </a:prstGeom>
          <a:solidFill>
            <a:srgbClr val="6FA8DC"/>
          </a:solidFill>
          <a:ln>
            <a:noFill/>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Clr>
                <a:srgbClr val="000000"/>
              </a:buClr>
              <a:buSzPts val="1000"/>
              <a:buFont typeface="Arial"/>
              <a:buNone/>
            </a:pPr>
            <a:r>
              <a:t/>
            </a:r>
            <a:endParaRPr b="0" i="0" sz="1000" u="none" cap="none" strike="noStrike">
              <a:solidFill>
                <a:srgbClr val="FFFFFF"/>
              </a:solidFill>
              <a:latin typeface="Inter"/>
              <a:ea typeface="Inter"/>
              <a:cs typeface="Inter"/>
              <a:sym typeface="Inter"/>
            </a:endParaRPr>
          </a:p>
        </p:txBody>
      </p:sp>
      <p:sp>
        <p:nvSpPr>
          <p:cNvPr id="641" name="Google Shape;641;p67"/>
          <p:cNvSpPr/>
          <p:nvPr/>
        </p:nvSpPr>
        <p:spPr>
          <a:xfrm rot="10798375">
            <a:off x="5705806" y="2924896"/>
            <a:ext cx="634800" cy="200400"/>
          </a:xfrm>
          <a:prstGeom prst="triangle">
            <a:avLst>
              <a:gd fmla="val 50000" name="adj"/>
            </a:avLst>
          </a:prstGeom>
          <a:solidFill>
            <a:srgbClr val="3D85C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pic>
        <p:nvPicPr>
          <p:cNvPr id="642" name="Google Shape;642;p67"/>
          <p:cNvPicPr preferRelativeResize="0"/>
          <p:nvPr/>
        </p:nvPicPr>
        <p:blipFill rotWithShape="1">
          <a:blip r:embed="rId5">
            <a:alphaModFix/>
          </a:blip>
          <a:srcRect b="0" l="0" r="0" t="0"/>
          <a:stretch/>
        </p:blipFill>
        <p:spPr>
          <a:xfrm>
            <a:off x="5662887" y="3312005"/>
            <a:ext cx="701101" cy="701101"/>
          </a:xfrm>
          <a:prstGeom prst="rect">
            <a:avLst/>
          </a:prstGeom>
          <a:noFill/>
          <a:ln>
            <a:noFill/>
          </a:ln>
        </p:spPr>
      </p:pic>
      <p:pic>
        <p:nvPicPr>
          <p:cNvPr id="643" name="Google Shape;643;p67"/>
          <p:cNvPicPr preferRelativeResize="0"/>
          <p:nvPr/>
        </p:nvPicPr>
        <p:blipFill rotWithShape="1">
          <a:blip r:embed="rId6">
            <a:alphaModFix/>
          </a:blip>
          <a:srcRect b="24671" l="11937" r="10447" t="26820"/>
          <a:stretch/>
        </p:blipFill>
        <p:spPr>
          <a:xfrm>
            <a:off x="5513655" y="2475012"/>
            <a:ext cx="1038213" cy="260101"/>
          </a:xfrm>
          <a:prstGeom prst="rect">
            <a:avLst/>
          </a:prstGeom>
          <a:noFill/>
          <a:ln>
            <a:noFill/>
          </a:ln>
        </p:spPr>
      </p:pic>
      <p:sp>
        <p:nvSpPr>
          <p:cNvPr id="644" name="Google Shape;644;p67"/>
          <p:cNvSpPr/>
          <p:nvPr/>
        </p:nvSpPr>
        <p:spPr>
          <a:xfrm>
            <a:off x="565517" y="1763275"/>
            <a:ext cx="3921300" cy="281400"/>
          </a:xfrm>
          <a:prstGeom prst="rect">
            <a:avLst/>
          </a:prstGeom>
          <a:solidFill>
            <a:srgbClr val="3D85C6"/>
          </a:solidFill>
          <a:ln>
            <a:noFill/>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Clr>
                <a:srgbClr val="000000"/>
              </a:buClr>
              <a:buSzPts val="1000"/>
              <a:buFont typeface="Arial"/>
              <a:buNone/>
            </a:pPr>
            <a:r>
              <a:rPr b="1" i="0" lang="en" sz="1000" u="none" cap="none" strike="noStrike">
                <a:solidFill>
                  <a:srgbClr val="FFFFFF"/>
                </a:solidFill>
                <a:latin typeface="Inter"/>
                <a:ea typeface="Inter"/>
                <a:cs typeface="Inter"/>
                <a:sym typeface="Inter"/>
              </a:rPr>
              <a:t>1. Optimizing Current Channel &amp; Expanding Accounts</a:t>
            </a:r>
            <a:endParaRPr b="0" i="0" sz="1000" u="none" cap="none" strike="noStrike">
              <a:solidFill>
                <a:srgbClr val="FFFFFF"/>
              </a:solidFill>
              <a:latin typeface="Inter"/>
              <a:ea typeface="Inter"/>
              <a:cs typeface="Inter"/>
              <a:sym typeface="Inter"/>
            </a:endParaRPr>
          </a:p>
        </p:txBody>
      </p:sp>
      <p:sp>
        <p:nvSpPr>
          <p:cNvPr id="645" name="Google Shape;645;p67"/>
          <p:cNvSpPr/>
          <p:nvPr/>
        </p:nvSpPr>
        <p:spPr>
          <a:xfrm>
            <a:off x="725417" y="2099925"/>
            <a:ext cx="3601500" cy="2159400"/>
          </a:xfrm>
          <a:prstGeom prst="rect">
            <a:avLst/>
          </a:prstGeom>
          <a:noFill/>
          <a:ln cap="flat" cmpd="sng" w="19050">
            <a:solidFill>
              <a:srgbClr val="3D85C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7000"/>
              </a:lnSpc>
              <a:spcBef>
                <a:spcPts val="0"/>
              </a:spcBef>
              <a:spcAft>
                <a:spcPts val="0"/>
              </a:spcAft>
              <a:buClr>
                <a:srgbClr val="000000"/>
              </a:buClr>
              <a:buSzPts val="1000"/>
              <a:buFont typeface="Arial"/>
              <a:buNone/>
            </a:pPr>
            <a:r>
              <a:rPr b="1" i="0" lang="en" sz="1000" u="none" cap="none" strike="noStrike">
                <a:solidFill>
                  <a:srgbClr val="FFFFFF"/>
                </a:solidFill>
                <a:latin typeface="Inter"/>
                <a:ea typeface="Inter"/>
                <a:cs typeface="Inter"/>
                <a:sym typeface="Inter"/>
              </a:rPr>
              <a:t>Target vs Actual PO</a:t>
            </a:r>
            <a:endParaRPr b="0" i="0" sz="1000" u="none" cap="none" strike="noStrike">
              <a:solidFill>
                <a:srgbClr val="FFFFFF"/>
              </a:solidFill>
              <a:latin typeface="Inter"/>
              <a:ea typeface="Inter"/>
              <a:cs typeface="Inter"/>
              <a:sym typeface="Inter"/>
            </a:endParaRPr>
          </a:p>
        </p:txBody>
      </p:sp>
      <p:sp>
        <p:nvSpPr>
          <p:cNvPr id="646" name="Google Shape;646;p67"/>
          <p:cNvSpPr/>
          <p:nvPr/>
        </p:nvSpPr>
        <p:spPr>
          <a:xfrm rot="10800000">
            <a:off x="1087888" y="3340856"/>
            <a:ext cx="634800" cy="200400"/>
          </a:xfrm>
          <a:prstGeom prst="triangle">
            <a:avLst>
              <a:gd fmla="val 50000" name="adj"/>
            </a:avLst>
          </a:prstGeom>
          <a:solidFill>
            <a:srgbClr val="3D85C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pic>
        <p:nvPicPr>
          <p:cNvPr id="647" name="Google Shape;647;p67"/>
          <p:cNvPicPr preferRelativeResize="0"/>
          <p:nvPr/>
        </p:nvPicPr>
        <p:blipFill rotWithShape="1">
          <a:blip r:embed="rId7">
            <a:alphaModFix/>
          </a:blip>
          <a:srcRect b="42112" l="32851" r="32696" t="15717"/>
          <a:stretch/>
        </p:blipFill>
        <p:spPr>
          <a:xfrm>
            <a:off x="1020136" y="3628112"/>
            <a:ext cx="757251" cy="257543"/>
          </a:xfrm>
          <a:prstGeom prst="rect">
            <a:avLst/>
          </a:prstGeom>
          <a:noFill/>
          <a:ln>
            <a:noFill/>
          </a:ln>
        </p:spPr>
      </p:pic>
      <p:pic>
        <p:nvPicPr>
          <p:cNvPr id="648" name="Google Shape;648;p67"/>
          <p:cNvPicPr preferRelativeResize="0"/>
          <p:nvPr/>
        </p:nvPicPr>
        <p:blipFill rotWithShape="1">
          <a:blip r:embed="rId8">
            <a:alphaModFix/>
          </a:blip>
          <a:srcRect b="0" l="0" r="0" t="0"/>
          <a:stretch/>
        </p:blipFill>
        <p:spPr>
          <a:xfrm>
            <a:off x="1100960" y="2242722"/>
            <a:ext cx="582564" cy="582600"/>
          </a:xfrm>
          <a:prstGeom prst="rect">
            <a:avLst/>
          </a:prstGeom>
          <a:noFill/>
          <a:ln>
            <a:noFill/>
          </a:ln>
        </p:spPr>
      </p:pic>
      <p:sp>
        <p:nvSpPr>
          <p:cNvPr id="649" name="Google Shape;649;p67"/>
          <p:cNvSpPr txBox="1"/>
          <p:nvPr/>
        </p:nvSpPr>
        <p:spPr>
          <a:xfrm>
            <a:off x="818260" y="2879830"/>
            <a:ext cx="1161000" cy="4164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700"/>
              <a:buFont typeface="Arial"/>
              <a:buNone/>
            </a:pPr>
            <a:r>
              <a:rPr b="0" i="0" lang="en" sz="700" u="none" cap="none" strike="noStrike">
                <a:solidFill>
                  <a:srgbClr val="000000"/>
                </a:solidFill>
                <a:latin typeface="Inter"/>
                <a:ea typeface="Inter"/>
                <a:cs typeface="Inter"/>
                <a:sym typeface="Inter"/>
              </a:rPr>
              <a:t>SPM Ads Budget Optimization</a:t>
            </a:r>
            <a:endParaRPr b="0" i="0" sz="700" u="none" cap="none" strike="noStrike">
              <a:solidFill>
                <a:srgbClr val="000000"/>
              </a:solidFill>
              <a:latin typeface="Inter"/>
              <a:ea typeface="Inter"/>
              <a:cs typeface="Inter"/>
              <a:sym typeface="Inter"/>
            </a:endParaRPr>
          </a:p>
        </p:txBody>
      </p:sp>
      <p:sp>
        <p:nvSpPr>
          <p:cNvPr id="650" name="Google Shape;650;p67"/>
          <p:cNvSpPr txBox="1"/>
          <p:nvPr/>
        </p:nvSpPr>
        <p:spPr>
          <a:xfrm>
            <a:off x="1893729" y="2886908"/>
            <a:ext cx="1126800" cy="4164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700"/>
              <a:buFont typeface="Arial"/>
              <a:buNone/>
            </a:pPr>
            <a:r>
              <a:rPr b="0" i="0" lang="en" sz="700" u="none" cap="none" strike="noStrike">
                <a:solidFill>
                  <a:srgbClr val="000000"/>
                </a:solidFill>
                <a:latin typeface="Inter"/>
                <a:ea typeface="Inter"/>
                <a:cs typeface="Inter"/>
                <a:sym typeface="Inter"/>
              </a:rPr>
              <a:t>Nurturing Potential Smaller Accounts</a:t>
            </a:r>
            <a:endParaRPr b="0" i="0" sz="700" u="none" cap="none" strike="noStrike">
              <a:solidFill>
                <a:srgbClr val="000000"/>
              </a:solidFill>
              <a:latin typeface="Inter"/>
              <a:ea typeface="Inter"/>
              <a:cs typeface="Inter"/>
              <a:sym typeface="Inter"/>
            </a:endParaRPr>
          </a:p>
        </p:txBody>
      </p:sp>
      <p:pic>
        <p:nvPicPr>
          <p:cNvPr id="651" name="Google Shape;651;p67"/>
          <p:cNvPicPr preferRelativeResize="0"/>
          <p:nvPr/>
        </p:nvPicPr>
        <p:blipFill rotWithShape="1">
          <a:blip r:embed="rId9">
            <a:alphaModFix/>
          </a:blip>
          <a:srcRect b="0" l="0" r="0" t="0"/>
          <a:stretch/>
        </p:blipFill>
        <p:spPr>
          <a:xfrm>
            <a:off x="2150569" y="2265875"/>
            <a:ext cx="582575" cy="582575"/>
          </a:xfrm>
          <a:prstGeom prst="rect">
            <a:avLst/>
          </a:prstGeom>
          <a:noFill/>
          <a:ln>
            <a:noFill/>
          </a:ln>
        </p:spPr>
      </p:pic>
      <p:pic>
        <p:nvPicPr>
          <p:cNvPr id="652" name="Google Shape;652;p67"/>
          <p:cNvPicPr preferRelativeResize="0"/>
          <p:nvPr/>
        </p:nvPicPr>
        <p:blipFill rotWithShape="1">
          <a:blip r:embed="rId10">
            <a:alphaModFix/>
          </a:blip>
          <a:srcRect b="0" l="0" r="0" t="0"/>
          <a:stretch/>
        </p:blipFill>
        <p:spPr>
          <a:xfrm>
            <a:off x="3236636" y="2258220"/>
            <a:ext cx="582575" cy="582575"/>
          </a:xfrm>
          <a:prstGeom prst="rect">
            <a:avLst/>
          </a:prstGeom>
          <a:noFill/>
          <a:ln>
            <a:noFill/>
          </a:ln>
        </p:spPr>
      </p:pic>
      <p:sp>
        <p:nvSpPr>
          <p:cNvPr id="653" name="Google Shape;653;p67"/>
          <p:cNvSpPr txBox="1"/>
          <p:nvPr/>
        </p:nvSpPr>
        <p:spPr>
          <a:xfrm>
            <a:off x="2977520" y="2884063"/>
            <a:ext cx="1161000" cy="4164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700"/>
              <a:buFont typeface="Arial"/>
              <a:buNone/>
            </a:pPr>
            <a:r>
              <a:rPr b="0" i="0" lang="en" sz="700" u="none" cap="none" strike="noStrike">
                <a:solidFill>
                  <a:srgbClr val="000000"/>
                </a:solidFill>
                <a:latin typeface="Inter"/>
                <a:ea typeface="Inter"/>
                <a:cs typeface="Inter"/>
                <a:sym typeface="Inter"/>
              </a:rPr>
              <a:t>Constants Search of New Revenue Streams</a:t>
            </a:r>
            <a:endParaRPr b="0" i="0" sz="700" u="none" cap="none" strike="noStrike">
              <a:solidFill>
                <a:srgbClr val="000000"/>
              </a:solidFill>
              <a:latin typeface="Inter"/>
              <a:ea typeface="Inter"/>
              <a:cs typeface="Inter"/>
              <a:sym typeface="Inter"/>
            </a:endParaRPr>
          </a:p>
        </p:txBody>
      </p:sp>
      <p:sp>
        <p:nvSpPr>
          <p:cNvPr id="654" name="Google Shape;654;p67"/>
          <p:cNvSpPr/>
          <p:nvPr/>
        </p:nvSpPr>
        <p:spPr>
          <a:xfrm rot="10800000">
            <a:off x="2160688" y="3353101"/>
            <a:ext cx="634800" cy="200400"/>
          </a:xfrm>
          <a:prstGeom prst="triangle">
            <a:avLst>
              <a:gd fmla="val 50000" name="adj"/>
            </a:avLst>
          </a:prstGeom>
          <a:solidFill>
            <a:srgbClr val="3D85C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pic>
        <p:nvPicPr>
          <p:cNvPr id="655" name="Google Shape;655;p67" title="Pyridam Logo.png"/>
          <p:cNvPicPr preferRelativeResize="0"/>
          <p:nvPr/>
        </p:nvPicPr>
        <p:blipFill>
          <a:blip r:embed="rId11">
            <a:alphaModFix/>
          </a:blip>
          <a:stretch>
            <a:fillRect/>
          </a:stretch>
        </p:blipFill>
        <p:spPr>
          <a:xfrm>
            <a:off x="2062402" y="3628875"/>
            <a:ext cx="915125" cy="256025"/>
          </a:xfrm>
          <a:prstGeom prst="rect">
            <a:avLst/>
          </a:prstGeom>
          <a:noFill/>
          <a:ln>
            <a:noFill/>
          </a:ln>
        </p:spPr>
      </p:pic>
      <p:sp>
        <p:nvSpPr>
          <p:cNvPr id="656" name="Google Shape;656;p67"/>
          <p:cNvSpPr/>
          <p:nvPr/>
        </p:nvSpPr>
        <p:spPr>
          <a:xfrm rot="10800000">
            <a:off x="3247262" y="3358703"/>
            <a:ext cx="634800" cy="200400"/>
          </a:xfrm>
          <a:prstGeom prst="triangle">
            <a:avLst>
              <a:gd fmla="val 50000" name="adj"/>
            </a:avLst>
          </a:prstGeom>
          <a:solidFill>
            <a:srgbClr val="3D85C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657" name="Google Shape;657;p67"/>
          <p:cNvSpPr txBox="1"/>
          <p:nvPr/>
        </p:nvSpPr>
        <p:spPr>
          <a:xfrm>
            <a:off x="4093175" y="4110350"/>
            <a:ext cx="494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658" name="Google Shape;658;p67" title="Scott_s.png"/>
          <p:cNvPicPr preferRelativeResize="0"/>
          <p:nvPr/>
        </p:nvPicPr>
        <p:blipFill>
          <a:blip r:embed="rId12">
            <a:alphaModFix/>
          </a:blip>
          <a:stretch>
            <a:fillRect/>
          </a:stretch>
        </p:blipFill>
        <p:spPr>
          <a:xfrm>
            <a:off x="6857500" y="2248293"/>
            <a:ext cx="673125" cy="582593"/>
          </a:xfrm>
          <a:prstGeom prst="rect">
            <a:avLst/>
          </a:prstGeom>
          <a:noFill/>
          <a:ln>
            <a:noFill/>
          </a:ln>
        </p:spPr>
      </p:pic>
      <p:sp>
        <p:nvSpPr>
          <p:cNvPr id="659" name="Google Shape;659;p67"/>
          <p:cNvSpPr/>
          <p:nvPr/>
        </p:nvSpPr>
        <p:spPr>
          <a:xfrm rot="10798375">
            <a:off x="6876643" y="2924484"/>
            <a:ext cx="634800" cy="200400"/>
          </a:xfrm>
          <a:prstGeom prst="triangle">
            <a:avLst>
              <a:gd fmla="val 50000" name="adj"/>
            </a:avLst>
          </a:prstGeom>
          <a:solidFill>
            <a:srgbClr val="3D85C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pic>
        <p:nvPicPr>
          <p:cNvPr id="660" name="Google Shape;660;p67" title="Blibli.png"/>
          <p:cNvPicPr preferRelativeResize="0"/>
          <p:nvPr/>
        </p:nvPicPr>
        <p:blipFill rotWithShape="1">
          <a:blip r:embed="rId13">
            <a:alphaModFix/>
          </a:blip>
          <a:srcRect b="24941" l="0" r="0" t="27508"/>
          <a:stretch/>
        </p:blipFill>
        <p:spPr>
          <a:xfrm>
            <a:off x="6776888" y="3206853"/>
            <a:ext cx="875700" cy="416400"/>
          </a:xfrm>
          <a:prstGeom prst="rect">
            <a:avLst/>
          </a:prstGeom>
          <a:noFill/>
          <a:ln>
            <a:noFill/>
          </a:ln>
        </p:spPr>
      </p:pic>
      <p:pic>
        <p:nvPicPr>
          <p:cNvPr id="661" name="Google Shape;661;p67" title="c2c logo.png"/>
          <p:cNvPicPr preferRelativeResize="0"/>
          <p:nvPr/>
        </p:nvPicPr>
        <p:blipFill>
          <a:blip r:embed="rId14">
            <a:alphaModFix/>
          </a:blip>
          <a:stretch>
            <a:fillRect/>
          </a:stretch>
        </p:blipFill>
        <p:spPr>
          <a:xfrm>
            <a:off x="3310557" y="3631129"/>
            <a:ext cx="494943" cy="228600"/>
          </a:xfrm>
          <a:prstGeom prst="rect">
            <a:avLst/>
          </a:prstGeom>
          <a:noFill/>
          <a:ln>
            <a:noFill/>
          </a:ln>
        </p:spPr>
      </p:pic>
      <p:pic>
        <p:nvPicPr>
          <p:cNvPr id="662" name="Google Shape;662;p67" title="Gomart Logo.png"/>
          <p:cNvPicPr preferRelativeResize="0"/>
          <p:nvPr/>
        </p:nvPicPr>
        <p:blipFill>
          <a:blip r:embed="rId15">
            <a:alphaModFix/>
          </a:blip>
          <a:stretch>
            <a:fillRect/>
          </a:stretch>
        </p:blipFill>
        <p:spPr>
          <a:xfrm>
            <a:off x="2062400" y="3919400"/>
            <a:ext cx="934400" cy="256050"/>
          </a:xfrm>
          <a:prstGeom prst="rect">
            <a:avLst/>
          </a:prstGeom>
          <a:noFill/>
          <a:ln>
            <a:noFill/>
          </a:ln>
        </p:spPr>
      </p:pic>
      <p:pic>
        <p:nvPicPr>
          <p:cNvPr id="663" name="Google Shape;663;p67"/>
          <p:cNvPicPr preferRelativeResize="0"/>
          <p:nvPr/>
        </p:nvPicPr>
        <p:blipFill rotWithShape="1">
          <a:blip r:embed="rId5">
            <a:alphaModFix/>
          </a:blip>
          <a:srcRect b="0" l="0" r="0" t="0"/>
          <a:stretch/>
        </p:blipFill>
        <p:spPr>
          <a:xfrm>
            <a:off x="6967275" y="3657901"/>
            <a:ext cx="494951" cy="49495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7" name="Shape 667"/>
        <p:cNvGrpSpPr/>
        <p:nvPr/>
      </p:nvGrpSpPr>
      <p:grpSpPr>
        <a:xfrm>
          <a:off x="0" y="0"/>
          <a:ext cx="0" cy="0"/>
          <a:chOff x="0" y="0"/>
          <a:chExt cx="0" cy="0"/>
        </a:xfrm>
      </p:grpSpPr>
      <p:sp>
        <p:nvSpPr>
          <p:cNvPr id="668" name="Google Shape;668;p68"/>
          <p:cNvSpPr txBox="1"/>
          <p:nvPr/>
        </p:nvSpPr>
        <p:spPr>
          <a:xfrm>
            <a:off x="82825" y="3672900"/>
            <a:ext cx="8781600" cy="10728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1000"/>
              </a:spcBef>
              <a:spcAft>
                <a:spcPts val="0"/>
              </a:spcAft>
              <a:buClr>
                <a:schemeClr val="dk2"/>
              </a:buClr>
              <a:buSzPts val="1000"/>
              <a:buFont typeface="Inter"/>
              <a:buChar char="●"/>
            </a:pPr>
            <a:r>
              <a:rPr lang="en" sz="1000">
                <a:solidFill>
                  <a:schemeClr val="dk2"/>
                </a:solidFill>
                <a:latin typeface="Inter"/>
                <a:ea typeface="Inter"/>
                <a:cs typeface="Inter"/>
                <a:sym typeface="Inter"/>
              </a:rPr>
              <a:t>Scott's Original OOS contributed to the lower SLA in August, along with unfulfilled POs at multiple warehouses such as Medan and Makassar, which further lowered the SLA. Medan and Makassar are currently growing by</a:t>
            </a:r>
            <a:r>
              <a:rPr b="1" lang="en" sz="1000">
                <a:solidFill>
                  <a:schemeClr val="dk2"/>
                </a:solidFill>
                <a:latin typeface="Inter"/>
                <a:ea typeface="Inter"/>
                <a:cs typeface="Inter"/>
                <a:sym typeface="Inter"/>
              </a:rPr>
              <a:t> 4%</a:t>
            </a:r>
            <a:r>
              <a:rPr lang="en" sz="1000">
                <a:solidFill>
                  <a:schemeClr val="dk2"/>
                </a:solidFill>
                <a:latin typeface="Inter"/>
                <a:ea typeface="Inter"/>
                <a:cs typeface="Inter"/>
                <a:sym typeface="Inter"/>
              </a:rPr>
              <a:t> and </a:t>
            </a:r>
            <a:r>
              <a:rPr b="1" lang="en" sz="1000">
                <a:solidFill>
                  <a:schemeClr val="dk2"/>
                </a:solidFill>
                <a:latin typeface="Inter"/>
                <a:ea typeface="Inter"/>
                <a:cs typeface="Inter"/>
                <a:sym typeface="Inter"/>
              </a:rPr>
              <a:t>3%</a:t>
            </a:r>
            <a:r>
              <a:rPr lang="en" sz="1000">
                <a:solidFill>
                  <a:schemeClr val="dk2"/>
                </a:solidFill>
                <a:latin typeface="Inter"/>
                <a:ea typeface="Inter"/>
                <a:cs typeface="Inter"/>
                <a:sym typeface="Inter"/>
              </a:rPr>
              <a:t> respectively in August.</a:t>
            </a:r>
            <a:endParaRPr sz="1000">
              <a:solidFill>
                <a:schemeClr val="dk2"/>
              </a:solidFill>
              <a:latin typeface="Inter"/>
              <a:ea typeface="Inter"/>
              <a:cs typeface="Inter"/>
              <a:sym typeface="Inter"/>
            </a:endParaRPr>
          </a:p>
          <a:p>
            <a:pPr indent="-292100" lvl="0" marL="457200" marR="0" rtl="0" algn="l">
              <a:lnSpc>
                <a:spcPct val="115000"/>
              </a:lnSpc>
              <a:spcBef>
                <a:spcPts val="1000"/>
              </a:spcBef>
              <a:spcAft>
                <a:spcPts val="1000"/>
              </a:spcAft>
              <a:buClr>
                <a:schemeClr val="dk2"/>
              </a:buClr>
              <a:buSzPts val="1000"/>
              <a:buFont typeface="Inter"/>
              <a:buChar char="●"/>
            </a:pPr>
            <a:r>
              <a:rPr lang="en" sz="1000">
                <a:solidFill>
                  <a:schemeClr val="dk2"/>
                </a:solidFill>
                <a:latin typeface="Inter"/>
                <a:ea typeface="Inter"/>
                <a:cs typeface="Inter"/>
                <a:sym typeface="Inter"/>
              </a:rPr>
              <a:t>To improve SLA in September, we will coordinate with PPG on Scott's Original availability and will not place orders if the PPG is OOS. We've also shared the revised Medan forecast through December, hoping this will improve Medan's SLA.</a:t>
            </a:r>
            <a:endParaRPr sz="1000">
              <a:solidFill>
                <a:schemeClr val="dk2"/>
              </a:solidFill>
              <a:latin typeface="Inter"/>
              <a:ea typeface="Inter"/>
              <a:cs typeface="Inter"/>
              <a:sym typeface="Inter"/>
            </a:endParaRPr>
          </a:p>
        </p:txBody>
      </p:sp>
      <p:sp>
        <p:nvSpPr>
          <p:cNvPr id="669" name="Google Shape;669;p68"/>
          <p:cNvSpPr txBox="1"/>
          <p:nvPr>
            <p:ph idx="12" type="sldNum"/>
          </p:nvPr>
        </p:nvSpPr>
        <p:spPr>
          <a:xfrm>
            <a:off x="8676475" y="4777740"/>
            <a:ext cx="342900" cy="228600"/>
          </a:xfrm>
          <a:prstGeom prst="rect">
            <a:avLst/>
          </a:prstGeom>
          <a:noFill/>
          <a:ln>
            <a:noFill/>
          </a:ln>
        </p:spPr>
        <p:txBody>
          <a:bodyPr anchorCtr="0" anchor="ctr" bIns="91425" lIns="91425" spcFirstLastPara="1" rIns="91425" wrap="square" tIns="91425">
            <a:normAutofit fontScale="32500" lnSpcReduction="10000"/>
          </a:bodyPr>
          <a:lstStyle/>
          <a:p>
            <a:pPr indent="0" lvl="0" marL="0" rtl="0" algn="r">
              <a:lnSpc>
                <a:spcPct val="100000"/>
              </a:lnSpc>
              <a:spcBef>
                <a:spcPts val="0"/>
              </a:spcBef>
              <a:spcAft>
                <a:spcPts val="0"/>
              </a:spcAft>
              <a:buSzPct val="100000"/>
              <a:buNone/>
            </a:pPr>
            <a:fld id="{00000000-1234-1234-1234-123412341234}" type="slidenum">
              <a:rPr lang="en"/>
              <a:t>‹#›</a:t>
            </a:fld>
            <a:endParaRPr/>
          </a:p>
        </p:txBody>
      </p:sp>
      <p:sp>
        <p:nvSpPr>
          <p:cNvPr id="670" name="Google Shape;670;p68"/>
          <p:cNvSpPr txBox="1"/>
          <p:nvPr>
            <p:ph type="ctrTitle"/>
          </p:nvPr>
        </p:nvSpPr>
        <p:spPr>
          <a:xfrm>
            <a:off x="174550" y="131975"/>
            <a:ext cx="8655600" cy="695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88393"/>
              <a:buFont typeface="Arial"/>
              <a:buNone/>
            </a:pPr>
            <a:r>
              <a:rPr b="1" lang="en" sz="1244">
                <a:solidFill>
                  <a:srgbClr val="6E7C89"/>
                </a:solidFill>
                <a:latin typeface="Inter"/>
                <a:ea typeface="Inter"/>
                <a:cs typeface="Inter"/>
                <a:sym typeface="Inter"/>
              </a:rPr>
              <a:t>Sell In Performance</a:t>
            </a:r>
            <a:endParaRPr b="1" sz="2310">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159950"/>
              <a:buFont typeface="Calibri"/>
              <a:buNone/>
            </a:pPr>
            <a:r>
              <a:rPr b="1" lang="en">
                <a:solidFill>
                  <a:srgbClr val="3880C1"/>
                </a:solidFill>
                <a:latin typeface="Inter"/>
                <a:ea typeface="Inter"/>
                <a:cs typeface="Inter"/>
                <a:sym typeface="Inter"/>
              </a:rPr>
              <a:t>Sell In performance YTD Aug 2026</a:t>
            </a:r>
            <a:endParaRPr b="1">
              <a:solidFill>
                <a:srgbClr val="3880C1"/>
              </a:solidFill>
              <a:latin typeface="Inter"/>
              <a:ea typeface="Inter"/>
              <a:cs typeface="Inter"/>
              <a:sym typeface="Inter"/>
            </a:endParaRPr>
          </a:p>
          <a:p>
            <a:pPr indent="0" lvl="0" marL="0" rtl="0" algn="l">
              <a:lnSpc>
                <a:spcPct val="115000"/>
              </a:lnSpc>
              <a:spcBef>
                <a:spcPts val="0"/>
              </a:spcBef>
              <a:spcAft>
                <a:spcPts val="0"/>
              </a:spcAft>
              <a:buClr>
                <a:srgbClr val="356083"/>
              </a:buClr>
              <a:buSzPct val="266583"/>
              <a:buFont typeface="Calibri"/>
              <a:buNone/>
            </a:pPr>
            <a:r>
              <a:rPr i="1" lang="en" sz="1200">
                <a:solidFill>
                  <a:srgbClr val="3880C1"/>
                </a:solidFill>
                <a:latin typeface="Inter"/>
                <a:ea typeface="Inter"/>
                <a:cs typeface="Inter"/>
                <a:sym typeface="Inter"/>
              </a:rPr>
              <a:t>SLA still below 95% due to Multi Warehouse PO not fully </a:t>
            </a:r>
            <a:r>
              <a:rPr i="1" lang="en" sz="1200">
                <a:solidFill>
                  <a:srgbClr val="3880C1"/>
                </a:solidFill>
                <a:latin typeface="Inter"/>
                <a:ea typeface="Inter"/>
                <a:cs typeface="Inter"/>
                <a:sym typeface="Inter"/>
              </a:rPr>
              <a:t>fulfilled</a:t>
            </a:r>
            <a:r>
              <a:rPr i="1" lang="en" sz="1200">
                <a:solidFill>
                  <a:srgbClr val="3880C1"/>
                </a:solidFill>
                <a:latin typeface="Inter"/>
                <a:ea typeface="Inter"/>
                <a:cs typeface="Inter"/>
                <a:sym typeface="Inter"/>
              </a:rPr>
              <a:t> and Scott’s Original OOS Issue</a:t>
            </a:r>
            <a:endParaRPr i="1" sz="1200">
              <a:solidFill>
                <a:srgbClr val="3880C1"/>
              </a:solidFill>
              <a:latin typeface="Inter"/>
              <a:ea typeface="Inter"/>
              <a:cs typeface="Inter"/>
              <a:sym typeface="Inter"/>
            </a:endParaRPr>
          </a:p>
        </p:txBody>
      </p:sp>
      <p:pic>
        <p:nvPicPr>
          <p:cNvPr id="671" name="Google Shape;671;p68"/>
          <p:cNvPicPr preferRelativeResize="0"/>
          <p:nvPr/>
        </p:nvPicPr>
        <p:blipFill rotWithShape="1">
          <a:blip r:embed="rId3">
            <a:alphaModFix/>
          </a:blip>
          <a:srcRect b="0" l="0" r="0" t="0"/>
          <a:stretch/>
        </p:blipFill>
        <p:spPr>
          <a:xfrm rot="10800000">
            <a:off x="-4151" y="0"/>
            <a:ext cx="9148151" cy="79825"/>
          </a:xfrm>
          <a:prstGeom prst="rect">
            <a:avLst/>
          </a:prstGeom>
          <a:noFill/>
          <a:ln>
            <a:noFill/>
          </a:ln>
        </p:spPr>
      </p:pic>
      <p:pic>
        <p:nvPicPr>
          <p:cNvPr id="672" name="Google Shape;672;p68"/>
          <p:cNvPicPr preferRelativeResize="0"/>
          <p:nvPr/>
        </p:nvPicPr>
        <p:blipFill rotWithShape="1">
          <a:blip r:embed="rId4">
            <a:alphaModFix/>
          </a:blip>
          <a:srcRect b="0" l="0" r="0" t="12564"/>
          <a:stretch/>
        </p:blipFill>
        <p:spPr>
          <a:xfrm>
            <a:off x="7406900" y="121550"/>
            <a:ext cx="634924" cy="451775"/>
          </a:xfrm>
          <a:prstGeom prst="rect">
            <a:avLst/>
          </a:prstGeom>
          <a:noFill/>
          <a:ln>
            <a:noFill/>
          </a:ln>
        </p:spPr>
      </p:pic>
      <p:sp>
        <p:nvSpPr>
          <p:cNvPr id="673" name="Google Shape;673;p68"/>
          <p:cNvSpPr/>
          <p:nvPr/>
        </p:nvSpPr>
        <p:spPr>
          <a:xfrm>
            <a:off x="82825" y="3353450"/>
            <a:ext cx="8944200" cy="287400"/>
          </a:xfrm>
          <a:prstGeom prst="flowChartAlternateProcess">
            <a:avLst/>
          </a:prstGeom>
          <a:solidFill>
            <a:srgbClr val="3880C1"/>
          </a:solidFill>
          <a:ln cap="flat" cmpd="sng" w="9525">
            <a:solidFill>
              <a:srgbClr val="3880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lt1"/>
                </a:solidFill>
                <a:latin typeface="Inter"/>
                <a:ea typeface="Inter"/>
                <a:cs typeface="Inter"/>
                <a:sym typeface="Inter"/>
              </a:rPr>
              <a:t>Key Highlights</a:t>
            </a:r>
            <a:endParaRPr b="1" i="0" sz="1100" u="none" cap="none" strike="noStrike">
              <a:solidFill>
                <a:schemeClr val="lt1"/>
              </a:solidFill>
              <a:latin typeface="Inter"/>
              <a:ea typeface="Inter"/>
              <a:cs typeface="Inter"/>
              <a:sym typeface="Inter"/>
            </a:endParaRPr>
          </a:p>
        </p:txBody>
      </p:sp>
      <p:sp>
        <p:nvSpPr>
          <p:cNvPr id="674" name="Google Shape;674;p68"/>
          <p:cNvSpPr txBox="1"/>
          <p:nvPr/>
        </p:nvSpPr>
        <p:spPr>
          <a:xfrm>
            <a:off x="277525" y="3124850"/>
            <a:ext cx="3692400" cy="22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2"/>
              </a:solidFill>
              <a:latin typeface="Inter"/>
              <a:ea typeface="Inter"/>
              <a:cs typeface="Inter"/>
              <a:sym typeface="Inter"/>
            </a:endParaRPr>
          </a:p>
        </p:txBody>
      </p:sp>
      <p:graphicFrame>
        <p:nvGraphicFramePr>
          <p:cNvPr id="675" name="Google Shape;675;p68"/>
          <p:cNvGraphicFramePr/>
          <p:nvPr/>
        </p:nvGraphicFramePr>
        <p:xfrm>
          <a:off x="82850" y="990600"/>
          <a:ext cx="3000000" cy="3000000"/>
        </p:xfrm>
        <a:graphic>
          <a:graphicData uri="http://schemas.openxmlformats.org/drawingml/2006/table">
            <a:tbl>
              <a:tblPr>
                <a:noFill/>
                <a:tableStyleId>{05CF1300-53F3-430B-9C35-424554A46B0A}</a:tableStyleId>
              </a:tblPr>
              <a:tblGrid>
                <a:gridCol w="909575"/>
                <a:gridCol w="871675"/>
                <a:gridCol w="881150"/>
                <a:gridCol w="871675"/>
                <a:gridCol w="871675"/>
                <a:gridCol w="871675"/>
                <a:gridCol w="871675"/>
                <a:gridCol w="909575"/>
                <a:gridCol w="871675"/>
                <a:gridCol w="1013800"/>
              </a:tblGrid>
              <a:tr h="200025">
                <a:tc>
                  <a:txBody>
                    <a:bodyPr/>
                    <a:lstStyle/>
                    <a:p>
                      <a:pPr indent="0" lvl="0" marL="0" rtl="0" algn="ctr">
                        <a:lnSpc>
                          <a:spcPct val="115000"/>
                        </a:lnSpc>
                        <a:spcBef>
                          <a:spcPts val="0"/>
                        </a:spcBef>
                        <a:spcAft>
                          <a:spcPts val="0"/>
                        </a:spcAft>
                        <a:buNone/>
                      </a:pPr>
                      <a:r>
                        <a:rPr b="1" lang="en" sz="900">
                          <a:solidFill>
                            <a:srgbClr val="FFFFFF"/>
                          </a:solidFill>
                          <a:latin typeface="Inter"/>
                          <a:ea typeface="Inter"/>
                          <a:cs typeface="Inter"/>
                          <a:sym typeface="Inter"/>
                        </a:rPr>
                        <a:t>Metrics</a:t>
                      </a:r>
                      <a:endParaRPr b="1" sz="9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900">
                          <a:solidFill>
                            <a:srgbClr val="FFFFFF"/>
                          </a:solidFill>
                          <a:latin typeface="Inter"/>
                          <a:ea typeface="Inter"/>
                          <a:cs typeface="Inter"/>
                          <a:sym typeface="Inter"/>
                        </a:rPr>
                        <a:t>January</a:t>
                      </a:r>
                      <a:endParaRPr b="1" sz="9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900">
                          <a:solidFill>
                            <a:srgbClr val="FFFFFF"/>
                          </a:solidFill>
                          <a:latin typeface="Inter"/>
                          <a:ea typeface="Inter"/>
                          <a:cs typeface="Inter"/>
                          <a:sym typeface="Inter"/>
                        </a:rPr>
                        <a:t>February</a:t>
                      </a:r>
                      <a:endParaRPr b="1" sz="9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900">
                          <a:solidFill>
                            <a:srgbClr val="FFFFFF"/>
                          </a:solidFill>
                          <a:latin typeface="Inter"/>
                          <a:ea typeface="Inter"/>
                          <a:cs typeface="Inter"/>
                          <a:sym typeface="Inter"/>
                        </a:rPr>
                        <a:t>March</a:t>
                      </a:r>
                      <a:endParaRPr b="1" sz="9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900">
                          <a:solidFill>
                            <a:srgbClr val="FFFFFF"/>
                          </a:solidFill>
                          <a:latin typeface="Inter"/>
                          <a:ea typeface="Inter"/>
                          <a:cs typeface="Inter"/>
                          <a:sym typeface="Inter"/>
                        </a:rPr>
                        <a:t>April</a:t>
                      </a:r>
                      <a:endParaRPr b="1" sz="9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900">
                          <a:solidFill>
                            <a:srgbClr val="FFFFFF"/>
                          </a:solidFill>
                          <a:latin typeface="Inter"/>
                          <a:ea typeface="Inter"/>
                          <a:cs typeface="Inter"/>
                          <a:sym typeface="Inter"/>
                        </a:rPr>
                        <a:t>May</a:t>
                      </a:r>
                      <a:endParaRPr b="1" sz="9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900">
                          <a:solidFill>
                            <a:srgbClr val="FFFFFF"/>
                          </a:solidFill>
                          <a:latin typeface="Inter"/>
                          <a:ea typeface="Inter"/>
                          <a:cs typeface="Inter"/>
                          <a:sym typeface="Inter"/>
                        </a:rPr>
                        <a:t>June</a:t>
                      </a:r>
                      <a:endParaRPr b="1" sz="9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900">
                          <a:solidFill>
                            <a:srgbClr val="FFFFFF"/>
                          </a:solidFill>
                          <a:latin typeface="Inter"/>
                          <a:ea typeface="Inter"/>
                          <a:cs typeface="Inter"/>
                          <a:sym typeface="Inter"/>
                        </a:rPr>
                        <a:t>July</a:t>
                      </a:r>
                      <a:endParaRPr b="1" sz="9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900">
                          <a:solidFill>
                            <a:srgbClr val="FFFFFF"/>
                          </a:solidFill>
                          <a:latin typeface="Inter"/>
                          <a:ea typeface="Inter"/>
                          <a:cs typeface="Inter"/>
                          <a:sym typeface="Inter"/>
                        </a:rPr>
                        <a:t>Aug</a:t>
                      </a:r>
                      <a:endParaRPr b="1" sz="9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c>
                  <a:txBody>
                    <a:bodyPr/>
                    <a:lstStyle/>
                    <a:p>
                      <a:pPr indent="0" lvl="0" marL="0" rtl="0" algn="ctr">
                        <a:lnSpc>
                          <a:spcPct val="115000"/>
                        </a:lnSpc>
                        <a:spcBef>
                          <a:spcPts val="0"/>
                        </a:spcBef>
                        <a:spcAft>
                          <a:spcPts val="0"/>
                        </a:spcAft>
                        <a:buNone/>
                      </a:pPr>
                      <a:r>
                        <a:rPr b="1" lang="en" sz="900">
                          <a:solidFill>
                            <a:srgbClr val="FFFFFF"/>
                          </a:solidFill>
                          <a:latin typeface="Inter"/>
                          <a:ea typeface="Inter"/>
                          <a:cs typeface="Inter"/>
                          <a:sym typeface="Inter"/>
                        </a:rPr>
                        <a:t>Total</a:t>
                      </a:r>
                      <a:endParaRPr b="1" sz="900">
                        <a:solidFill>
                          <a:srgbClr val="FFFFFF"/>
                        </a:solidFill>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3880C1"/>
                    </a:solidFill>
                  </a:tcPr>
                </a:tc>
              </a:tr>
              <a:tr h="200025">
                <a:tc>
                  <a:txBody>
                    <a:bodyPr/>
                    <a:lstStyle/>
                    <a:p>
                      <a:pPr indent="0" lvl="0" marL="0" rtl="0" algn="ctr">
                        <a:lnSpc>
                          <a:spcPct val="115000"/>
                        </a:lnSpc>
                        <a:spcBef>
                          <a:spcPts val="0"/>
                        </a:spcBef>
                        <a:spcAft>
                          <a:spcPts val="0"/>
                        </a:spcAft>
                        <a:buNone/>
                      </a:pPr>
                      <a:r>
                        <a:rPr b="1" lang="en" sz="900">
                          <a:latin typeface="Inter"/>
                          <a:ea typeface="Inter"/>
                          <a:cs typeface="Inter"/>
                          <a:sym typeface="Inter"/>
                        </a:rPr>
                        <a:t>Open PO</a:t>
                      </a:r>
                      <a:endParaRPr b="1"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7,110,378,200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11,322,996,900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8,075,786,600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6,297,000,800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8,336,606,500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7,050,034,400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12,988,402,800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10,784,806,800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71,966,013,000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900">
                          <a:latin typeface="Inter"/>
                          <a:ea typeface="Inter"/>
                          <a:cs typeface="Inter"/>
                          <a:sym typeface="Inter"/>
                        </a:rPr>
                        <a:t>Actual Inbound</a:t>
                      </a:r>
                      <a:endParaRPr b="1"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6,310,186,300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8,838,994,600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6,278,358,000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5,174,618,300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6,039,975,700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5,194,786,000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9,468,502,400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7,360,522,300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54,665,943,600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900">
                          <a:latin typeface="Inter"/>
                          <a:ea typeface="Inter"/>
                          <a:cs typeface="Inter"/>
                          <a:sym typeface="Inter"/>
                        </a:rPr>
                        <a:t>SLA</a:t>
                      </a:r>
                      <a:endParaRPr b="1"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900">
                          <a:latin typeface="Inter"/>
                          <a:ea typeface="Inter"/>
                          <a:cs typeface="Inter"/>
                          <a:sym typeface="Inter"/>
                        </a:rPr>
                        <a:t>89%</a:t>
                      </a:r>
                      <a:endParaRPr b="1"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c>
                  <a:txBody>
                    <a:bodyPr/>
                    <a:lstStyle/>
                    <a:p>
                      <a:pPr indent="0" lvl="0" marL="0" rtl="0" algn="ctr">
                        <a:lnSpc>
                          <a:spcPct val="115000"/>
                        </a:lnSpc>
                        <a:spcBef>
                          <a:spcPts val="0"/>
                        </a:spcBef>
                        <a:spcAft>
                          <a:spcPts val="0"/>
                        </a:spcAft>
                        <a:buNone/>
                      </a:pPr>
                      <a:r>
                        <a:rPr b="1" lang="en" sz="900">
                          <a:latin typeface="Inter"/>
                          <a:ea typeface="Inter"/>
                          <a:cs typeface="Inter"/>
                          <a:sym typeface="Inter"/>
                        </a:rPr>
                        <a:t>78%</a:t>
                      </a:r>
                      <a:endParaRPr b="1"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c>
                  <a:txBody>
                    <a:bodyPr/>
                    <a:lstStyle/>
                    <a:p>
                      <a:pPr indent="0" lvl="0" marL="0" rtl="0" algn="ctr">
                        <a:lnSpc>
                          <a:spcPct val="115000"/>
                        </a:lnSpc>
                        <a:spcBef>
                          <a:spcPts val="0"/>
                        </a:spcBef>
                        <a:spcAft>
                          <a:spcPts val="0"/>
                        </a:spcAft>
                        <a:buNone/>
                      </a:pPr>
                      <a:r>
                        <a:rPr b="1" lang="en" sz="900">
                          <a:latin typeface="Inter"/>
                          <a:ea typeface="Inter"/>
                          <a:cs typeface="Inter"/>
                          <a:sym typeface="Inter"/>
                        </a:rPr>
                        <a:t>78%</a:t>
                      </a:r>
                      <a:endParaRPr b="1"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c>
                  <a:txBody>
                    <a:bodyPr/>
                    <a:lstStyle/>
                    <a:p>
                      <a:pPr indent="0" lvl="0" marL="0" rtl="0" algn="ctr">
                        <a:lnSpc>
                          <a:spcPct val="115000"/>
                        </a:lnSpc>
                        <a:spcBef>
                          <a:spcPts val="0"/>
                        </a:spcBef>
                        <a:spcAft>
                          <a:spcPts val="0"/>
                        </a:spcAft>
                        <a:buNone/>
                      </a:pPr>
                      <a:r>
                        <a:rPr b="1" lang="en" sz="900">
                          <a:latin typeface="Inter"/>
                          <a:ea typeface="Inter"/>
                          <a:cs typeface="Inter"/>
                          <a:sym typeface="Inter"/>
                        </a:rPr>
                        <a:t>82%</a:t>
                      </a:r>
                      <a:endParaRPr b="1"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c>
                  <a:txBody>
                    <a:bodyPr/>
                    <a:lstStyle/>
                    <a:p>
                      <a:pPr indent="0" lvl="0" marL="0" rtl="0" algn="ctr">
                        <a:lnSpc>
                          <a:spcPct val="115000"/>
                        </a:lnSpc>
                        <a:spcBef>
                          <a:spcPts val="0"/>
                        </a:spcBef>
                        <a:spcAft>
                          <a:spcPts val="0"/>
                        </a:spcAft>
                        <a:buNone/>
                      </a:pPr>
                      <a:r>
                        <a:rPr b="1" lang="en" sz="900">
                          <a:latin typeface="Inter"/>
                          <a:ea typeface="Inter"/>
                          <a:cs typeface="Inter"/>
                          <a:sym typeface="Inter"/>
                        </a:rPr>
                        <a:t>72%</a:t>
                      </a:r>
                      <a:endParaRPr b="1"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c>
                  <a:txBody>
                    <a:bodyPr/>
                    <a:lstStyle/>
                    <a:p>
                      <a:pPr indent="0" lvl="0" marL="0" rtl="0" algn="ctr">
                        <a:lnSpc>
                          <a:spcPct val="115000"/>
                        </a:lnSpc>
                        <a:spcBef>
                          <a:spcPts val="0"/>
                        </a:spcBef>
                        <a:spcAft>
                          <a:spcPts val="0"/>
                        </a:spcAft>
                        <a:buNone/>
                      </a:pPr>
                      <a:r>
                        <a:rPr b="1" lang="en" sz="900">
                          <a:latin typeface="Inter"/>
                          <a:ea typeface="Inter"/>
                          <a:cs typeface="Inter"/>
                          <a:sym typeface="Inter"/>
                        </a:rPr>
                        <a:t>74%</a:t>
                      </a:r>
                      <a:endParaRPr b="1"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c>
                  <a:txBody>
                    <a:bodyPr/>
                    <a:lstStyle/>
                    <a:p>
                      <a:pPr indent="0" lvl="0" marL="0" rtl="0" algn="ctr">
                        <a:lnSpc>
                          <a:spcPct val="115000"/>
                        </a:lnSpc>
                        <a:spcBef>
                          <a:spcPts val="0"/>
                        </a:spcBef>
                        <a:spcAft>
                          <a:spcPts val="0"/>
                        </a:spcAft>
                        <a:buNone/>
                      </a:pPr>
                      <a:r>
                        <a:rPr b="1" lang="en" sz="900">
                          <a:latin typeface="Inter"/>
                          <a:ea typeface="Inter"/>
                          <a:cs typeface="Inter"/>
                          <a:sym typeface="Inter"/>
                        </a:rPr>
                        <a:t>73%</a:t>
                      </a:r>
                      <a:endParaRPr b="1"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c>
                  <a:txBody>
                    <a:bodyPr/>
                    <a:lstStyle/>
                    <a:p>
                      <a:pPr indent="0" lvl="0" marL="0" rtl="0" algn="ctr">
                        <a:lnSpc>
                          <a:spcPct val="115000"/>
                        </a:lnSpc>
                        <a:spcBef>
                          <a:spcPts val="0"/>
                        </a:spcBef>
                        <a:spcAft>
                          <a:spcPts val="0"/>
                        </a:spcAft>
                        <a:buNone/>
                      </a:pPr>
                      <a:r>
                        <a:rPr b="1" lang="en" sz="900">
                          <a:latin typeface="Inter"/>
                          <a:ea typeface="Inter"/>
                          <a:cs typeface="Inter"/>
                          <a:sym typeface="Inter"/>
                        </a:rPr>
                        <a:t>68%</a:t>
                      </a:r>
                      <a:endParaRPr b="1"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c>
                  <a:txBody>
                    <a:bodyPr/>
                    <a:lstStyle/>
                    <a:p>
                      <a:pPr indent="0" lvl="0" marL="0" rtl="0" algn="ctr">
                        <a:lnSpc>
                          <a:spcPct val="115000"/>
                        </a:lnSpc>
                        <a:spcBef>
                          <a:spcPts val="0"/>
                        </a:spcBef>
                        <a:spcAft>
                          <a:spcPts val="0"/>
                        </a:spcAft>
                        <a:buNone/>
                      </a:pPr>
                      <a:r>
                        <a:rPr b="1" lang="en" sz="900">
                          <a:latin typeface="Inter"/>
                          <a:ea typeface="Inter"/>
                          <a:cs typeface="Inter"/>
                          <a:sym typeface="Inter"/>
                        </a:rPr>
                        <a:t>76%</a:t>
                      </a:r>
                      <a:endParaRPr b="1"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r>
              <a:tr h="200025">
                <a:tc>
                  <a:txBody>
                    <a:bodyPr/>
                    <a:lstStyle/>
                    <a:p>
                      <a:pPr indent="0" lvl="0" marL="0" rtl="0" algn="ctr">
                        <a:lnSpc>
                          <a:spcPct val="115000"/>
                        </a:lnSpc>
                        <a:spcBef>
                          <a:spcPts val="0"/>
                        </a:spcBef>
                        <a:spcAft>
                          <a:spcPts val="0"/>
                        </a:spcAft>
                        <a:buNone/>
                      </a:pPr>
                      <a:r>
                        <a:rPr b="1" lang="en" sz="900">
                          <a:latin typeface="Inter"/>
                          <a:ea typeface="Inter"/>
                          <a:cs typeface="Inter"/>
                          <a:sym typeface="Inter"/>
                        </a:rPr>
                        <a:t>B2C JKT</a:t>
                      </a:r>
                      <a:endParaRPr b="1"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3,918,742,890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6,722,419,407</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3,542,269,296</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3,443,565,099</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5,187,459,903</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3,008,235,975</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2,994,365,000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3,991,532,800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32,808,590,370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900">
                          <a:latin typeface="Inter"/>
                          <a:ea typeface="Inter"/>
                          <a:cs typeface="Inter"/>
                          <a:sym typeface="Inter"/>
                        </a:rPr>
                        <a:t>B2C SBY</a:t>
                      </a:r>
                      <a:endParaRPr b="1"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105,857,259</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665,834,055</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1,045,302,096</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1,224,112,107</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993,546,348</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1,580,100,096</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1,409,971,900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1,127,910,200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8,152,634,061</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900">
                          <a:latin typeface="Inter"/>
                          <a:ea typeface="Inter"/>
                          <a:cs typeface="Inter"/>
                          <a:sym typeface="Inter"/>
                        </a:rPr>
                        <a:t>B2C MKS</a:t>
                      </a:r>
                      <a:endParaRPr b="1"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gridSpan="5">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c hMerge="1"/>
                <a:tc>
                  <a:txBody>
                    <a:bodyPr/>
                    <a:lstStyle/>
                    <a:p>
                      <a:pPr indent="0" lvl="0" marL="0" rtl="0" algn="ctr">
                        <a:lnSpc>
                          <a:spcPct val="115000"/>
                        </a:lnSpc>
                        <a:spcBef>
                          <a:spcPts val="0"/>
                        </a:spcBef>
                        <a:spcAft>
                          <a:spcPts val="0"/>
                        </a:spcAft>
                        <a:buNone/>
                      </a:pPr>
                      <a:r>
                        <a:rPr lang="en" sz="900">
                          <a:latin typeface="Inter"/>
                          <a:ea typeface="Inter"/>
                          <a:cs typeface="Inter"/>
                          <a:sym typeface="Inter"/>
                        </a:rPr>
                        <a:t>131,599,491</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155,903,800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195,163,700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482,666,991</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900">
                          <a:latin typeface="Inter"/>
                          <a:ea typeface="Inter"/>
                          <a:cs typeface="Inter"/>
                          <a:sym typeface="Inter"/>
                        </a:rPr>
                        <a:t>B2C MDN</a:t>
                      </a:r>
                      <a:endParaRPr b="1"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gridSpan="5">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hMerge="1"/>
                <a:tc hMerge="1"/>
                <a:tc hMerge="1"/>
                <a:tc>
                  <a:txBody>
                    <a:bodyPr/>
                    <a:lstStyle/>
                    <a:p>
                      <a:pPr indent="0" lvl="0" marL="0" rtl="0" algn="ctr">
                        <a:lnSpc>
                          <a:spcPct val="115000"/>
                        </a:lnSpc>
                        <a:spcBef>
                          <a:spcPts val="0"/>
                        </a:spcBef>
                        <a:spcAft>
                          <a:spcPts val="0"/>
                        </a:spcAft>
                        <a:buNone/>
                      </a:pPr>
                      <a:r>
                        <a:rPr lang="en" sz="900">
                          <a:latin typeface="Inter"/>
                          <a:ea typeface="Inter"/>
                          <a:cs typeface="Inter"/>
                          <a:sym typeface="Inter"/>
                        </a:rPr>
                        <a:t>146,653,644</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232,313,200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316,011,200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694,978,044</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900">
                          <a:latin typeface="Inter"/>
                          <a:ea typeface="Inter"/>
                          <a:cs typeface="Inter"/>
                          <a:sym typeface="Inter"/>
                        </a:rPr>
                        <a:t>B2B</a:t>
                      </a:r>
                      <a:endParaRPr b="1"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2,684,420,400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2,182,910,400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2,145,410,800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969,503,700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471,501,600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810,471,400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4,675,948,500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1,729,904,400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15,670,071,200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ctr">
                        <a:lnSpc>
                          <a:spcPct val="115000"/>
                        </a:lnSpc>
                        <a:spcBef>
                          <a:spcPts val="0"/>
                        </a:spcBef>
                        <a:spcAft>
                          <a:spcPts val="0"/>
                        </a:spcAft>
                        <a:buNone/>
                      </a:pPr>
                      <a:r>
                        <a:rPr b="1" lang="en" sz="900">
                          <a:latin typeface="Inter"/>
                          <a:ea typeface="Inter"/>
                          <a:cs typeface="Inter"/>
                          <a:sym typeface="Inter"/>
                        </a:rPr>
                        <a:t>Achievement</a:t>
                      </a:r>
                      <a:endParaRPr b="1"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111%</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109%</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88%</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70%</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82%</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68%</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121%</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91%</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c>
                  <a:txBody>
                    <a:bodyPr/>
                    <a:lstStyle/>
                    <a:p>
                      <a:pPr indent="0" lvl="0" marL="0" rtl="0" algn="ctr">
                        <a:lnSpc>
                          <a:spcPct val="115000"/>
                        </a:lnSpc>
                        <a:spcBef>
                          <a:spcPts val="0"/>
                        </a:spcBef>
                        <a:spcAft>
                          <a:spcPts val="0"/>
                        </a:spcAft>
                        <a:buNone/>
                      </a:pPr>
                      <a:r>
                        <a:rPr lang="en" sz="900">
                          <a:latin typeface="Inter"/>
                          <a:ea typeface="Inter"/>
                          <a:cs typeface="Inter"/>
                          <a:sym typeface="Inter"/>
                        </a:rPr>
                        <a:t>92%</a:t>
                      </a:r>
                      <a:endParaRPr sz="900">
                        <a:latin typeface="Inter"/>
                        <a:ea typeface="Inter"/>
                        <a:cs typeface="Inter"/>
                        <a:sym typeface="Inte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4C7C3"/>
                    </a:solidFill>
                  </a:tcPr>
                </a:tc>
              </a:tr>
            </a:tbl>
          </a:graphicData>
        </a:graphic>
      </p:graphicFrame>
      <p:sp>
        <p:nvSpPr>
          <p:cNvPr id="676" name="Google Shape;676;p68"/>
          <p:cNvSpPr/>
          <p:nvPr/>
        </p:nvSpPr>
        <p:spPr>
          <a:xfrm>
            <a:off x="7141500" y="990600"/>
            <a:ext cx="871800" cy="2265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